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88" r:id="rId4"/>
    <p:sldId id="290" r:id="rId5"/>
    <p:sldId id="291" r:id="rId6"/>
    <p:sldId id="259" r:id="rId7"/>
    <p:sldId id="260" r:id="rId8"/>
    <p:sldId id="258" r:id="rId9"/>
    <p:sldId id="261" r:id="rId10"/>
    <p:sldId id="263" r:id="rId11"/>
    <p:sldId id="281" r:id="rId12"/>
    <p:sldId id="276" r:id="rId13"/>
    <p:sldId id="277" r:id="rId14"/>
    <p:sldId id="306" r:id="rId15"/>
    <p:sldId id="308" r:id="rId16"/>
    <p:sldId id="310" r:id="rId17"/>
    <p:sldId id="311" r:id="rId18"/>
    <p:sldId id="312" r:id="rId19"/>
    <p:sldId id="313" r:id="rId20"/>
    <p:sldId id="314" r:id="rId21"/>
    <p:sldId id="280" r:id="rId22"/>
    <p:sldId id="316" r:id="rId23"/>
    <p:sldId id="268" r:id="rId24"/>
    <p:sldId id="272" r:id="rId25"/>
    <p:sldId id="270" r:id="rId26"/>
    <p:sldId id="271" r:id="rId27"/>
    <p:sldId id="300" r:id="rId28"/>
    <p:sldId id="293" r:id="rId29"/>
    <p:sldId id="294" r:id="rId30"/>
    <p:sldId id="295" r:id="rId31"/>
    <p:sldId id="296" r:id="rId32"/>
    <p:sldId id="301" r:id="rId33"/>
    <p:sldId id="297" r:id="rId34"/>
    <p:sldId id="298" r:id="rId35"/>
    <p:sldId id="299" r:id="rId36"/>
    <p:sldId id="302" r:id="rId37"/>
    <p:sldId id="307" r:id="rId38"/>
    <p:sldId id="317" r:id="rId39"/>
    <p:sldId id="318" r:id="rId40"/>
    <p:sldId id="303" r:id="rId41"/>
    <p:sldId id="304" r:id="rId42"/>
    <p:sldId id="305" r:id="rId43"/>
    <p:sldId id="315" r:id="rId44"/>
    <p:sldId id="29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35" autoAdjust="0"/>
    <p:restoredTop sz="88313" autoAdjust="0"/>
  </p:normalViewPr>
  <p:slideViewPr>
    <p:cSldViewPr snapToGrid="0">
      <p:cViewPr varScale="1">
        <p:scale>
          <a:sx n="68" d="100"/>
          <a:sy n="68" d="100"/>
        </p:scale>
        <p:origin x="878" y="62"/>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71AFE6-326B-40B2-938C-9FCA07D1BF9D}"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AE93D1-09F6-4495-AB70-A85DCECC4211}" type="slidenum">
              <a:rPr lang="en-US" smtClean="0"/>
              <a:t>‹#›</a:t>
            </a:fld>
            <a:endParaRPr lang="en-US"/>
          </a:p>
        </p:txBody>
      </p:sp>
    </p:spTree>
    <p:extLst>
      <p:ext uri="{BB962C8B-B14F-4D97-AF65-F5344CB8AC3E}">
        <p14:creationId xmlns:p14="http://schemas.microsoft.com/office/powerpoint/2010/main" val="1618886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1</a:t>
            </a:fld>
            <a:endParaRPr lang="en-US"/>
          </a:p>
        </p:txBody>
      </p:sp>
    </p:spTree>
    <p:extLst>
      <p:ext uri="{BB962C8B-B14F-4D97-AF65-F5344CB8AC3E}">
        <p14:creationId xmlns:p14="http://schemas.microsoft.com/office/powerpoint/2010/main" val="3977791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450215" algn="just" defTabSz="914400" rtl="0" eaLnBrk="1" fontAlgn="auto" latinLnBrk="0" hangingPunct="1">
              <a:lnSpc>
                <a:spcPct val="130000"/>
              </a:lnSpc>
              <a:spcBef>
                <a:spcPts val="0"/>
              </a:spcBef>
              <a:spcAft>
                <a:spcPts val="600"/>
              </a:spcAft>
              <a:buClrTx/>
              <a:buSzTx/>
              <a:buFontTx/>
              <a:buNone/>
              <a:tabLst/>
              <a:defRPr/>
            </a:pPr>
            <a:r>
              <a:rPr lang="vi-VN" sz="1200" kern="1200" dirty="0">
                <a:solidFill>
                  <a:schemeClr val="tx1"/>
                </a:solidFill>
                <a:effectLst/>
                <a:latin typeface="+mn-lt"/>
                <a:ea typeface="+mn-ea"/>
                <a:cs typeface="+mn-cs"/>
              </a:rPr>
              <a:t>Trong kỷ nguyên số hiện nay, vấn đề bảo mật và an ninh hệ thống luôn là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ưu tiên hàng đầu của </a:t>
            </a:r>
            <a:r>
              <a:rPr lang="en-US" sz="1200" kern="1200" dirty="0" err="1">
                <a:solidFill>
                  <a:schemeClr val="tx1"/>
                </a:solidFill>
                <a:effectLst/>
                <a:latin typeface="+mn-lt"/>
                <a:ea typeface="+mn-ea"/>
                <a:cs typeface="+mn-cs"/>
              </a:rPr>
              <a:t>các</a:t>
            </a:r>
            <a:r>
              <a:rPr lang="vi-VN" sz="1200" kern="1200" dirty="0">
                <a:solidFill>
                  <a:schemeClr val="tx1"/>
                </a:solidFill>
                <a:effectLst/>
                <a:latin typeface="+mn-lt"/>
                <a:ea typeface="+mn-ea"/>
                <a:cs typeface="+mn-cs"/>
              </a:rPr>
              <a:t> tổ chức, doanh nghiệp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lĩnh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hiểm</a:t>
            </a:r>
            <a:r>
              <a:rPr lang="en-US" sz="1200" kern="1200" dirty="0">
                <a:solidFill>
                  <a:schemeClr val="tx1"/>
                </a:solidFill>
                <a:effectLst/>
                <a:latin typeface="+mn-lt"/>
                <a:ea typeface="+mn-ea"/>
                <a:cs typeface="+mn-cs"/>
              </a:rPr>
              <a:t>…</a:t>
            </a:r>
            <a:r>
              <a:rPr lang="vi-VN" sz="1200" kern="1200" dirty="0">
                <a:solidFill>
                  <a:schemeClr val="tx1"/>
                </a:solidFill>
                <a:effectLst/>
                <a:latin typeface="+mn-lt"/>
                <a:ea typeface="+mn-ea"/>
                <a:cs typeface="+mn-cs"/>
              </a:rPr>
              <a:t> Việc đảm bảo an toàn cho các tài sản số, dữ liệu và hạ tầng CNTT được xem là yếu tố then chốt, quyết định sự ổn định và phát triển bền vững. Tuy nhiên, sự phức tạp và biến động không ngừng của môi trường CNTT hiện đại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tinh</a:t>
            </a:r>
            <a:r>
              <a:rPr lang="en-US" sz="1200" kern="1200" dirty="0">
                <a:solidFill>
                  <a:schemeClr val="tx1"/>
                </a:solidFill>
                <a:effectLst/>
                <a:latin typeface="+mn-lt"/>
                <a:ea typeface="+mn-ea"/>
                <a:cs typeface="+mn-cs"/>
              </a:rPr>
              <a:t> vi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tội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phạm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tội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phạm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tội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phạm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vi-VN" sz="1200" kern="1200" dirty="0">
                <a:solidFill>
                  <a:schemeClr val="tx1"/>
                </a:solidFill>
                <a:effectLst/>
                <a:latin typeface="+mn-lt"/>
                <a:ea typeface="+mn-ea"/>
                <a:cs typeface="+mn-cs"/>
              </a:rPr>
              <a:t> đặt ra thách thức lớn cho các cơ chế bảo mật truyền thống. </a:t>
            </a:r>
            <a:endParaRPr lang="en-US" sz="1200" kern="1200" dirty="0">
              <a:solidFill>
                <a:schemeClr val="tx1"/>
              </a:solidFill>
              <a:effectLst/>
              <a:latin typeface="+mn-lt"/>
              <a:ea typeface="+mn-ea"/>
              <a:cs typeface="+mn-cs"/>
            </a:endParaRPr>
          </a:p>
          <a:p>
            <a:pPr marL="0" marR="0" lvl="0" indent="450215" algn="just" defTabSz="914400" rtl="0" eaLnBrk="1" fontAlgn="auto" latinLnBrk="0" hangingPunct="1">
              <a:lnSpc>
                <a:spcPct val="130000"/>
              </a:lnSpc>
              <a:spcBef>
                <a:spcPts val="0"/>
              </a:spcBef>
              <a:spcAft>
                <a:spcPts val="60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2</a:t>
            </a:fld>
            <a:endParaRPr lang="en-US"/>
          </a:p>
        </p:txBody>
      </p:sp>
    </p:spTree>
    <p:extLst>
      <p:ext uri="{BB962C8B-B14F-4D97-AF65-F5344CB8AC3E}">
        <p14:creationId xmlns:p14="http://schemas.microsoft.com/office/powerpoint/2010/main" val="678016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kern="1200" dirty="0">
                <a:solidFill>
                  <a:schemeClr val="tx1"/>
                </a:solidFill>
                <a:effectLst/>
                <a:latin typeface="+mn-lt"/>
                <a:ea typeface="+mn-ea"/>
                <a:cs typeface="+mn-cs"/>
              </a:rPr>
              <a:t>Các hành vi đăng nhập bất thường, nhằm mục đích truy cập trái 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thực hiện ý đồ xấu ngày càng trở nên phổ biến và khó lường. Qua nghiên cứu thống kê, có thể nhận diện một số dạng hành vi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liên quan đến </a:t>
            </a:r>
            <a:r>
              <a:rPr lang="en-US" sz="1200" kern="1200" dirty="0" err="1">
                <a:solidFill>
                  <a:schemeClr val="tx1"/>
                </a:solidFill>
                <a:effectLst/>
                <a:latin typeface="+mn-lt"/>
                <a:ea typeface="+mn-ea"/>
                <a:cs typeface="+mn-cs"/>
              </a:rPr>
              <a:t>hoạt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vi-VN" sz="1200" kern="1200" dirty="0">
                <a:solidFill>
                  <a:schemeClr val="tx1"/>
                </a:solidFill>
                <a:effectLst/>
                <a:latin typeface="+mn-lt"/>
                <a:ea typeface="+mn-ea"/>
                <a:cs typeface="+mn-cs"/>
              </a:rPr>
              <a:t> đăng nhập vào hệ thống, như: đăng nhập từ các vị trí địa lý hoặc địa chỉ IP không quen thuộc; thực hiện đăng nhập vào những thời điểm bất thường, không phù hợp với lịch trình làm việc; xuất hiện số lượng lớn các lần đăng nhập thất bại liên 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nhau</a:t>
            </a:r>
            <a:r>
              <a:rPr lang="vi-VN" sz="1200" kern="1200" dirty="0">
                <a:solidFill>
                  <a:schemeClr val="tx1"/>
                </a:solidFill>
                <a:effectLst/>
                <a:latin typeface="+mn-lt"/>
                <a:ea typeface="+mn-ea"/>
                <a:cs typeface="+mn-cs"/>
              </a:rPr>
              <a:t>; đăng nhập từ các thiết bị lạ, chưa từng được sử dụng; truy cập vào các tài nguyên, dữ liệu hoặc chức năng không thường xuyên được sử dụng bởi tài khoản đó; hay các nỗ lực leo thang đặc quyền sau khi đăng nhập thành công...</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3</a:t>
            </a:fld>
            <a:endParaRPr lang="en-US"/>
          </a:p>
        </p:txBody>
      </p:sp>
    </p:spTree>
    <p:extLst>
      <p:ext uri="{BB962C8B-B14F-4D97-AF65-F5344CB8AC3E}">
        <p14:creationId xmlns:p14="http://schemas.microsoft.com/office/powerpoint/2010/main" val="565145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kern="1200" dirty="0">
                <a:solidFill>
                  <a:schemeClr val="tx1"/>
                </a:solidFill>
                <a:effectLst/>
                <a:latin typeface="+mn-lt"/>
                <a:ea typeface="+mn-ea"/>
                <a:cs typeface="+mn-cs"/>
              </a:rPr>
              <a:t>Thực tế cho thấy, việc phát hiện sớm các hành vi đăng nhập bất 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rất</a:t>
            </a:r>
            <a:r>
              <a:rPr lang="vi-VN" sz="1200" kern="1200" dirty="0">
                <a:solidFill>
                  <a:schemeClr val="tx1"/>
                </a:solidFill>
                <a:effectLst/>
                <a:latin typeface="+mn-lt"/>
                <a:ea typeface="+mn-ea"/>
                <a:cs typeface="+mn-cs"/>
              </a:rPr>
              <a:t> quan trọng, bởi chúng thường là dấu hiệu cảnh báo sớm về các cuộc tấn công tiềm tàng, như chiếm đoạt tài khoản, xâm nhập hệ thống, hoặc các hành vi lạm dụng, leo thang đặc quyền từ bên trong.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nay,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hướng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vi </a:t>
            </a:r>
            <a:r>
              <a:rPr lang="en-US" sz="1200" kern="1200" dirty="0" err="1">
                <a:solidFill>
                  <a:schemeClr val="tx1"/>
                </a:solidFill>
                <a:effectLst/>
                <a:latin typeface="+mn-lt"/>
                <a:ea typeface="+mn-ea"/>
                <a:cs typeface="+mn-cs"/>
              </a:rPr>
              <a:t>đăng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luật</a:t>
            </a:r>
            <a:r>
              <a:rPr lang="en-US" sz="1200" kern="1200" dirty="0">
                <a:solidFill>
                  <a:schemeClr val="tx1"/>
                </a:solidFill>
                <a:effectLst/>
                <a:latin typeface="+mn-lt"/>
                <a:ea typeface="+mn-ea"/>
                <a:cs typeface="+mn-cs"/>
              </a:rPr>
              <a:t> (rule-based detection)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hạn</a:t>
            </a:r>
            <a:r>
              <a:rPr lang="en-US" sz="1200" kern="1200" dirty="0">
                <a:solidFill>
                  <a:schemeClr val="tx1"/>
                </a:solidFill>
                <a:effectLst/>
                <a:latin typeface="+mn-lt"/>
                <a:ea typeface="+mn-ea"/>
                <a:cs typeface="+mn-cs"/>
              </a:rPr>
              <a:t> IP,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ngoài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giờ</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kê</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tìm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xâm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nhập</a:t>
            </a:r>
            <a:r>
              <a:rPr lang="en-US" sz="1200" kern="1200" dirty="0">
                <a:solidFill>
                  <a:schemeClr val="tx1"/>
                </a:solidFill>
                <a:effectLst/>
                <a:latin typeface="+mn-lt"/>
                <a:ea typeface="+mn-ea"/>
                <a:cs typeface="+mn-cs"/>
              </a:rPr>
              <a:t> (IDS) </a:t>
            </a:r>
            <a:r>
              <a:rPr lang="en-US" sz="1200" kern="1200" dirty="0" err="1">
                <a:solidFill>
                  <a:schemeClr val="tx1"/>
                </a:solidFill>
                <a:effectLst/>
                <a:latin typeface="+mn-lt"/>
                <a:ea typeface="+mn-ea"/>
                <a:cs typeface="+mn-cs"/>
              </a:rPr>
              <a:t>truyền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ký</a:t>
            </a:r>
            <a:r>
              <a:rPr lang="en-US" sz="1200" kern="1200" dirty="0">
                <a:solidFill>
                  <a:schemeClr val="tx1"/>
                </a:solidFill>
                <a:effectLst/>
                <a:latin typeface="+mn-lt"/>
                <a:ea typeface="+mn-ea"/>
                <a:cs typeface="+mn-cs"/>
              </a:rPr>
              <a:t> (signature-based). </a:t>
            </a:r>
          </a:p>
          <a:p>
            <a:r>
              <a:rPr lang="en-US" sz="1200" kern="1200" dirty="0">
                <a:solidFill>
                  <a:schemeClr val="tx1"/>
                </a:solidFill>
                <a:effectLst/>
                <a:latin typeface="+mn-lt"/>
                <a:ea typeface="+mn-ea"/>
                <a:cs typeface="+mn-cs"/>
              </a:rPr>
              <a:t>Tuy </a:t>
            </a:r>
            <a:r>
              <a:rPr lang="en-US" sz="1200" kern="1200" dirty="0" err="1">
                <a:solidFill>
                  <a:schemeClr val="tx1"/>
                </a:solidFill>
                <a:effectLst/>
                <a:latin typeface="+mn-lt"/>
                <a:ea typeface="+mn-ea"/>
                <a:cs typeface="+mn-cs"/>
              </a:rPr>
              <a:t>nhiên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trước các cuộc tấn công có chủ đích, tinh vi, biến đổi liên tục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tắc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tấn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nếu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lớn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giữa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vi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4</a:t>
            </a:fld>
            <a:endParaRPr lang="en-US"/>
          </a:p>
        </p:txBody>
      </p:sp>
    </p:spTree>
    <p:extLst>
      <p:ext uri="{BB962C8B-B14F-4D97-AF65-F5344CB8AC3E}">
        <p14:creationId xmlns:p14="http://schemas.microsoft.com/office/powerpoint/2010/main" val="977150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vậy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vi-VN" sz="1200" kern="1200" dirty="0">
                <a:solidFill>
                  <a:schemeClr val="tx1"/>
                </a:solidFill>
                <a:effectLst/>
                <a:latin typeface="+mn-lt"/>
                <a:ea typeface="+mn-ea"/>
                <a:cs typeface="+mn-cs"/>
              </a:rPr>
              <a:t> ứng dụng học máy nổi lên như một hướng tiếp cận đầy hứa hẹn để giải quyết bài toán phát hiện các hành vi đăng nhập bất thường trong hệ thống CNTT một cách hiệu 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nhờ</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học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vi </a:t>
            </a:r>
            <a:r>
              <a:rPr lang="en-US" sz="1200" kern="1200" dirty="0" err="1">
                <a:solidFill>
                  <a:schemeClr val="tx1"/>
                </a:solidFill>
                <a:effectLst/>
                <a:latin typeface="+mn-lt"/>
                <a:ea typeface="+mn-ea"/>
                <a:cs typeface="+mn-cs"/>
              </a:rPr>
              <a:t>phức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phù</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lớn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tục</a:t>
            </a:r>
            <a:r>
              <a:rPr lang="en-US"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kern="1200" dirty="0">
                <a:solidFill>
                  <a:schemeClr val="tx1"/>
                </a:solidFill>
                <a:effectLst/>
                <a:latin typeface="+mn-lt"/>
                <a:ea typeface="+mn-ea"/>
                <a:cs typeface="+mn-cs"/>
              </a:rPr>
              <a:t>Với mục tiêu nghiên cứu</a:t>
            </a:r>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xây dựng một hệ thống có khả năng tự động hóa việc phát hiện sớm các dấu hiệu đăng nhập đáng ngờ, cảnh báo kịp thời cho quản trị viên, từ đó tăng cường khả năng bảo mật thông tin, giảm thiểu rủi ro truy cập trái phép</a:t>
            </a:r>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nâng cao hiệu quả quản lý an ninh </a:t>
            </a:r>
            <a:r>
              <a:rPr lang="en-US" sz="1200" kern="1200" dirty="0" err="1">
                <a:solidFill>
                  <a:schemeClr val="tx1"/>
                </a:solidFill>
                <a:effectLst/>
                <a:latin typeface="+mn-lt"/>
                <a:ea typeface="+mn-ea"/>
                <a:cs typeface="+mn-cs"/>
              </a:rPr>
              <a:t>mạng</a:t>
            </a:r>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cho các hệ thống CNTT nói chung, tác giả mạnh dạn chọn và nghiên cứu đề tài </a:t>
            </a:r>
            <a:r>
              <a:rPr lang="vi-VN" sz="1200" b="1" kern="1200" dirty="0">
                <a:solidFill>
                  <a:schemeClr val="tx1"/>
                </a:solidFill>
                <a:effectLst/>
                <a:latin typeface="+mn-lt"/>
                <a:ea typeface="+mn-ea"/>
                <a:cs typeface="+mn-cs"/>
              </a:rPr>
              <a:t>“Ứng dụng học máy để phát hiện hành vi đăng nhập bất thường trong hệ thống công nghệ thông tin”</a:t>
            </a:r>
            <a:r>
              <a:rPr lang="vi-VN" sz="1200" kern="1200" dirty="0">
                <a:solidFill>
                  <a:schemeClr val="tx1"/>
                </a:solidFill>
                <a:effectLst/>
                <a:latin typeface="+mn-lt"/>
                <a:ea typeface="+mn-ea"/>
                <a:cs typeface="+mn-cs"/>
              </a:rPr>
              <a:t> làm luận văn thạc sỹ</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hướng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vi-VN" sz="1200" kern="1200" dirty="0">
                <a:solidFill>
                  <a:schemeClr val="tx1"/>
                </a:solidFill>
                <a:effectLst/>
                <a:latin typeface="+mn-lt"/>
                <a:ea typeface="+mn-ea"/>
                <a:cs typeface="+mn-cs"/>
              </a:rPr>
              <a:t>, chuyên ngành Khoa học máy tính.</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5</a:t>
            </a:fld>
            <a:endParaRPr lang="en-US"/>
          </a:p>
        </p:txBody>
      </p:sp>
    </p:spTree>
    <p:extLst>
      <p:ext uri="{BB962C8B-B14F-4D97-AF65-F5344CB8AC3E}">
        <p14:creationId xmlns:p14="http://schemas.microsoft.com/office/powerpoint/2010/main" val="1744907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7</a:t>
            </a:fld>
            <a:endParaRPr lang="en-US"/>
          </a:p>
        </p:txBody>
      </p:sp>
    </p:spTree>
    <p:extLst>
      <p:ext uri="{BB962C8B-B14F-4D97-AF65-F5344CB8AC3E}">
        <p14:creationId xmlns:p14="http://schemas.microsoft.com/office/powerpoint/2010/main" val="3717946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8</a:t>
            </a:fld>
            <a:endParaRPr lang="en-US"/>
          </a:p>
        </p:txBody>
      </p:sp>
    </p:spTree>
    <p:extLst>
      <p:ext uri="{BB962C8B-B14F-4D97-AF65-F5344CB8AC3E}">
        <p14:creationId xmlns:p14="http://schemas.microsoft.com/office/powerpoint/2010/main" val="720082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9</a:t>
            </a:fld>
            <a:endParaRPr lang="en-US"/>
          </a:p>
        </p:txBody>
      </p:sp>
    </p:spTree>
    <p:extLst>
      <p:ext uri="{BB962C8B-B14F-4D97-AF65-F5344CB8AC3E}">
        <p14:creationId xmlns:p14="http://schemas.microsoft.com/office/powerpoint/2010/main" val="3703746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10</a:t>
            </a:fld>
            <a:endParaRPr lang="en-US"/>
          </a:p>
        </p:txBody>
      </p:sp>
    </p:spTree>
    <p:extLst>
      <p:ext uri="{BB962C8B-B14F-4D97-AF65-F5344CB8AC3E}">
        <p14:creationId xmlns:p14="http://schemas.microsoft.com/office/powerpoint/2010/main" val="859795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A5E0A-5DF3-7E98-71A2-EF1366705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80356-F7DF-008D-6870-9DBADF414F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32B98-AA9A-D750-E705-5711B02BDB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C11379-4EE5-53EB-AEEC-4F761C680DC1}"/>
              </a:ext>
            </a:extLst>
          </p:cNvPr>
          <p:cNvSpPr>
            <a:spLocks noGrp="1"/>
          </p:cNvSpPr>
          <p:nvPr>
            <p:ph type="sldNum" sz="quarter" idx="5"/>
          </p:nvPr>
        </p:nvSpPr>
        <p:spPr/>
        <p:txBody>
          <a:bodyPr/>
          <a:lstStyle/>
          <a:p>
            <a:fld id="{D5AE93D1-09F6-4495-AB70-A85DCECC4211}" type="slidenum">
              <a:rPr lang="en-US" smtClean="0"/>
              <a:t>11</a:t>
            </a:fld>
            <a:endParaRPr lang="en-US"/>
          </a:p>
        </p:txBody>
      </p:sp>
    </p:spTree>
    <p:extLst>
      <p:ext uri="{BB962C8B-B14F-4D97-AF65-F5344CB8AC3E}">
        <p14:creationId xmlns:p14="http://schemas.microsoft.com/office/powerpoint/2010/main" val="365874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AD06E-54C7-E227-3A77-64013A8E1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71159-DB73-6FD8-E1E0-89DD9CA10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D187E-56B7-64F3-3835-1C9A946FC9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66E3F4-30CE-B9C8-D023-392126196D46}"/>
              </a:ext>
            </a:extLst>
          </p:cNvPr>
          <p:cNvSpPr>
            <a:spLocks noGrp="1"/>
          </p:cNvSpPr>
          <p:nvPr>
            <p:ph type="sldNum" sz="quarter" idx="5"/>
          </p:nvPr>
        </p:nvSpPr>
        <p:spPr/>
        <p:txBody>
          <a:bodyPr/>
          <a:lstStyle/>
          <a:p>
            <a:fld id="{D5AE93D1-09F6-4495-AB70-A85DCECC4211}" type="slidenum">
              <a:rPr lang="en-US" smtClean="0"/>
              <a:t>12</a:t>
            </a:fld>
            <a:endParaRPr lang="en-US"/>
          </a:p>
        </p:txBody>
      </p:sp>
    </p:spTree>
    <p:extLst>
      <p:ext uri="{BB962C8B-B14F-4D97-AF65-F5344CB8AC3E}">
        <p14:creationId xmlns:p14="http://schemas.microsoft.com/office/powerpoint/2010/main" val="289736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21BD0-EBC2-BDD3-B98C-123C082164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DD277-8585-25FB-C9A2-33AE7C2AF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3A0B8-A5BD-E64E-01C0-61D907ADDF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403C31-25EB-8F3F-8D04-797CBBB8D27A}"/>
              </a:ext>
            </a:extLst>
          </p:cNvPr>
          <p:cNvSpPr>
            <a:spLocks noGrp="1"/>
          </p:cNvSpPr>
          <p:nvPr>
            <p:ph type="sldNum" sz="quarter" idx="5"/>
          </p:nvPr>
        </p:nvSpPr>
        <p:spPr/>
        <p:txBody>
          <a:bodyPr/>
          <a:lstStyle/>
          <a:p>
            <a:fld id="{D5AE93D1-09F6-4495-AB70-A85DCECC4211}" type="slidenum">
              <a:rPr lang="en-US" smtClean="0"/>
              <a:t>13</a:t>
            </a:fld>
            <a:endParaRPr lang="en-US"/>
          </a:p>
        </p:txBody>
      </p:sp>
    </p:spTree>
    <p:extLst>
      <p:ext uri="{BB962C8B-B14F-4D97-AF65-F5344CB8AC3E}">
        <p14:creationId xmlns:p14="http://schemas.microsoft.com/office/powerpoint/2010/main" val="2979207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8197-2616-2273-3889-4DE5CB918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6DA7FE-3274-9607-429A-AB335164D2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77388-7FB2-3C20-941F-523AE71BCC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9DEFFD-6DCE-4800-AD43-FC63110C9DDC}"/>
              </a:ext>
            </a:extLst>
          </p:cNvPr>
          <p:cNvSpPr>
            <a:spLocks noGrp="1"/>
          </p:cNvSpPr>
          <p:nvPr>
            <p:ph type="sldNum" sz="quarter" idx="5"/>
          </p:nvPr>
        </p:nvSpPr>
        <p:spPr/>
        <p:txBody>
          <a:bodyPr/>
          <a:lstStyle/>
          <a:p>
            <a:fld id="{D5AE93D1-09F6-4495-AB70-A85DCECC4211}" type="slidenum">
              <a:rPr lang="en-US" smtClean="0"/>
              <a:t>14</a:t>
            </a:fld>
            <a:endParaRPr lang="en-US"/>
          </a:p>
        </p:txBody>
      </p:sp>
    </p:spTree>
    <p:extLst>
      <p:ext uri="{BB962C8B-B14F-4D97-AF65-F5344CB8AC3E}">
        <p14:creationId xmlns:p14="http://schemas.microsoft.com/office/powerpoint/2010/main" val="1667366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4A579-069B-BD64-9B24-A551D9399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5CA54-DA93-D847-2AD2-63B2C3654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A8D71-727B-B6A4-28F7-04DCB2CA6E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7E333-72BF-4B6D-0E10-A5BB4A9D4652}"/>
              </a:ext>
            </a:extLst>
          </p:cNvPr>
          <p:cNvSpPr>
            <a:spLocks noGrp="1"/>
          </p:cNvSpPr>
          <p:nvPr>
            <p:ph type="sldNum" sz="quarter" idx="5"/>
          </p:nvPr>
        </p:nvSpPr>
        <p:spPr/>
        <p:txBody>
          <a:bodyPr/>
          <a:lstStyle/>
          <a:p>
            <a:fld id="{D5AE93D1-09F6-4495-AB70-A85DCECC4211}" type="slidenum">
              <a:rPr lang="en-US" smtClean="0"/>
              <a:t>15</a:t>
            </a:fld>
            <a:endParaRPr lang="en-US"/>
          </a:p>
        </p:txBody>
      </p:sp>
    </p:spTree>
    <p:extLst>
      <p:ext uri="{BB962C8B-B14F-4D97-AF65-F5344CB8AC3E}">
        <p14:creationId xmlns:p14="http://schemas.microsoft.com/office/powerpoint/2010/main" val="2483686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B5346-EB76-27CA-00BE-C5ECE1CB6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17E904-B640-5684-7217-E703D36D62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77B7F-3A45-CF1F-77D8-E491FAF23B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D294C4-F5AF-8ACE-A2D0-01BA8022FCA9}"/>
              </a:ext>
            </a:extLst>
          </p:cNvPr>
          <p:cNvSpPr>
            <a:spLocks noGrp="1"/>
          </p:cNvSpPr>
          <p:nvPr>
            <p:ph type="sldNum" sz="quarter" idx="5"/>
          </p:nvPr>
        </p:nvSpPr>
        <p:spPr/>
        <p:txBody>
          <a:bodyPr/>
          <a:lstStyle/>
          <a:p>
            <a:fld id="{D5AE93D1-09F6-4495-AB70-A85DCECC4211}" type="slidenum">
              <a:rPr lang="en-US" smtClean="0"/>
              <a:t>16</a:t>
            </a:fld>
            <a:endParaRPr lang="en-US"/>
          </a:p>
        </p:txBody>
      </p:sp>
    </p:spTree>
    <p:extLst>
      <p:ext uri="{BB962C8B-B14F-4D97-AF65-F5344CB8AC3E}">
        <p14:creationId xmlns:p14="http://schemas.microsoft.com/office/powerpoint/2010/main" val="2113676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74290-4E4A-7531-78D9-851D27622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2C8CA-27CB-D31F-A686-216CB16A3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4A8CE-21FE-2EC9-B719-D78CCAB127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5FB741-996E-92BC-FDC0-F4D850759B20}"/>
              </a:ext>
            </a:extLst>
          </p:cNvPr>
          <p:cNvSpPr>
            <a:spLocks noGrp="1"/>
          </p:cNvSpPr>
          <p:nvPr>
            <p:ph type="sldNum" sz="quarter" idx="5"/>
          </p:nvPr>
        </p:nvSpPr>
        <p:spPr/>
        <p:txBody>
          <a:bodyPr/>
          <a:lstStyle/>
          <a:p>
            <a:fld id="{D5AE93D1-09F6-4495-AB70-A85DCECC4211}" type="slidenum">
              <a:rPr lang="en-US" smtClean="0"/>
              <a:t>17</a:t>
            </a:fld>
            <a:endParaRPr lang="en-US"/>
          </a:p>
        </p:txBody>
      </p:sp>
    </p:spTree>
    <p:extLst>
      <p:ext uri="{BB962C8B-B14F-4D97-AF65-F5344CB8AC3E}">
        <p14:creationId xmlns:p14="http://schemas.microsoft.com/office/powerpoint/2010/main" val="350058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99829-62E9-7E15-9721-FEABC8604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23DDF-9FEE-6650-C2E8-09FA5488C1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112F3-0FC9-8561-6BB2-C7D8732D86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8AE069-F078-3DAD-27E5-782405BB6FB3}"/>
              </a:ext>
            </a:extLst>
          </p:cNvPr>
          <p:cNvSpPr>
            <a:spLocks noGrp="1"/>
          </p:cNvSpPr>
          <p:nvPr>
            <p:ph type="sldNum" sz="quarter" idx="5"/>
          </p:nvPr>
        </p:nvSpPr>
        <p:spPr/>
        <p:txBody>
          <a:bodyPr/>
          <a:lstStyle/>
          <a:p>
            <a:fld id="{D5AE93D1-09F6-4495-AB70-A85DCECC4211}" type="slidenum">
              <a:rPr lang="en-US" smtClean="0"/>
              <a:t>18</a:t>
            </a:fld>
            <a:endParaRPr lang="en-US"/>
          </a:p>
        </p:txBody>
      </p:sp>
    </p:spTree>
    <p:extLst>
      <p:ext uri="{BB962C8B-B14F-4D97-AF65-F5344CB8AC3E}">
        <p14:creationId xmlns:p14="http://schemas.microsoft.com/office/powerpoint/2010/main" val="206303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20C37-2BE4-A1B3-12C0-B4D12E813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30CF7-D0F2-10C4-35E8-D2963542D2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85D56-5DA0-D689-CB60-1B467D5A2D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ACD288-12E5-ED79-18D8-CDCF7987EAB1}"/>
              </a:ext>
            </a:extLst>
          </p:cNvPr>
          <p:cNvSpPr>
            <a:spLocks noGrp="1"/>
          </p:cNvSpPr>
          <p:nvPr>
            <p:ph type="sldNum" sz="quarter" idx="5"/>
          </p:nvPr>
        </p:nvSpPr>
        <p:spPr/>
        <p:txBody>
          <a:bodyPr/>
          <a:lstStyle/>
          <a:p>
            <a:fld id="{D5AE93D1-09F6-4495-AB70-A85DCECC4211}" type="slidenum">
              <a:rPr lang="en-US" smtClean="0"/>
              <a:t>19</a:t>
            </a:fld>
            <a:endParaRPr lang="en-US"/>
          </a:p>
        </p:txBody>
      </p:sp>
    </p:spTree>
    <p:extLst>
      <p:ext uri="{BB962C8B-B14F-4D97-AF65-F5344CB8AC3E}">
        <p14:creationId xmlns:p14="http://schemas.microsoft.com/office/powerpoint/2010/main" val="15630418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B2F82-8BBF-5F61-E299-782B45676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64FAB-8427-80AD-BF2B-0AFDC55630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93174-FA89-9946-9EC9-8ABD97B442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E74CD1-E230-5012-7F13-0E4396B71533}"/>
              </a:ext>
            </a:extLst>
          </p:cNvPr>
          <p:cNvSpPr>
            <a:spLocks noGrp="1"/>
          </p:cNvSpPr>
          <p:nvPr>
            <p:ph type="sldNum" sz="quarter" idx="5"/>
          </p:nvPr>
        </p:nvSpPr>
        <p:spPr/>
        <p:txBody>
          <a:bodyPr/>
          <a:lstStyle/>
          <a:p>
            <a:fld id="{D5AE93D1-09F6-4495-AB70-A85DCECC4211}" type="slidenum">
              <a:rPr lang="en-US" smtClean="0"/>
              <a:t>20</a:t>
            </a:fld>
            <a:endParaRPr lang="en-US"/>
          </a:p>
        </p:txBody>
      </p:sp>
    </p:spTree>
    <p:extLst>
      <p:ext uri="{BB962C8B-B14F-4D97-AF65-F5344CB8AC3E}">
        <p14:creationId xmlns:p14="http://schemas.microsoft.com/office/powerpoint/2010/main" val="3355649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332F1-BCE8-3EE1-BC88-4F605CDCE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FA40F-71D4-8F29-A548-B79FC6500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77DB8-A728-64FD-CF8D-BBFCE500F21B}"/>
              </a:ext>
            </a:extLst>
          </p:cNvPr>
          <p:cNvSpPr>
            <a:spLocks noGrp="1"/>
          </p:cNvSpPr>
          <p:nvPr>
            <p:ph type="body" idx="1"/>
          </p:nvPr>
        </p:nvSpPr>
        <p:spPr/>
        <p:txBody>
          <a:bodyPr/>
          <a:lstStyle/>
          <a:p>
            <a:r>
              <a:rPr lang="en-US" sz="1200" b="0" kern="1200" dirty="0" err="1">
                <a:solidFill>
                  <a:schemeClr val="tx1"/>
                </a:solidFill>
                <a:effectLst/>
                <a:latin typeface="+mn-lt"/>
                <a:ea typeface="+mn-ea"/>
                <a:cs typeface="+mn-cs"/>
              </a:rPr>
              <a:t>num_users</a:t>
            </a:r>
            <a:r>
              <a:rPr lang="en-US" sz="1200" b="0" kern="1200" dirty="0">
                <a:solidFill>
                  <a:schemeClr val="tx1"/>
                </a:solidFill>
                <a:effectLst/>
                <a:latin typeface="+mn-lt"/>
                <a:ea typeface="+mn-ea"/>
                <a:cs typeface="+mn-cs"/>
              </a:rPr>
              <a:t> = 1000 </a:t>
            </a:r>
          </a:p>
          <a:p>
            <a:r>
              <a:rPr lang="en-US" sz="1200" b="0" kern="1200" dirty="0" err="1">
                <a:solidFill>
                  <a:schemeClr val="tx1"/>
                </a:solidFill>
                <a:effectLst/>
                <a:latin typeface="+mn-lt"/>
                <a:ea typeface="+mn-ea"/>
                <a:cs typeface="+mn-cs"/>
              </a:rPr>
              <a:t>num_records</a:t>
            </a:r>
            <a:r>
              <a:rPr lang="en-US" sz="1200" b="0" kern="1200" dirty="0">
                <a:solidFill>
                  <a:schemeClr val="tx1"/>
                </a:solidFill>
                <a:effectLst/>
                <a:latin typeface="+mn-lt"/>
                <a:ea typeface="+mn-ea"/>
                <a:cs typeface="+mn-cs"/>
              </a:rPr>
              <a:t> = 10000  </a:t>
            </a:r>
          </a:p>
          <a:p>
            <a:r>
              <a:rPr lang="en-US" sz="1200" b="0" kern="1200" dirty="0" err="1">
                <a:solidFill>
                  <a:schemeClr val="tx1"/>
                </a:solidFill>
                <a:effectLst/>
                <a:latin typeface="+mn-lt"/>
                <a:ea typeface="+mn-ea"/>
                <a:cs typeface="+mn-cs"/>
              </a:rPr>
              <a:t>failed_rate</a:t>
            </a:r>
            <a:r>
              <a:rPr lang="en-US" sz="1200" b="0" kern="1200" dirty="0">
                <a:solidFill>
                  <a:schemeClr val="tx1"/>
                </a:solidFill>
                <a:effectLst/>
                <a:latin typeface="+mn-lt"/>
                <a:ea typeface="+mn-ea"/>
                <a:cs typeface="+mn-cs"/>
              </a:rPr>
              <a:t> = 0.05  </a:t>
            </a:r>
          </a:p>
          <a:p>
            <a:r>
              <a:rPr lang="en-US" sz="1200" b="0" kern="1200" dirty="0" err="1">
                <a:solidFill>
                  <a:schemeClr val="tx1"/>
                </a:solidFill>
                <a:effectLst/>
                <a:latin typeface="+mn-lt"/>
                <a:ea typeface="+mn-ea"/>
                <a:cs typeface="+mn-cs"/>
              </a:rPr>
              <a:t>success_login_rate</a:t>
            </a:r>
            <a:r>
              <a:rPr lang="en-US" sz="1200" b="0" kern="1200" dirty="0">
                <a:solidFill>
                  <a:schemeClr val="tx1"/>
                </a:solidFill>
                <a:effectLst/>
                <a:latin typeface="+mn-lt"/>
                <a:ea typeface="+mn-ea"/>
                <a:cs typeface="+mn-cs"/>
              </a:rPr>
              <a:t> = 0.95</a:t>
            </a:r>
          </a:p>
          <a:p>
            <a:endParaRPr lang="en-US" dirty="0"/>
          </a:p>
        </p:txBody>
      </p:sp>
      <p:sp>
        <p:nvSpPr>
          <p:cNvPr id="4" name="Slide Number Placeholder 3">
            <a:extLst>
              <a:ext uri="{FF2B5EF4-FFF2-40B4-BE49-F238E27FC236}">
                <a16:creationId xmlns:a16="http://schemas.microsoft.com/office/drawing/2014/main" id="{40747AEF-2F4A-B8C7-3118-47168FA2037E}"/>
              </a:ext>
            </a:extLst>
          </p:cNvPr>
          <p:cNvSpPr>
            <a:spLocks noGrp="1"/>
          </p:cNvSpPr>
          <p:nvPr>
            <p:ph type="sldNum" sz="quarter" idx="5"/>
          </p:nvPr>
        </p:nvSpPr>
        <p:spPr/>
        <p:txBody>
          <a:bodyPr/>
          <a:lstStyle/>
          <a:p>
            <a:fld id="{D5AE93D1-09F6-4495-AB70-A85DCECC4211}" type="slidenum">
              <a:rPr lang="en-US" smtClean="0"/>
              <a:t>22</a:t>
            </a:fld>
            <a:endParaRPr lang="en-US"/>
          </a:p>
        </p:txBody>
      </p:sp>
    </p:spTree>
    <p:extLst>
      <p:ext uri="{BB962C8B-B14F-4D97-AF65-F5344CB8AC3E}">
        <p14:creationId xmlns:p14="http://schemas.microsoft.com/office/powerpoint/2010/main" val="18695894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B7C58-3326-6030-4370-05D49EEE7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8956E-10ED-4A76-C3CB-5776BF3C1C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2E498-F84A-4D4B-E21D-8B1C12C190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0A2221-A1D6-ED49-352F-6D7D617ED710}"/>
              </a:ext>
            </a:extLst>
          </p:cNvPr>
          <p:cNvSpPr>
            <a:spLocks noGrp="1"/>
          </p:cNvSpPr>
          <p:nvPr>
            <p:ph type="sldNum" sz="quarter" idx="5"/>
          </p:nvPr>
        </p:nvSpPr>
        <p:spPr/>
        <p:txBody>
          <a:bodyPr/>
          <a:lstStyle/>
          <a:p>
            <a:fld id="{D5AE93D1-09F6-4495-AB70-A85DCECC4211}" type="slidenum">
              <a:rPr lang="en-US" smtClean="0"/>
              <a:t>23</a:t>
            </a:fld>
            <a:endParaRPr lang="en-US"/>
          </a:p>
        </p:txBody>
      </p:sp>
    </p:spTree>
    <p:extLst>
      <p:ext uri="{BB962C8B-B14F-4D97-AF65-F5344CB8AC3E}">
        <p14:creationId xmlns:p14="http://schemas.microsoft.com/office/powerpoint/2010/main" val="1728674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6B928-6EAB-C693-6CA3-F525C846E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93D2E3-38B3-6BCC-628A-7A30A3953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0E046-0DA5-41C6-23CB-8B0522853B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78FB1C-160F-49D8-74EE-CEFC6C4AD657}"/>
              </a:ext>
            </a:extLst>
          </p:cNvPr>
          <p:cNvSpPr>
            <a:spLocks noGrp="1"/>
          </p:cNvSpPr>
          <p:nvPr>
            <p:ph type="sldNum" sz="quarter" idx="5"/>
          </p:nvPr>
        </p:nvSpPr>
        <p:spPr/>
        <p:txBody>
          <a:bodyPr/>
          <a:lstStyle/>
          <a:p>
            <a:fld id="{D5AE93D1-09F6-4495-AB70-A85DCECC4211}" type="slidenum">
              <a:rPr lang="en-US" smtClean="0"/>
              <a:t>24</a:t>
            </a:fld>
            <a:endParaRPr lang="en-US"/>
          </a:p>
        </p:txBody>
      </p:sp>
    </p:spTree>
    <p:extLst>
      <p:ext uri="{BB962C8B-B14F-4D97-AF65-F5344CB8AC3E}">
        <p14:creationId xmlns:p14="http://schemas.microsoft.com/office/powerpoint/2010/main" val="3873961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A478-5918-8373-3B1F-B4BA55255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C7BD0-85D6-8A32-BB7B-515CE62F7D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A90414-E338-23D8-D956-DE69011970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649812-FAA2-31E5-9632-B7CA91C26EBE}"/>
              </a:ext>
            </a:extLst>
          </p:cNvPr>
          <p:cNvSpPr>
            <a:spLocks noGrp="1"/>
          </p:cNvSpPr>
          <p:nvPr>
            <p:ph type="sldNum" sz="quarter" idx="5"/>
          </p:nvPr>
        </p:nvSpPr>
        <p:spPr/>
        <p:txBody>
          <a:bodyPr/>
          <a:lstStyle/>
          <a:p>
            <a:fld id="{D5AE93D1-09F6-4495-AB70-A85DCECC4211}" type="slidenum">
              <a:rPr lang="en-US" smtClean="0"/>
              <a:t>25</a:t>
            </a:fld>
            <a:endParaRPr lang="en-US"/>
          </a:p>
        </p:txBody>
      </p:sp>
    </p:spTree>
    <p:extLst>
      <p:ext uri="{BB962C8B-B14F-4D97-AF65-F5344CB8AC3E}">
        <p14:creationId xmlns:p14="http://schemas.microsoft.com/office/powerpoint/2010/main" val="24629867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69A12-4AC0-C92A-B06C-0C325E54F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A2A0F-3C60-1043-705E-AF35B9AC2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0309C-E99F-1F33-1950-FB1CEAB81B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6331B7-53BB-6372-D424-970666A68454}"/>
              </a:ext>
            </a:extLst>
          </p:cNvPr>
          <p:cNvSpPr>
            <a:spLocks noGrp="1"/>
          </p:cNvSpPr>
          <p:nvPr>
            <p:ph type="sldNum" sz="quarter" idx="5"/>
          </p:nvPr>
        </p:nvSpPr>
        <p:spPr/>
        <p:txBody>
          <a:bodyPr/>
          <a:lstStyle/>
          <a:p>
            <a:fld id="{D5AE93D1-09F6-4495-AB70-A85DCECC4211}" type="slidenum">
              <a:rPr lang="en-US" smtClean="0"/>
              <a:t>26</a:t>
            </a:fld>
            <a:endParaRPr lang="en-US"/>
          </a:p>
        </p:txBody>
      </p:sp>
    </p:spTree>
    <p:extLst>
      <p:ext uri="{BB962C8B-B14F-4D97-AF65-F5344CB8AC3E}">
        <p14:creationId xmlns:p14="http://schemas.microsoft.com/office/powerpoint/2010/main" val="38795770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AE93D1-09F6-4495-AB70-A85DCECC4211}" type="slidenum">
              <a:rPr lang="en-US" smtClean="0"/>
              <a:t>42</a:t>
            </a:fld>
            <a:endParaRPr lang="en-US"/>
          </a:p>
        </p:txBody>
      </p:sp>
    </p:spTree>
    <p:extLst>
      <p:ext uri="{BB962C8B-B14F-4D97-AF65-F5344CB8AC3E}">
        <p14:creationId xmlns:p14="http://schemas.microsoft.com/office/powerpoint/2010/main" val="18803594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B7ACD-97BA-D259-D5D5-A032C217F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82200-BAAC-8D5E-B10F-9D2A13183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D18272-D6EA-3CD1-BD74-34FA4AEB6C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66511C-6853-75CF-76F0-D92F5F8956B0}"/>
              </a:ext>
            </a:extLst>
          </p:cNvPr>
          <p:cNvSpPr>
            <a:spLocks noGrp="1"/>
          </p:cNvSpPr>
          <p:nvPr>
            <p:ph type="sldNum" sz="quarter" idx="5"/>
          </p:nvPr>
        </p:nvSpPr>
        <p:spPr/>
        <p:txBody>
          <a:bodyPr/>
          <a:lstStyle/>
          <a:p>
            <a:fld id="{D5AE93D1-09F6-4495-AB70-A85DCECC4211}" type="slidenum">
              <a:rPr lang="en-US" smtClean="0"/>
              <a:t>43</a:t>
            </a:fld>
            <a:endParaRPr lang="en-US"/>
          </a:p>
        </p:txBody>
      </p:sp>
    </p:spTree>
    <p:extLst>
      <p:ext uri="{BB962C8B-B14F-4D97-AF65-F5344CB8AC3E}">
        <p14:creationId xmlns:p14="http://schemas.microsoft.com/office/powerpoint/2010/main" val="14933035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34DD6-2E7A-9AB1-EA9A-A137655FC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5A854-7E8C-1F0D-651B-66A98287FC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C13B3-8C77-C383-B6F4-DFAF75D895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2AE317-BC15-884B-C650-58EDB3EBF7A5}"/>
              </a:ext>
            </a:extLst>
          </p:cNvPr>
          <p:cNvSpPr>
            <a:spLocks noGrp="1"/>
          </p:cNvSpPr>
          <p:nvPr>
            <p:ph type="sldNum" sz="quarter" idx="5"/>
          </p:nvPr>
        </p:nvSpPr>
        <p:spPr/>
        <p:txBody>
          <a:bodyPr/>
          <a:lstStyle/>
          <a:p>
            <a:fld id="{D5AE93D1-09F6-4495-AB70-A85DCECC4211}" type="slidenum">
              <a:rPr lang="en-US" smtClean="0"/>
              <a:t>44</a:t>
            </a:fld>
            <a:endParaRPr lang="en-US"/>
          </a:p>
        </p:txBody>
      </p:sp>
    </p:spTree>
    <p:extLst>
      <p:ext uri="{BB962C8B-B14F-4D97-AF65-F5344CB8AC3E}">
        <p14:creationId xmlns:p14="http://schemas.microsoft.com/office/powerpoint/2010/main" val="4220488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84C8-B93F-68F8-EFF2-F3468D6612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C5C0F8-BD7E-CF08-084F-89FF06FD9A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F28042-D726-9A5C-15BD-D56C30FFF423}"/>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5" name="Footer Placeholder 4">
            <a:extLst>
              <a:ext uri="{FF2B5EF4-FFF2-40B4-BE49-F238E27FC236}">
                <a16:creationId xmlns:a16="http://schemas.microsoft.com/office/drawing/2014/main" id="{E611B551-7A6D-6FA3-E88D-83C1E7F630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3F3E5-499A-78A8-AF8F-1DE9CFE37AF8}"/>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855721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7F11D-9944-64DD-1AD5-BED7FBC490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6E3450-2E80-044A-2BE2-8C748189C4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BB349B-498B-4BD9-6AAF-CA780ADE5F04}"/>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5" name="Footer Placeholder 4">
            <a:extLst>
              <a:ext uri="{FF2B5EF4-FFF2-40B4-BE49-F238E27FC236}">
                <a16:creationId xmlns:a16="http://schemas.microsoft.com/office/drawing/2014/main" id="{59AC6AC9-BB11-5126-B14D-78A4698DE5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1B744E-36F9-4527-0C60-EECD502199AD}"/>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1980590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75594-FBE7-8D31-A975-7AFCE82FAD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AF9D1B-B844-0AB8-481E-C9035F8BFF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785538-F412-3CC4-7807-22B6D67DDCE1}"/>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5" name="Footer Placeholder 4">
            <a:extLst>
              <a:ext uri="{FF2B5EF4-FFF2-40B4-BE49-F238E27FC236}">
                <a16:creationId xmlns:a16="http://schemas.microsoft.com/office/drawing/2014/main" id="{866F7AA3-CC93-9FF7-5090-7B2433BF42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A832A5-EAE0-A7C1-99C3-C9B542712174}"/>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585833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8240D-FC20-E181-364E-F9EDE415BF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95529C-D3BC-DB89-0F2D-B8E48FC2D5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056791-3CCF-12F1-703C-64CDFADE85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E141CE-21ED-BAD8-9088-519C8E0B508B}"/>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6" name="Footer Placeholder 5">
            <a:extLst>
              <a:ext uri="{FF2B5EF4-FFF2-40B4-BE49-F238E27FC236}">
                <a16:creationId xmlns:a16="http://schemas.microsoft.com/office/drawing/2014/main" id="{CF4BA94A-6465-8E7F-F1BC-EC3DD86E99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48BEC7-A47F-C033-A1AB-0C70B39B4134}"/>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1121456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BB094-209D-5DA0-0B47-6F9536B91B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AC2FEB-B5E1-05F3-25E1-70428A43BF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216BB0-2E7B-BB67-B3FD-FE900F85CD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2B8B0E-6A0C-0338-4F64-34173428EC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FEB8F0-00E2-DC32-1C61-4D2ABD4EE8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C0A01F-87B6-0D04-D3E5-8D9886C0FF2E}"/>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8" name="Footer Placeholder 7">
            <a:extLst>
              <a:ext uri="{FF2B5EF4-FFF2-40B4-BE49-F238E27FC236}">
                <a16:creationId xmlns:a16="http://schemas.microsoft.com/office/drawing/2014/main" id="{7980CCC1-FBFE-EA7C-A671-FDD34CC718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BFC5C8-6D39-0FFD-2DED-83F25B32AC12}"/>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2529086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F6AB5-AF3D-47DD-B419-D033753980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CF798B-DB21-1B24-F7FA-F6BA4B3340AB}"/>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4" name="Footer Placeholder 3">
            <a:extLst>
              <a:ext uri="{FF2B5EF4-FFF2-40B4-BE49-F238E27FC236}">
                <a16:creationId xmlns:a16="http://schemas.microsoft.com/office/drawing/2014/main" id="{F16338F2-DAEC-C4D3-001D-A8CF26BA7C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89F796-B87F-3277-343F-3D7C7DECEA19}"/>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1448191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DB4B15-F4ED-C2F9-E8C3-01E546921CF0}"/>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3" name="Footer Placeholder 2">
            <a:extLst>
              <a:ext uri="{FF2B5EF4-FFF2-40B4-BE49-F238E27FC236}">
                <a16:creationId xmlns:a16="http://schemas.microsoft.com/office/drawing/2014/main" id="{AA977B38-539E-2A8E-0F91-165E0D4E7D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1A37D1-8993-2C05-4F03-95FABBDEC998}"/>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352276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8B33A-12DF-140F-23D9-26EA960045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F0D3A2-3070-77E4-0910-E9899503AC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58F3DB-C9BA-0ECD-96D9-E47466EDA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D2119E-BDCE-6441-C9F7-069B0B7DD5DA}"/>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6" name="Footer Placeholder 5">
            <a:extLst>
              <a:ext uri="{FF2B5EF4-FFF2-40B4-BE49-F238E27FC236}">
                <a16:creationId xmlns:a16="http://schemas.microsoft.com/office/drawing/2014/main" id="{21CB0300-A652-80FB-1DE1-FA7D7DEF5E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F980A7-7CE2-A118-CE50-9EA13C2173FD}"/>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3604482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62C94-53B7-7498-A252-E0D18C70C3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0E3618-CAF9-A848-E85B-5D62B79A5A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EB1E8B-91B3-8DF2-BD54-2B7BCC86A5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6891F8-C659-5988-BAF1-6DC42D519ABC}"/>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6" name="Footer Placeholder 5">
            <a:extLst>
              <a:ext uri="{FF2B5EF4-FFF2-40B4-BE49-F238E27FC236}">
                <a16:creationId xmlns:a16="http://schemas.microsoft.com/office/drawing/2014/main" id="{704F4098-30DD-236C-C8ED-B212E09246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D3F186-4238-A83A-8CD3-6DCD0D45A6ED}"/>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3613322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CCCB3-7182-EC63-DE98-0530434510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026E0A-594C-015C-C51C-E643BA0E39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E5364D-0019-70FA-F114-50F419046234}"/>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5" name="Footer Placeholder 4">
            <a:extLst>
              <a:ext uri="{FF2B5EF4-FFF2-40B4-BE49-F238E27FC236}">
                <a16:creationId xmlns:a16="http://schemas.microsoft.com/office/drawing/2014/main" id="{B86CB33B-EA8D-17E3-3D55-7C8A56BBF4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0F081-A476-D5AC-47F4-32BB9E1BFFDB}"/>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3004068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E62537-9B37-26F8-D893-9CE853CF96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2B80FC-61C5-FC41-0073-CCBADCF165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0B324-939E-1874-DD74-15A779F53C3D}"/>
              </a:ext>
            </a:extLst>
          </p:cNvPr>
          <p:cNvSpPr>
            <a:spLocks noGrp="1"/>
          </p:cNvSpPr>
          <p:nvPr>
            <p:ph type="dt" sz="half" idx="10"/>
          </p:nvPr>
        </p:nvSpPr>
        <p:spPr/>
        <p:txBody>
          <a:bodyPr/>
          <a:lstStyle/>
          <a:p>
            <a:fld id="{E5759088-7E7A-4A8F-939A-9DEAD79BFCD4}" type="datetimeFigureOut">
              <a:rPr lang="en-US" smtClean="0"/>
              <a:t>1/7/2026</a:t>
            </a:fld>
            <a:endParaRPr lang="en-US"/>
          </a:p>
        </p:txBody>
      </p:sp>
      <p:sp>
        <p:nvSpPr>
          <p:cNvPr id="5" name="Footer Placeholder 4">
            <a:extLst>
              <a:ext uri="{FF2B5EF4-FFF2-40B4-BE49-F238E27FC236}">
                <a16:creationId xmlns:a16="http://schemas.microsoft.com/office/drawing/2014/main" id="{DDB18C7F-A785-134C-4D11-BEA121618D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C99287-746D-3324-0B65-10C5F2C9612B}"/>
              </a:ext>
            </a:extLst>
          </p:cNvPr>
          <p:cNvSpPr>
            <a:spLocks noGrp="1"/>
          </p:cNvSpPr>
          <p:nvPr>
            <p:ph type="sldNum" sz="quarter" idx="12"/>
          </p:nvPr>
        </p:nvSpPr>
        <p:spPr/>
        <p:txBody>
          <a:bodyPr/>
          <a:lstStyle/>
          <a:p>
            <a:fld id="{DD54CFA2-9C2A-49B8-9DA1-6041FCA3D8D1}" type="slidenum">
              <a:rPr lang="en-US" smtClean="0"/>
              <a:t>‹#›</a:t>
            </a:fld>
            <a:endParaRPr lang="en-US"/>
          </a:p>
        </p:txBody>
      </p:sp>
    </p:spTree>
    <p:extLst>
      <p:ext uri="{BB962C8B-B14F-4D97-AF65-F5344CB8AC3E}">
        <p14:creationId xmlns:p14="http://schemas.microsoft.com/office/powerpoint/2010/main" val="1933691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A8491-C95A-4D5A-0D4E-20376C3C1B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9BDC97-7FAE-3863-72FA-6724B44BF3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AA6840-85C0-FEF0-7A7F-3B711439E3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759088-7E7A-4A8F-939A-9DEAD79BFCD4}" type="datetimeFigureOut">
              <a:rPr lang="en-US" smtClean="0"/>
              <a:t>1/7/2026</a:t>
            </a:fld>
            <a:endParaRPr lang="en-US"/>
          </a:p>
        </p:txBody>
      </p:sp>
      <p:sp>
        <p:nvSpPr>
          <p:cNvPr id="5" name="Footer Placeholder 4">
            <a:extLst>
              <a:ext uri="{FF2B5EF4-FFF2-40B4-BE49-F238E27FC236}">
                <a16:creationId xmlns:a16="http://schemas.microsoft.com/office/drawing/2014/main" id="{D5FD1B8C-1DEC-8E18-770E-DC105941E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FBDF67-0652-118E-197B-6E1357001B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54CFA2-9C2A-49B8-9DA1-6041FCA3D8D1}" type="slidenum">
              <a:rPr lang="en-US" smtClean="0"/>
              <a:t>‹#›</a:t>
            </a:fld>
            <a:endParaRPr lang="en-US"/>
          </a:p>
        </p:txBody>
      </p:sp>
    </p:spTree>
    <p:extLst>
      <p:ext uri="{BB962C8B-B14F-4D97-AF65-F5344CB8AC3E}">
        <p14:creationId xmlns:p14="http://schemas.microsoft.com/office/powerpoint/2010/main" val="3209313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HamidrezaGholamrezaei/Web_Auth_Anomaly_Detection"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3CF3B0-297A-247E-F6E9-2F2AD3F5048D}"/>
              </a:ext>
            </a:extLst>
          </p:cNvPr>
          <p:cNvSpPr txBox="1"/>
          <p:nvPr/>
        </p:nvSpPr>
        <p:spPr>
          <a:xfrm>
            <a:off x="2271250" y="2314395"/>
            <a:ext cx="8888362" cy="1697196"/>
          </a:xfrm>
          <a:prstGeom prst="rect">
            <a:avLst/>
          </a:prstGeom>
          <a:noFill/>
        </p:spPr>
        <p:txBody>
          <a:bodyPr wrap="square">
            <a:spAutoFit/>
          </a:bodyPr>
          <a:lstStyle/>
          <a:p>
            <a:pPr algn="ctr">
              <a:lnSpc>
                <a:spcPct val="130000"/>
              </a:lnSpc>
              <a:spcAft>
                <a:spcPts val="800"/>
              </a:spcAft>
              <a:buNone/>
            </a:pPr>
            <a:r>
              <a:rPr lang="en-US" sz="2400" b="1" dirty="0">
                <a:solidFill>
                  <a:srgbClr val="FF0000"/>
                </a:solidFill>
                <a:effectLst/>
                <a:latin typeface="Times New Roman" panose="02020603050405020304" pitchFamily="18" charset="0"/>
                <a:ea typeface="Calibri" panose="020F0502020204030204" pitchFamily="34" charset="0"/>
              </a:rPr>
              <a:t>ỨNG DỤNG HỌC MÁY ĐỂ PHÁT HIỆN HÀNH VI </a:t>
            </a:r>
            <a:endParaRPr lang="en-US" sz="2400" dirty="0">
              <a:solidFill>
                <a:srgbClr val="FF0000"/>
              </a:solidFill>
              <a:effectLst/>
              <a:latin typeface="Calibri" panose="020F0502020204030204" pitchFamily="34" charset="0"/>
              <a:ea typeface="Calibri" panose="020F0502020204030204" pitchFamily="34" charset="0"/>
            </a:endParaRPr>
          </a:p>
          <a:p>
            <a:pPr algn="ctr">
              <a:lnSpc>
                <a:spcPct val="130000"/>
              </a:lnSpc>
              <a:spcAft>
                <a:spcPts val="800"/>
              </a:spcAft>
              <a:buNone/>
            </a:pPr>
            <a:r>
              <a:rPr lang="en-US" sz="2400" b="1" dirty="0">
                <a:solidFill>
                  <a:srgbClr val="FF0000"/>
                </a:solidFill>
                <a:effectLst/>
                <a:latin typeface="Times New Roman" panose="02020603050405020304" pitchFamily="18" charset="0"/>
                <a:ea typeface="Calibri" panose="020F0502020204030204" pitchFamily="34" charset="0"/>
              </a:rPr>
              <a:t>ĐĂNG NHẬP BẤT THƯỜNG TRONG HỆ THỐNG </a:t>
            </a:r>
            <a:endParaRPr lang="en-US" sz="2400" dirty="0">
              <a:solidFill>
                <a:srgbClr val="FF0000"/>
              </a:solidFill>
              <a:effectLst/>
              <a:latin typeface="Calibri" panose="020F0502020204030204" pitchFamily="34" charset="0"/>
              <a:ea typeface="Calibri" panose="020F0502020204030204" pitchFamily="34" charset="0"/>
            </a:endParaRPr>
          </a:p>
          <a:p>
            <a:pPr algn="ctr">
              <a:lnSpc>
                <a:spcPct val="130000"/>
              </a:lnSpc>
              <a:spcAft>
                <a:spcPts val="800"/>
              </a:spcAft>
            </a:pPr>
            <a:r>
              <a:rPr lang="en-US" sz="2400" b="1" dirty="0">
                <a:solidFill>
                  <a:srgbClr val="FF0000"/>
                </a:solidFill>
                <a:effectLst/>
                <a:latin typeface="Times New Roman" panose="02020603050405020304" pitchFamily="18" charset="0"/>
                <a:ea typeface="Calibri" panose="020F0502020204030204" pitchFamily="34" charset="0"/>
              </a:rPr>
              <a:t>CÔNG NGHỆ THÔNG TIN</a:t>
            </a:r>
            <a:endParaRPr lang="en-US" sz="2400" dirty="0">
              <a:solidFill>
                <a:srgbClr val="FF0000"/>
              </a:solidFill>
              <a:effectLst/>
              <a:latin typeface="Calibri" panose="020F0502020204030204" pitchFamily="34" charset="0"/>
              <a:ea typeface="Calibri" panose="020F0502020204030204" pitchFamily="34" charset="0"/>
            </a:endParaRPr>
          </a:p>
        </p:txBody>
      </p:sp>
      <p:sp>
        <p:nvSpPr>
          <p:cNvPr id="7" name="TextBox 6">
            <a:extLst>
              <a:ext uri="{FF2B5EF4-FFF2-40B4-BE49-F238E27FC236}">
                <a16:creationId xmlns:a16="http://schemas.microsoft.com/office/drawing/2014/main" id="{2863B754-B65D-8C92-7DA0-CBEBAF9B2B68}"/>
              </a:ext>
            </a:extLst>
          </p:cNvPr>
          <p:cNvSpPr txBox="1"/>
          <p:nvPr/>
        </p:nvSpPr>
        <p:spPr>
          <a:xfrm>
            <a:off x="3834580" y="890289"/>
            <a:ext cx="7703704" cy="824649"/>
          </a:xfrm>
          <a:prstGeom prst="rect">
            <a:avLst/>
          </a:prstGeom>
          <a:noFill/>
        </p:spPr>
        <p:txBody>
          <a:bodyPr wrap="square">
            <a:spAutoFit/>
          </a:bodyPr>
          <a:lstStyle/>
          <a:p>
            <a:pPr algn="ctr">
              <a:lnSpc>
                <a:spcPct val="130000"/>
              </a:lnSpc>
              <a:spcAft>
                <a:spcPts val="800"/>
              </a:spcAft>
            </a:pPr>
            <a:r>
              <a:rPr lang="en-US" sz="4000" b="1" dirty="0">
                <a:solidFill>
                  <a:srgbClr val="0D0D0D"/>
                </a:solidFill>
                <a:effectLst/>
                <a:latin typeface="Times New Roman" panose="02020603050405020304" pitchFamily="18" charset="0"/>
                <a:ea typeface="Calibri" panose="020F0502020204030204" pitchFamily="34" charset="0"/>
              </a:rPr>
              <a:t>BÁO CÁO LUẬN VĂN</a:t>
            </a:r>
            <a:endParaRPr lang="en-US" dirty="0">
              <a:effectLst/>
              <a:latin typeface="Calibri" panose="020F0502020204030204" pitchFamily="34" charset="0"/>
              <a:ea typeface="Calibri" panose="020F0502020204030204" pitchFamily="34" charset="0"/>
            </a:endParaRPr>
          </a:p>
        </p:txBody>
      </p:sp>
      <p:pic>
        <p:nvPicPr>
          <p:cNvPr id="1026" name="Picture 2" descr="Trường Đại học Bách khoa, Đại học Quốc gia Thành phố Hồ Chí Minh ...">
            <a:extLst>
              <a:ext uri="{FF2B5EF4-FFF2-40B4-BE49-F238E27FC236}">
                <a16:creationId xmlns:a16="http://schemas.microsoft.com/office/drawing/2014/main" id="{BB0FF0C5-B0BA-A8C5-F712-13CEDE9D0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35" y="105947"/>
            <a:ext cx="2137133" cy="21586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1B2FB3C-E45D-4FD3-13FF-C41D6A449802}"/>
              </a:ext>
            </a:extLst>
          </p:cNvPr>
          <p:cNvSpPr txBox="1"/>
          <p:nvPr/>
        </p:nvSpPr>
        <p:spPr>
          <a:xfrm>
            <a:off x="6715431" y="4611048"/>
            <a:ext cx="4955459" cy="1877437"/>
          </a:xfrm>
          <a:prstGeom prst="rect">
            <a:avLst/>
          </a:prstGeom>
          <a:noFill/>
        </p:spPr>
        <p:txBody>
          <a:bodyPr wrap="square">
            <a:spAutoFit/>
          </a:bodyPr>
          <a:lstStyle/>
          <a:p>
            <a:pPr>
              <a:spcAft>
                <a:spcPts val="800"/>
              </a:spcAft>
              <a:buNone/>
            </a:pPr>
            <a:r>
              <a:rPr lang="en-US" sz="2400" dirty="0">
                <a:solidFill>
                  <a:srgbClr val="0D0D0D"/>
                </a:solidFill>
                <a:latin typeface="Times New Roman" panose="02020603050405020304" pitchFamily="18" charset="0"/>
                <a:ea typeface="Calibri" panose="020F0502020204030204" pitchFamily="34" charset="0"/>
              </a:rPr>
              <a:t>Học </a:t>
            </a:r>
            <a:r>
              <a:rPr lang="en-US" sz="2400" dirty="0" err="1">
                <a:solidFill>
                  <a:srgbClr val="0D0D0D"/>
                </a:solidFill>
                <a:latin typeface="Times New Roman" panose="02020603050405020304" pitchFamily="18" charset="0"/>
                <a:ea typeface="Calibri" panose="020F0502020204030204" pitchFamily="34" charset="0"/>
              </a:rPr>
              <a:t>viên</a:t>
            </a:r>
            <a:r>
              <a:rPr lang="en-US" sz="2400" dirty="0">
                <a:solidFill>
                  <a:srgbClr val="0D0D0D"/>
                </a:solidFill>
                <a:latin typeface="Times New Roman" panose="02020603050405020304" pitchFamily="18" charset="0"/>
                <a:ea typeface="Calibri" panose="020F0502020204030204" pitchFamily="34" charset="0"/>
              </a:rPr>
              <a:t>: </a:t>
            </a:r>
            <a:r>
              <a:rPr lang="en-US" sz="2400" b="1" dirty="0">
                <a:solidFill>
                  <a:srgbClr val="0D0D0D"/>
                </a:solidFill>
                <a:latin typeface="Times New Roman" panose="02020603050405020304" pitchFamily="18" charset="0"/>
                <a:ea typeface="Calibri" panose="020F0502020204030204" pitchFamily="34" charset="0"/>
              </a:rPr>
              <a:t>Đặng Quốc Minh</a:t>
            </a:r>
          </a:p>
          <a:p>
            <a:pPr>
              <a:spcAft>
                <a:spcPts val="800"/>
              </a:spcAft>
              <a:buNone/>
            </a:pPr>
            <a:r>
              <a:rPr lang="en-US" sz="2400" dirty="0">
                <a:solidFill>
                  <a:srgbClr val="0D0D0D"/>
                </a:solidFill>
                <a:effectLst/>
                <a:latin typeface="Times New Roman" panose="02020603050405020304" pitchFamily="18" charset="0"/>
                <a:ea typeface="Calibri" panose="020F0502020204030204" pitchFamily="34" charset="0"/>
              </a:rPr>
              <a:t>MSHV: </a:t>
            </a:r>
            <a:r>
              <a:rPr lang="en-US" sz="2400" b="1" dirty="0">
                <a:solidFill>
                  <a:srgbClr val="0D0D0D"/>
                </a:solidFill>
                <a:effectLst/>
                <a:latin typeface="Times New Roman" panose="02020603050405020304" pitchFamily="18" charset="0"/>
                <a:ea typeface="Calibri" panose="020F0502020204030204" pitchFamily="34" charset="0"/>
              </a:rPr>
              <a:t>2370</a:t>
            </a:r>
            <a:r>
              <a:rPr lang="en-US" sz="2400" b="1" dirty="0">
                <a:solidFill>
                  <a:srgbClr val="0D0D0D"/>
                </a:solidFill>
                <a:latin typeface="Times New Roman" panose="02020603050405020304" pitchFamily="18" charset="0"/>
                <a:ea typeface="Calibri" panose="020F0502020204030204" pitchFamily="34" charset="0"/>
              </a:rPr>
              <a:t>342</a:t>
            </a:r>
          </a:p>
          <a:p>
            <a:pPr>
              <a:spcAft>
                <a:spcPts val="800"/>
              </a:spcAft>
              <a:buNone/>
            </a:pPr>
            <a:r>
              <a:rPr lang="en-US" sz="2400" dirty="0">
                <a:solidFill>
                  <a:srgbClr val="0D0D0D"/>
                </a:solidFill>
                <a:effectLst/>
                <a:latin typeface="Times New Roman" panose="02020603050405020304" pitchFamily="18" charset="0"/>
                <a:ea typeface="Calibri" panose="020F0502020204030204" pitchFamily="34" charset="0"/>
              </a:rPr>
              <a:t>Chuyên </a:t>
            </a:r>
            <a:r>
              <a:rPr lang="en-US" sz="2400" dirty="0" err="1">
                <a:solidFill>
                  <a:srgbClr val="0D0D0D"/>
                </a:solidFill>
                <a:effectLst/>
                <a:latin typeface="Times New Roman" panose="02020603050405020304" pitchFamily="18" charset="0"/>
                <a:ea typeface="Calibri" panose="020F0502020204030204" pitchFamily="34" charset="0"/>
              </a:rPr>
              <a:t>ngành</a:t>
            </a:r>
            <a:r>
              <a:rPr lang="en-US" sz="2400" dirty="0">
                <a:solidFill>
                  <a:srgbClr val="0D0D0D"/>
                </a:solidFill>
                <a:effectLst/>
                <a:latin typeface="Times New Roman" panose="02020603050405020304" pitchFamily="18" charset="0"/>
                <a:ea typeface="Calibri" panose="020F0502020204030204" pitchFamily="34" charset="0"/>
              </a:rPr>
              <a:t>: </a:t>
            </a:r>
            <a:r>
              <a:rPr lang="en-US" sz="2400" b="1" dirty="0">
                <a:solidFill>
                  <a:srgbClr val="0D0D0D"/>
                </a:solidFill>
                <a:effectLst/>
                <a:latin typeface="Times New Roman" panose="02020603050405020304" pitchFamily="18" charset="0"/>
                <a:ea typeface="Calibri" panose="020F0502020204030204" pitchFamily="34" charset="0"/>
              </a:rPr>
              <a:t>Khoa </a:t>
            </a:r>
            <a:r>
              <a:rPr lang="en-US" sz="2400" b="1" dirty="0" err="1">
                <a:solidFill>
                  <a:srgbClr val="0D0D0D"/>
                </a:solidFill>
                <a:effectLst/>
                <a:latin typeface="Times New Roman" panose="02020603050405020304" pitchFamily="18" charset="0"/>
                <a:ea typeface="Calibri" panose="020F0502020204030204" pitchFamily="34" charset="0"/>
              </a:rPr>
              <a:t>học</a:t>
            </a:r>
            <a:r>
              <a:rPr lang="en-US" sz="2400" b="1" dirty="0">
                <a:solidFill>
                  <a:srgbClr val="0D0D0D"/>
                </a:solidFill>
                <a:effectLst/>
                <a:latin typeface="Times New Roman" panose="02020603050405020304" pitchFamily="18" charset="0"/>
                <a:ea typeface="Calibri" panose="020F0502020204030204" pitchFamily="34" charset="0"/>
              </a:rPr>
              <a:t> </a:t>
            </a:r>
            <a:r>
              <a:rPr lang="en-US" sz="2400" b="1" dirty="0" err="1">
                <a:solidFill>
                  <a:srgbClr val="0D0D0D"/>
                </a:solidFill>
                <a:effectLst/>
                <a:latin typeface="Times New Roman" panose="02020603050405020304" pitchFamily="18" charset="0"/>
                <a:ea typeface="Calibri" panose="020F0502020204030204" pitchFamily="34" charset="0"/>
              </a:rPr>
              <a:t>máy</a:t>
            </a:r>
            <a:r>
              <a:rPr lang="en-US" sz="2400" b="1" dirty="0">
                <a:solidFill>
                  <a:srgbClr val="0D0D0D"/>
                </a:solidFill>
                <a:effectLst/>
                <a:latin typeface="Times New Roman" panose="02020603050405020304" pitchFamily="18" charset="0"/>
                <a:ea typeface="Calibri" panose="020F0502020204030204" pitchFamily="34" charset="0"/>
              </a:rPr>
              <a:t> </a:t>
            </a:r>
            <a:r>
              <a:rPr lang="en-US" sz="2400" b="1" dirty="0" err="1">
                <a:solidFill>
                  <a:srgbClr val="0D0D0D"/>
                </a:solidFill>
                <a:effectLst/>
                <a:latin typeface="Times New Roman" panose="02020603050405020304" pitchFamily="18" charset="0"/>
                <a:ea typeface="Calibri" panose="020F0502020204030204" pitchFamily="34" charset="0"/>
              </a:rPr>
              <a:t>tính</a:t>
            </a:r>
            <a:endParaRPr lang="en-US" b="1" dirty="0">
              <a:latin typeface="Calibri" panose="020F0502020204030204" pitchFamily="34" charset="0"/>
              <a:ea typeface="Calibri" panose="020F0502020204030204" pitchFamily="34" charset="0"/>
            </a:endParaRPr>
          </a:p>
          <a:p>
            <a:pPr>
              <a:spcAft>
                <a:spcPts val="800"/>
              </a:spcAft>
              <a:buNone/>
            </a:pPr>
            <a:r>
              <a:rPr lang="en-US" sz="2400" dirty="0">
                <a:solidFill>
                  <a:srgbClr val="0D0D0D"/>
                </a:solidFill>
                <a:effectLst/>
                <a:latin typeface="Times New Roman" panose="02020603050405020304" pitchFamily="18" charset="0"/>
                <a:ea typeface="Calibri" panose="020F0502020204030204" pitchFamily="34" charset="0"/>
              </a:rPr>
              <a:t>GVHD: </a:t>
            </a:r>
            <a:r>
              <a:rPr lang="en-US" sz="2400" b="1" dirty="0" err="1">
                <a:solidFill>
                  <a:srgbClr val="0D0D0D"/>
                </a:solidFill>
                <a:latin typeface="Times New Roman" panose="02020603050405020304" pitchFamily="18" charset="0"/>
                <a:ea typeface="Calibri" panose="020F0502020204030204" pitchFamily="34" charset="0"/>
              </a:rPr>
              <a:t>Thầy</a:t>
            </a:r>
            <a:r>
              <a:rPr lang="en-US" sz="2400" b="1" dirty="0">
                <a:solidFill>
                  <a:srgbClr val="0D0D0D"/>
                </a:solidFill>
                <a:latin typeface="Times New Roman" panose="02020603050405020304" pitchFamily="18" charset="0"/>
                <a:ea typeface="Calibri" panose="020F0502020204030204" pitchFamily="34" charset="0"/>
              </a:rPr>
              <a:t> </a:t>
            </a:r>
            <a:r>
              <a:rPr lang="en-US" sz="2400" b="1" dirty="0">
                <a:solidFill>
                  <a:srgbClr val="0D0D0D"/>
                </a:solidFill>
                <a:effectLst/>
                <a:latin typeface="Times New Roman" panose="02020603050405020304" pitchFamily="18" charset="0"/>
                <a:ea typeface="Calibri" panose="020F0502020204030204" pitchFamily="34" charset="0"/>
              </a:rPr>
              <a:t>TS Trương Tuấn Anh</a:t>
            </a:r>
          </a:p>
        </p:txBody>
      </p:sp>
    </p:spTree>
    <p:extLst>
      <p:ext uri="{BB962C8B-B14F-4D97-AF65-F5344CB8AC3E}">
        <p14:creationId xmlns:p14="http://schemas.microsoft.com/office/powerpoint/2010/main" val="3067591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F3AF7-49F2-2930-7DE0-4EDC6C5AE41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13B51AF-5A03-5779-C018-18718A58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A4B5F58A-1D6C-C81B-7D68-05311849E692}"/>
              </a:ext>
            </a:extLst>
          </p:cNvPr>
          <p:cNvSpPr txBox="1"/>
          <p:nvPr/>
        </p:nvSpPr>
        <p:spPr>
          <a:xfrm>
            <a:off x="11437034" y="6091311"/>
            <a:ext cx="576775" cy="584775"/>
          </a:xfrm>
          <a:prstGeom prst="rect">
            <a:avLst/>
          </a:prstGeom>
          <a:noFill/>
        </p:spPr>
        <p:txBody>
          <a:bodyPr wrap="square" rtlCol="0">
            <a:spAutoFit/>
          </a:bodyPr>
          <a:lstStyle/>
          <a:p>
            <a:r>
              <a:rPr lang="en-US" sz="3200" dirty="0">
                <a:solidFill>
                  <a:srgbClr val="FF0000"/>
                </a:solidFill>
              </a:rPr>
              <a:t>1</a:t>
            </a:r>
          </a:p>
        </p:txBody>
      </p:sp>
    </p:spTree>
    <p:extLst>
      <p:ext uri="{BB962C8B-B14F-4D97-AF65-F5344CB8AC3E}">
        <p14:creationId xmlns:p14="http://schemas.microsoft.com/office/powerpoint/2010/main" val="12202768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DBA610-EBCD-394C-7BB5-1A14D39DE873}"/>
              </a:ext>
            </a:extLst>
          </p:cNvPr>
          <p:cNvPicPr>
            <a:picLocks noChangeAspect="1"/>
          </p:cNvPicPr>
          <p:nvPr/>
        </p:nvPicPr>
        <p:blipFill>
          <a:blip r:embed="rId3"/>
          <a:stretch>
            <a:fillRect/>
          </a:stretch>
        </p:blipFill>
        <p:spPr>
          <a:xfrm>
            <a:off x="4459873" y="3127170"/>
            <a:ext cx="3071745" cy="3078481"/>
          </a:xfrm>
          <a:prstGeom prst="rect">
            <a:avLst/>
          </a:prstGeom>
        </p:spPr>
      </p:pic>
      <p:pic>
        <p:nvPicPr>
          <p:cNvPr id="9" name="Picture 8">
            <a:extLst>
              <a:ext uri="{FF2B5EF4-FFF2-40B4-BE49-F238E27FC236}">
                <a16:creationId xmlns:a16="http://schemas.microsoft.com/office/drawing/2014/main" id="{8C074A98-BAC1-2242-3151-770AC123548A}"/>
              </a:ext>
            </a:extLst>
          </p:cNvPr>
          <p:cNvPicPr>
            <a:picLocks noChangeAspect="1"/>
          </p:cNvPicPr>
          <p:nvPr/>
        </p:nvPicPr>
        <p:blipFill>
          <a:blip r:embed="rId4"/>
          <a:stretch>
            <a:fillRect/>
          </a:stretch>
        </p:blipFill>
        <p:spPr>
          <a:xfrm>
            <a:off x="215778" y="110393"/>
            <a:ext cx="2815520" cy="2557431"/>
          </a:xfrm>
          <a:prstGeom prst="rect">
            <a:avLst/>
          </a:prstGeom>
        </p:spPr>
      </p:pic>
      <p:pic>
        <p:nvPicPr>
          <p:cNvPr id="11" name="Picture 10">
            <a:extLst>
              <a:ext uri="{FF2B5EF4-FFF2-40B4-BE49-F238E27FC236}">
                <a16:creationId xmlns:a16="http://schemas.microsoft.com/office/drawing/2014/main" id="{A166090B-3FC9-05F9-EFAE-008BDC049C54}"/>
              </a:ext>
            </a:extLst>
          </p:cNvPr>
          <p:cNvPicPr>
            <a:picLocks noChangeAspect="1"/>
          </p:cNvPicPr>
          <p:nvPr/>
        </p:nvPicPr>
        <p:blipFill>
          <a:blip r:embed="rId5"/>
          <a:stretch>
            <a:fillRect/>
          </a:stretch>
        </p:blipFill>
        <p:spPr>
          <a:xfrm>
            <a:off x="215777" y="3549112"/>
            <a:ext cx="3801129" cy="3078481"/>
          </a:xfrm>
          <a:prstGeom prst="rect">
            <a:avLst/>
          </a:prstGeom>
        </p:spPr>
      </p:pic>
      <p:pic>
        <p:nvPicPr>
          <p:cNvPr id="13" name="Picture 12">
            <a:extLst>
              <a:ext uri="{FF2B5EF4-FFF2-40B4-BE49-F238E27FC236}">
                <a16:creationId xmlns:a16="http://schemas.microsoft.com/office/drawing/2014/main" id="{CC2C58B6-F9D4-94B6-0CF3-DA681D379C6B}"/>
              </a:ext>
            </a:extLst>
          </p:cNvPr>
          <p:cNvPicPr>
            <a:picLocks noChangeAspect="1"/>
          </p:cNvPicPr>
          <p:nvPr/>
        </p:nvPicPr>
        <p:blipFill>
          <a:blip r:embed="rId6"/>
          <a:stretch>
            <a:fillRect/>
          </a:stretch>
        </p:blipFill>
        <p:spPr>
          <a:xfrm>
            <a:off x="8829080" y="110394"/>
            <a:ext cx="3122608" cy="2557430"/>
          </a:xfrm>
          <a:prstGeom prst="rect">
            <a:avLst/>
          </a:prstGeom>
        </p:spPr>
      </p:pic>
      <p:pic>
        <p:nvPicPr>
          <p:cNvPr id="15" name="Picture 14">
            <a:extLst>
              <a:ext uri="{FF2B5EF4-FFF2-40B4-BE49-F238E27FC236}">
                <a16:creationId xmlns:a16="http://schemas.microsoft.com/office/drawing/2014/main" id="{8DE289BB-8127-6FAD-DEAB-5BF48E8CB0B0}"/>
              </a:ext>
            </a:extLst>
          </p:cNvPr>
          <p:cNvPicPr>
            <a:picLocks noChangeAspect="1"/>
          </p:cNvPicPr>
          <p:nvPr/>
        </p:nvPicPr>
        <p:blipFill>
          <a:blip r:embed="rId7"/>
          <a:stretch>
            <a:fillRect/>
          </a:stretch>
        </p:blipFill>
        <p:spPr>
          <a:xfrm>
            <a:off x="4025454" y="110393"/>
            <a:ext cx="4553813" cy="2725797"/>
          </a:xfrm>
          <a:prstGeom prst="rect">
            <a:avLst/>
          </a:prstGeom>
        </p:spPr>
      </p:pic>
      <p:pic>
        <p:nvPicPr>
          <p:cNvPr id="19" name="Picture 18">
            <a:extLst>
              <a:ext uri="{FF2B5EF4-FFF2-40B4-BE49-F238E27FC236}">
                <a16:creationId xmlns:a16="http://schemas.microsoft.com/office/drawing/2014/main" id="{755BEF93-5FA7-4BD0-5E82-3B1BB9DE12F6}"/>
              </a:ext>
            </a:extLst>
          </p:cNvPr>
          <p:cNvPicPr>
            <a:picLocks noChangeAspect="1"/>
          </p:cNvPicPr>
          <p:nvPr/>
        </p:nvPicPr>
        <p:blipFill>
          <a:blip r:embed="rId8"/>
          <a:stretch>
            <a:fillRect/>
          </a:stretch>
        </p:blipFill>
        <p:spPr>
          <a:xfrm>
            <a:off x="7968009" y="4386020"/>
            <a:ext cx="4091147" cy="2241573"/>
          </a:xfrm>
          <a:prstGeom prst="rect">
            <a:avLst/>
          </a:prstGeom>
        </p:spPr>
      </p:pic>
      <p:sp>
        <p:nvSpPr>
          <p:cNvPr id="2" name="TextBox 1">
            <a:extLst>
              <a:ext uri="{FF2B5EF4-FFF2-40B4-BE49-F238E27FC236}">
                <a16:creationId xmlns:a16="http://schemas.microsoft.com/office/drawing/2014/main" id="{0E5C9410-4484-3ACF-481F-9BE6068D931E}"/>
              </a:ext>
            </a:extLst>
          </p:cNvPr>
          <p:cNvSpPr txBox="1"/>
          <p:nvPr/>
        </p:nvSpPr>
        <p:spPr>
          <a:xfrm>
            <a:off x="11437034" y="6091311"/>
            <a:ext cx="576775" cy="584775"/>
          </a:xfrm>
          <a:prstGeom prst="rect">
            <a:avLst/>
          </a:prstGeom>
          <a:noFill/>
        </p:spPr>
        <p:txBody>
          <a:bodyPr wrap="square" rtlCol="0">
            <a:spAutoFit/>
          </a:bodyPr>
          <a:lstStyle/>
          <a:p>
            <a:r>
              <a:rPr lang="en-US" sz="3200" dirty="0">
                <a:solidFill>
                  <a:srgbClr val="FF0000"/>
                </a:solidFill>
              </a:rPr>
              <a:t>2</a:t>
            </a:r>
          </a:p>
        </p:txBody>
      </p:sp>
    </p:spTree>
    <p:extLst>
      <p:ext uri="{BB962C8B-B14F-4D97-AF65-F5344CB8AC3E}">
        <p14:creationId xmlns:p14="http://schemas.microsoft.com/office/powerpoint/2010/main" val="3376048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374378DB-131B-C326-F662-F7DD8C645F6E}"/>
              </a:ext>
            </a:extLst>
          </p:cNvPr>
          <p:cNvSpPr>
            <a:spLocks noChangeArrowheads="1"/>
          </p:cNvSpPr>
          <p:nvPr/>
        </p:nvSpPr>
        <p:spPr bwMode="auto">
          <a:xfrm>
            <a:off x="7880464" y="1490248"/>
            <a:ext cx="468283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Phát</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hiện</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dựa</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trên</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luật</a:t>
            </a:r>
            <a:r>
              <a:rPr kumimoji="0" lang="en-US" altLang="en-US" sz="2800" i="0" u="none" strike="noStrike" cap="none" normalizeH="0" baseline="0" dirty="0">
                <a:ln>
                  <a:noFill/>
                </a:ln>
                <a:solidFill>
                  <a:schemeClr val="tx1"/>
                </a:solidFill>
                <a:effectLst/>
                <a:latin typeface="Arial" panose="020B0604020202020204" pitchFamily="34" charset="0"/>
              </a:rPr>
              <a:t> (rule-based detection)</a:t>
            </a:r>
          </a:p>
          <a:p>
            <a:pPr marL="457200" marR="0" lvl="0" indent="-457200" algn="l" defTabSz="914400" rtl="0" eaLnBrk="0" fontAlgn="base" latinLnBrk="0" hangingPunct="0">
              <a:lnSpc>
                <a:spcPct val="100000"/>
              </a:lnSpc>
              <a:spcBef>
                <a:spcPct val="0"/>
              </a:spcBef>
              <a:spcAft>
                <a:spcPct val="0"/>
              </a:spcAft>
              <a:buClrTx/>
              <a:buSzTx/>
              <a:buFontTx/>
              <a:buChar char="-"/>
              <a:tabLst/>
            </a:pPr>
            <a:endParaRPr kumimoji="0" lang="en-US" altLang="en-US" sz="280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Hệ</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thống</a:t>
            </a:r>
            <a:r>
              <a:rPr kumimoji="0" lang="en-US" altLang="en-US" sz="2800" i="0" u="none" strike="noStrike" cap="none" normalizeH="0" baseline="0" dirty="0">
                <a:ln>
                  <a:noFill/>
                </a:ln>
                <a:solidFill>
                  <a:schemeClr val="tx1"/>
                </a:solidFill>
                <a:effectLst/>
                <a:latin typeface="Arial" panose="020B0604020202020204" pitchFamily="34" charset="0"/>
              </a:rPr>
              <a:t> IDS </a:t>
            </a:r>
            <a:r>
              <a:rPr kumimoji="0" lang="en-US" altLang="en-US" sz="2800" i="0" u="none" strike="noStrike" cap="none" normalizeH="0" baseline="0" dirty="0" err="1">
                <a:ln>
                  <a:noFill/>
                </a:ln>
                <a:solidFill>
                  <a:schemeClr val="tx1"/>
                </a:solidFill>
                <a:effectLst/>
                <a:latin typeface="Arial" panose="020B0604020202020204" pitchFamily="34" charset="0"/>
              </a:rPr>
              <a:t>dựa</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trên</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chữ</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ký</a:t>
            </a:r>
            <a:r>
              <a:rPr kumimoji="0" lang="en-US" altLang="en-US" sz="2800" i="0" u="none" strike="noStrike" cap="none" normalizeH="0" baseline="0" dirty="0">
                <a:ln>
                  <a:noFill/>
                </a:ln>
                <a:solidFill>
                  <a:schemeClr val="tx1"/>
                </a:solidFill>
                <a:effectLst/>
                <a:latin typeface="Arial" panose="020B0604020202020204" pitchFamily="34" charset="0"/>
              </a:rPr>
              <a:t> (signature-based IDS)</a:t>
            </a:r>
          </a:p>
          <a:p>
            <a:pPr marL="457200" marR="0" lvl="0" indent="-457200" algn="l" defTabSz="914400" rtl="0" eaLnBrk="0" fontAlgn="base" latinLnBrk="0" hangingPunct="0">
              <a:lnSpc>
                <a:spcPct val="100000"/>
              </a:lnSpc>
              <a:spcBef>
                <a:spcPct val="0"/>
              </a:spcBef>
              <a:spcAft>
                <a:spcPct val="0"/>
              </a:spcAft>
              <a:buClrTx/>
              <a:buSzTx/>
              <a:buFontTx/>
              <a:buChar char="-"/>
              <a:tabLst/>
            </a:pPr>
            <a:endParaRPr kumimoji="0" lang="en-US" altLang="en-US" sz="2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Phát</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hiện</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dựa</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trên</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phân</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tích</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thống</a:t>
            </a:r>
            <a:r>
              <a:rPr kumimoji="0" lang="en-US" altLang="en-US" sz="2800" i="0" u="none" strike="noStrike" cap="none" normalizeH="0" baseline="0" dirty="0">
                <a:ln>
                  <a:noFill/>
                </a:ln>
                <a:solidFill>
                  <a:schemeClr val="tx1"/>
                </a:solidFill>
                <a:effectLst/>
                <a:latin typeface="Arial" panose="020B0604020202020204" pitchFamily="34" charset="0"/>
              </a:rPr>
              <a:t> </a:t>
            </a:r>
            <a:r>
              <a:rPr kumimoji="0" lang="en-US" altLang="en-US" sz="2800" i="0" u="none" strike="noStrike" cap="none" normalizeH="0" baseline="0" dirty="0" err="1">
                <a:ln>
                  <a:noFill/>
                </a:ln>
                <a:solidFill>
                  <a:schemeClr val="tx1"/>
                </a:solidFill>
                <a:effectLst/>
                <a:latin typeface="Arial" panose="020B0604020202020204" pitchFamily="34" charset="0"/>
              </a:rPr>
              <a:t>kê</a:t>
            </a:r>
            <a:r>
              <a:rPr kumimoji="0" lang="en-US" altLang="en-US" sz="2800" i="0" u="none" strike="noStrike" cap="none" normalizeH="0" baseline="0" dirty="0">
                <a:ln>
                  <a:noFill/>
                </a:ln>
                <a:solidFill>
                  <a:schemeClr val="tx1"/>
                </a:solidFill>
                <a:effectLst/>
                <a:latin typeface="Arial" panose="020B0604020202020204" pitchFamily="34" charset="0"/>
              </a:rPr>
              <a:t> (statistical-based detection)</a:t>
            </a:r>
          </a:p>
        </p:txBody>
      </p:sp>
      <p:pic>
        <p:nvPicPr>
          <p:cNvPr id="1030" name="Picture 6" descr="Hiển thị những rủi ro trên hệ thống">
            <a:extLst>
              <a:ext uri="{FF2B5EF4-FFF2-40B4-BE49-F238E27FC236}">
                <a16:creationId xmlns:a16="http://schemas.microsoft.com/office/drawing/2014/main" id="{93CD75FE-742F-18C7-2BC5-03B443EF5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7001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4DBE5C7-3CE1-8C84-36E4-7F40B2A2B1CA}"/>
              </a:ext>
            </a:extLst>
          </p:cNvPr>
          <p:cNvSpPr txBox="1"/>
          <p:nvPr/>
        </p:nvSpPr>
        <p:spPr>
          <a:xfrm>
            <a:off x="11437034" y="6091311"/>
            <a:ext cx="576775" cy="584775"/>
          </a:xfrm>
          <a:prstGeom prst="rect">
            <a:avLst/>
          </a:prstGeom>
          <a:noFill/>
        </p:spPr>
        <p:txBody>
          <a:bodyPr wrap="square" rtlCol="0">
            <a:spAutoFit/>
          </a:bodyPr>
          <a:lstStyle/>
          <a:p>
            <a:r>
              <a:rPr lang="en-US" sz="3200" dirty="0">
                <a:solidFill>
                  <a:srgbClr val="FF0000"/>
                </a:solidFill>
              </a:rPr>
              <a:t>3</a:t>
            </a:r>
          </a:p>
        </p:txBody>
      </p:sp>
    </p:spTree>
    <p:extLst>
      <p:ext uri="{BB962C8B-B14F-4D97-AF65-F5344CB8AC3E}">
        <p14:creationId xmlns:p14="http://schemas.microsoft.com/office/powerpoint/2010/main" val="696796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machine-learning-la-gi">
            <a:extLst>
              <a:ext uri="{FF2B5EF4-FFF2-40B4-BE49-F238E27FC236}">
                <a16:creationId xmlns:a16="http://schemas.microsoft.com/office/drawing/2014/main" id="{057CCACF-2FE4-2CEE-6124-BE791FFBD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6219"/>
            <a:ext cx="12192000" cy="640556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CC8E54D-7055-ECA5-375D-297E0E636C3D}"/>
              </a:ext>
            </a:extLst>
          </p:cNvPr>
          <p:cNvSpPr txBox="1"/>
          <p:nvPr/>
        </p:nvSpPr>
        <p:spPr>
          <a:xfrm>
            <a:off x="11437034" y="6091311"/>
            <a:ext cx="576775" cy="584775"/>
          </a:xfrm>
          <a:prstGeom prst="rect">
            <a:avLst/>
          </a:prstGeom>
          <a:noFill/>
        </p:spPr>
        <p:txBody>
          <a:bodyPr wrap="square" rtlCol="0">
            <a:spAutoFit/>
          </a:bodyPr>
          <a:lstStyle/>
          <a:p>
            <a:r>
              <a:rPr lang="en-US" sz="3200" dirty="0">
                <a:solidFill>
                  <a:srgbClr val="FF0000"/>
                </a:solidFill>
              </a:rPr>
              <a:t>4</a:t>
            </a:r>
          </a:p>
        </p:txBody>
      </p:sp>
    </p:spTree>
    <p:extLst>
      <p:ext uri="{BB962C8B-B14F-4D97-AF65-F5344CB8AC3E}">
        <p14:creationId xmlns:p14="http://schemas.microsoft.com/office/powerpoint/2010/main" val="67544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169C8B-83A4-AE2B-4109-29F6A1D243A9}"/>
              </a:ext>
            </a:extLst>
          </p:cNvPr>
          <p:cNvSpPr txBox="1"/>
          <p:nvPr/>
        </p:nvSpPr>
        <p:spPr>
          <a:xfrm>
            <a:off x="0" y="167142"/>
            <a:ext cx="4671811" cy="678199"/>
          </a:xfrm>
          <a:prstGeom prst="rect">
            <a:avLst/>
          </a:prstGeom>
          <a:noFill/>
        </p:spPr>
        <p:txBody>
          <a:bodyPr wrap="square">
            <a:spAutoFit/>
          </a:bodyPr>
          <a:lstStyle/>
          <a:p>
            <a:pPr algn="ctr">
              <a:lnSpc>
                <a:spcPct val="130000"/>
              </a:lnSpc>
              <a:spcAft>
                <a:spcPts val="800"/>
              </a:spcAft>
              <a:buNone/>
            </a:pPr>
            <a:r>
              <a:rPr lang="en-US" sz="3200" b="1" dirty="0" err="1">
                <a:solidFill>
                  <a:srgbClr val="FF0000"/>
                </a:solidFill>
                <a:effectLst/>
                <a:latin typeface="Times New Roman" panose="02020603050405020304" pitchFamily="18" charset="0"/>
                <a:ea typeface="Calibri" panose="020F0502020204030204" pitchFamily="34" charset="0"/>
              </a:rPr>
              <a:t>Mục</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tiêu</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nghiên</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cứu</a:t>
            </a:r>
            <a:endParaRPr lang="en-US" sz="3200" dirty="0">
              <a:solidFill>
                <a:srgbClr val="FF0000"/>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6333AAE5-4AC9-423F-CAB8-EC1610A4DA7D}"/>
              </a:ext>
            </a:extLst>
          </p:cNvPr>
          <p:cNvSpPr txBox="1"/>
          <p:nvPr/>
        </p:nvSpPr>
        <p:spPr>
          <a:xfrm>
            <a:off x="614627" y="1335000"/>
            <a:ext cx="3668233" cy="4031873"/>
          </a:xfrm>
          <a:prstGeom prst="rect">
            <a:avLst/>
          </a:prstGeom>
          <a:noFill/>
        </p:spPr>
        <p:txBody>
          <a:bodyPr wrap="square">
            <a:spAutoFit/>
          </a:bodyPr>
          <a:lstStyle/>
          <a:p>
            <a:pPr algn="just"/>
            <a:r>
              <a:rPr lang="en-US" sz="3200" dirty="0">
                <a:effectLst/>
                <a:latin typeface="Times New Roman" panose="02020603050405020304" pitchFamily="18" charset="0"/>
                <a:ea typeface="Times New Roman" panose="02020603050405020304" pitchFamily="18" charset="0"/>
              </a:rPr>
              <a:t>	</a:t>
            </a:r>
            <a:r>
              <a:rPr lang="vi-VN" sz="3200" dirty="0">
                <a:effectLst/>
                <a:latin typeface="Times New Roman" panose="02020603050405020304" pitchFamily="18" charset="0"/>
                <a:ea typeface="Times New Roman" panose="02020603050405020304" pitchFamily="18" charset="0"/>
              </a:rPr>
              <a:t>Nghiên cứu, phát triển giải pháp tự động hóa, dựa trên nền tảng học máy</a:t>
            </a:r>
            <a:r>
              <a:rPr lang="en-US" sz="3200" dirty="0">
                <a:effectLst/>
                <a:latin typeface="Times New Roman" panose="02020603050405020304" pitchFamily="18" charset="0"/>
                <a:ea typeface="Times New Roman" panose="02020603050405020304" pitchFamily="18" charset="0"/>
              </a:rPr>
              <a:t>, </a:t>
            </a:r>
            <a:r>
              <a:rPr lang="vi-VN" sz="3200" dirty="0">
                <a:effectLst/>
                <a:latin typeface="Times New Roman" panose="02020603050405020304" pitchFamily="18" charset="0"/>
                <a:ea typeface="Times New Roman" panose="02020603050405020304" pitchFamily="18" charset="0"/>
              </a:rPr>
              <a:t>nhằm phát hiện các hành vi đăng nhập bất thường tron</a:t>
            </a:r>
            <a:r>
              <a:rPr lang="en-US" sz="3200" dirty="0">
                <a:effectLst/>
                <a:latin typeface="Times New Roman" panose="02020603050405020304" pitchFamily="18" charset="0"/>
                <a:ea typeface="Times New Roman" panose="02020603050405020304" pitchFamily="18" charset="0"/>
              </a:rPr>
              <a:t>g</a:t>
            </a:r>
            <a:r>
              <a:rPr lang="vi-VN" sz="3200" dirty="0">
                <a:effectLst/>
                <a:latin typeface="Times New Roman" panose="02020603050405020304" pitchFamily="18" charset="0"/>
                <a:ea typeface="Times New Roman" panose="02020603050405020304" pitchFamily="18" charset="0"/>
              </a:rPr>
              <a:t> hệ thống CNTT</a:t>
            </a:r>
            <a:endParaRPr lang="en-US" sz="3200" dirty="0"/>
          </a:p>
        </p:txBody>
      </p:sp>
      <p:pic>
        <p:nvPicPr>
          <p:cNvPr id="1026" name="Picture 2" descr="User (computing) - Wikipedia">
            <a:extLst>
              <a:ext uri="{FF2B5EF4-FFF2-40B4-BE49-F238E27FC236}">
                <a16:creationId xmlns:a16="http://schemas.microsoft.com/office/drawing/2014/main" id="{59232B56-224F-A9BA-107D-4F6EF954B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9256" y="0"/>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ckend Development | Software ...">
            <a:extLst>
              <a:ext uri="{FF2B5EF4-FFF2-40B4-BE49-F238E27FC236}">
                <a16:creationId xmlns:a16="http://schemas.microsoft.com/office/drawing/2014/main" id="{80D6E271-F139-34E5-DCEF-4C63755E01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0909" y="2817160"/>
            <a:ext cx="1141256" cy="11412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A5E40EE-36D4-D0D8-A808-E41A5B3468F0}"/>
              </a:ext>
            </a:extLst>
          </p:cNvPr>
          <p:cNvPicPr>
            <a:picLocks noChangeAspect="1"/>
          </p:cNvPicPr>
          <p:nvPr/>
        </p:nvPicPr>
        <p:blipFill>
          <a:blip r:embed="rId4"/>
          <a:stretch>
            <a:fillRect/>
          </a:stretch>
        </p:blipFill>
        <p:spPr>
          <a:xfrm>
            <a:off x="5936948" y="4714875"/>
            <a:ext cx="2019300" cy="2066925"/>
          </a:xfrm>
          <a:prstGeom prst="rect">
            <a:avLst/>
          </a:prstGeom>
        </p:spPr>
      </p:pic>
      <p:cxnSp>
        <p:nvCxnSpPr>
          <p:cNvPr id="10" name="Straight Arrow Connector 9">
            <a:extLst>
              <a:ext uri="{FF2B5EF4-FFF2-40B4-BE49-F238E27FC236}">
                <a16:creationId xmlns:a16="http://schemas.microsoft.com/office/drawing/2014/main" id="{9D41794A-0ECB-093E-6B74-BEC317C2E274}"/>
              </a:ext>
            </a:extLst>
          </p:cNvPr>
          <p:cNvCxnSpPr>
            <a:cxnSpLocks/>
          </p:cNvCxnSpPr>
          <p:nvPr/>
        </p:nvCxnSpPr>
        <p:spPr>
          <a:xfrm flipH="1">
            <a:off x="6861537" y="1949953"/>
            <a:ext cx="1" cy="812726"/>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9344576-5B59-F532-0038-3971EA074F84}"/>
              </a:ext>
            </a:extLst>
          </p:cNvPr>
          <p:cNvCxnSpPr>
            <a:cxnSpLocks/>
          </p:cNvCxnSpPr>
          <p:nvPr/>
        </p:nvCxnSpPr>
        <p:spPr>
          <a:xfrm flipH="1">
            <a:off x="6861537" y="4012898"/>
            <a:ext cx="1" cy="699734"/>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Học máy - thuật toán AI học như thế nào - Nguyễn Nam Phong">
            <a:extLst>
              <a:ext uri="{FF2B5EF4-FFF2-40B4-BE49-F238E27FC236}">
                <a16:creationId xmlns:a16="http://schemas.microsoft.com/office/drawing/2014/main" id="{DCEBD2B6-7919-CC86-CD4A-58AFEC6727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37354" y="2586646"/>
            <a:ext cx="2781742" cy="1602283"/>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3D1BDB14-C282-0896-BF1E-834826E110A5}"/>
              </a:ext>
            </a:extLst>
          </p:cNvPr>
          <p:cNvCxnSpPr>
            <a:cxnSpLocks/>
          </p:cNvCxnSpPr>
          <p:nvPr/>
        </p:nvCxnSpPr>
        <p:spPr>
          <a:xfrm>
            <a:off x="7453431" y="3387788"/>
            <a:ext cx="1562979" cy="0"/>
          </a:xfrm>
          <a:prstGeom prst="straightConnector1">
            <a:avLst/>
          </a:prstGeom>
          <a:ln w="38100">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64BB7F8-8B04-C54A-9B66-0245F0D5EA40}"/>
              </a:ext>
            </a:extLst>
          </p:cNvPr>
          <p:cNvSpPr txBox="1"/>
          <p:nvPr/>
        </p:nvSpPr>
        <p:spPr>
          <a:xfrm>
            <a:off x="11437034" y="6091311"/>
            <a:ext cx="576775" cy="584775"/>
          </a:xfrm>
          <a:prstGeom prst="rect">
            <a:avLst/>
          </a:prstGeom>
          <a:noFill/>
        </p:spPr>
        <p:txBody>
          <a:bodyPr wrap="square" rtlCol="0">
            <a:spAutoFit/>
          </a:bodyPr>
          <a:lstStyle/>
          <a:p>
            <a:r>
              <a:rPr lang="en-US" sz="3200" dirty="0">
                <a:solidFill>
                  <a:srgbClr val="FF0000"/>
                </a:solidFill>
              </a:rPr>
              <a:t>5</a:t>
            </a:r>
          </a:p>
        </p:txBody>
      </p:sp>
    </p:spTree>
    <p:extLst>
      <p:ext uri="{BB962C8B-B14F-4D97-AF65-F5344CB8AC3E}">
        <p14:creationId xmlns:p14="http://schemas.microsoft.com/office/powerpoint/2010/main" val="10846029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05728-837A-03E6-B966-5569E8486E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A42F69-644F-324D-6F78-EC40EE73721B}"/>
              </a:ext>
            </a:extLst>
          </p:cNvPr>
          <p:cNvSpPr txBox="1"/>
          <p:nvPr/>
        </p:nvSpPr>
        <p:spPr>
          <a:xfrm>
            <a:off x="0" y="122762"/>
            <a:ext cx="4671811" cy="678199"/>
          </a:xfrm>
          <a:prstGeom prst="rect">
            <a:avLst/>
          </a:prstGeom>
          <a:noFill/>
        </p:spPr>
        <p:txBody>
          <a:bodyPr wrap="square">
            <a:spAutoFit/>
          </a:bodyPr>
          <a:lstStyle/>
          <a:p>
            <a:pPr algn="ct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Phạm vi </a:t>
            </a:r>
            <a:r>
              <a:rPr lang="en-US" sz="3200" b="1" dirty="0" err="1">
                <a:solidFill>
                  <a:srgbClr val="FF0000"/>
                </a:solidFill>
                <a:effectLst/>
                <a:latin typeface="Times New Roman" panose="02020603050405020304" pitchFamily="18" charset="0"/>
                <a:ea typeface="Calibri" panose="020F0502020204030204" pitchFamily="34" charset="0"/>
              </a:rPr>
              <a:t>nghiên</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cứu</a:t>
            </a:r>
            <a:endParaRPr lang="en-US" sz="3200" dirty="0">
              <a:solidFill>
                <a:srgbClr val="FF0000"/>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EC97AD33-8405-0C3D-E67E-7D0C0AAEE88B}"/>
              </a:ext>
            </a:extLst>
          </p:cNvPr>
          <p:cNvSpPr txBox="1"/>
          <p:nvPr/>
        </p:nvSpPr>
        <p:spPr>
          <a:xfrm>
            <a:off x="529567" y="940510"/>
            <a:ext cx="11347001" cy="4756815"/>
          </a:xfrm>
          <a:prstGeom prst="rect">
            <a:avLst/>
          </a:prstGeom>
          <a:noFill/>
        </p:spPr>
        <p:txBody>
          <a:bodyPr wrap="square">
            <a:spAutoFit/>
          </a:bodyPr>
          <a:lstStyle/>
          <a:p>
            <a:pPr algn="just">
              <a:lnSpc>
                <a:spcPct val="130000"/>
              </a:lnSpc>
              <a:spcAft>
                <a:spcPts val="600"/>
              </a:spcAft>
            </a:pPr>
            <a:r>
              <a:rPr lang="en-US" sz="2800" b="1" dirty="0">
                <a:effectLst/>
                <a:latin typeface="Times New Roman" panose="02020603050405020304" pitchFamily="18" charset="0"/>
                <a:ea typeface="Times New Roman" panose="02020603050405020304" pitchFamily="18" charset="0"/>
              </a:rPr>
              <a:t>- </a:t>
            </a:r>
            <a:r>
              <a:rPr lang="en-US" sz="2800" b="1" dirty="0" err="1">
                <a:effectLst/>
                <a:latin typeface="Times New Roman" panose="02020603050405020304" pitchFamily="18" charset="0"/>
                <a:ea typeface="Times New Roman" panose="02020603050405020304" pitchFamily="18" charset="0"/>
              </a:rPr>
              <a:t>Về</a:t>
            </a:r>
            <a:r>
              <a:rPr lang="en-US" sz="2800" b="1" dirty="0">
                <a:effectLst/>
                <a:latin typeface="Times New Roman" panose="02020603050405020304" pitchFamily="18" charset="0"/>
                <a:ea typeface="Times New Roman" panose="02020603050405020304" pitchFamily="18" charset="0"/>
              </a:rPr>
              <a:t> </a:t>
            </a:r>
            <a:r>
              <a:rPr lang="vi-VN" sz="2800" b="1" dirty="0">
                <a:effectLst/>
                <a:latin typeface="Times New Roman" panose="02020603050405020304" pitchFamily="18" charset="0"/>
                <a:ea typeface="Times New Roman" panose="02020603050405020304" pitchFamily="18" charset="0"/>
              </a:rPr>
              <a:t>phạm vi ứng dụng</a:t>
            </a:r>
            <a:r>
              <a:rPr lang="en-US" sz="2800" b="1" dirty="0">
                <a:effectLst/>
                <a:latin typeface="Times New Roman" panose="02020603050405020304" pitchFamily="18" charset="0"/>
                <a:ea typeface="Times New Roman" panose="02020603050405020304" pitchFamily="18" charset="0"/>
              </a:rPr>
              <a:t>: </a:t>
            </a:r>
            <a:r>
              <a:rPr lang="vi-VN" sz="2800" dirty="0">
                <a:effectLst/>
                <a:latin typeface="Times New Roman" panose="02020603050405020304" pitchFamily="18" charset="0"/>
                <a:ea typeface="Times New Roman" panose="02020603050405020304" pitchFamily="18" charset="0"/>
              </a:rPr>
              <a:t>nghiên cứu ứng dụng học máy để phát hiện hành vi đăng nhập bất thường dựa trên đào tạo từ một bộ dữ liệu đăng nhập.</a:t>
            </a:r>
            <a:endParaRPr lang="en-US" sz="2800" dirty="0">
              <a:effectLst/>
              <a:latin typeface="Times New Roman" panose="02020603050405020304" pitchFamily="18" charset="0"/>
              <a:ea typeface="Times New Roman" panose="02020603050405020304" pitchFamily="18" charset="0"/>
            </a:endParaRPr>
          </a:p>
          <a:p>
            <a:pPr algn="just">
              <a:lnSpc>
                <a:spcPct val="130000"/>
              </a:lnSpc>
              <a:spcAft>
                <a:spcPts val="600"/>
              </a:spcAft>
            </a:pPr>
            <a:r>
              <a:rPr lang="en-US" sz="2800" b="1" dirty="0">
                <a:solidFill>
                  <a:srgbClr val="0D0D0D"/>
                </a:solidFill>
                <a:effectLst/>
                <a:latin typeface="Times New Roman" panose="02020603050405020304" pitchFamily="18" charset="0"/>
                <a:ea typeface="Times New Roman" panose="02020603050405020304" pitchFamily="18" charset="0"/>
              </a:rPr>
              <a:t>- </a:t>
            </a:r>
            <a:r>
              <a:rPr lang="en-US" sz="2800" b="1" dirty="0" err="1">
                <a:solidFill>
                  <a:srgbClr val="0D0D0D"/>
                </a:solidFill>
                <a:effectLst/>
                <a:latin typeface="Times New Roman" panose="02020603050405020304" pitchFamily="18" charset="0"/>
                <a:ea typeface="Times New Roman" panose="02020603050405020304" pitchFamily="18" charset="0"/>
              </a:rPr>
              <a:t>Về</a:t>
            </a:r>
            <a:r>
              <a:rPr lang="en-US" sz="2800" b="1" dirty="0">
                <a:solidFill>
                  <a:srgbClr val="0D0D0D"/>
                </a:solidFill>
                <a:effectLst/>
                <a:latin typeface="Times New Roman" panose="02020603050405020304" pitchFamily="18" charset="0"/>
                <a:ea typeface="Times New Roman" panose="02020603050405020304" pitchFamily="18" charset="0"/>
              </a:rPr>
              <a:t> </a:t>
            </a:r>
            <a:r>
              <a:rPr lang="vi-VN" sz="2800" b="1" dirty="0">
                <a:solidFill>
                  <a:srgbClr val="0D0D0D"/>
                </a:solidFill>
                <a:effectLst/>
                <a:latin typeface="Times New Roman" panose="02020603050405020304" pitchFamily="18" charset="0"/>
                <a:ea typeface="Times New Roman" panose="02020603050405020304" pitchFamily="18" charset="0"/>
              </a:rPr>
              <a:t>dữ liệu đầu vào: </a:t>
            </a:r>
            <a:r>
              <a:rPr lang="vi-VN" sz="2800" dirty="0">
                <a:solidFill>
                  <a:srgbClr val="0D0D0D"/>
                </a:solidFill>
                <a:effectLst/>
                <a:latin typeface="Times New Roman" panose="02020603050405020304" pitchFamily="18" charset="0"/>
                <a:ea typeface="Times New Roman" panose="02020603050405020304" pitchFamily="18" charset="0"/>
              </a:rPr>
              <a:t>Đào tạo mô hình học máy dựa trên bộ dữ liệu được công khai, đã được nghiên cứu, kiểm nghiệm. </a:t>
            </a:r>
            <a:endParaRPr lang="en-US" sz="2800" dirty="0">
              <a:solidFill>
                <a:srgbClr val="0D0D0D"/>
              </a:solidFill>
              <a:effectLst/>
              <a:latin typeface="Times New Roman" panose="02020603050405020304" pitchFamily="18" charset="0"/>
              <a:ea typeface="Times New Roman" panose="02020603050405020304" pitchFamily="18" charset="0"/>
            </a:endParaRPr>
          </a:p>
          <a:p>
            <a:pPr algn="just">
              <a:lnSpc>
                <a:spcPct val="130000"/>
              </a:lnSpc>
              <a:spcAft>
                <a:spcPts val="600"/>
              </a:spcAft>
            </a:pPr>
            <a:r>
              <a:rPr lang="en-US" sz="2800" b="1" dirty="0">
                <a:latin typeface="Calibri" panose="020F0502020204030204" pitchFamily="34" charset="0"/>
                <a:ea typeface="Times New Roman" panose="02020603050405020304" pitchFamily="18" charset="0"/>
              </a:rPr>
              <a:t>- </a:t>
            </a:r>
            <a:r>
              <a:rPr lang="en-US" sz="2800" b="1" dirty="0" err="1">
                <a:effectLst/>
                <a:latin typeface="Times New Roman" panose="02020603050405020304" pitchFamily="18" charset="0"/>
                <a:ea typeface="Times New Roman" panose="02020603050405020304" pitchFamily="18" charset="0"/>
              </a:rPr>
              <a:t>Về</a:t>
            </a:r>
            <a:r>
              <a:rPr lang="en-US" sz="2800" b="1" dirty="0">
                <a:effectLst/>
                <a:latin typeface="Times New Roman" panose="02020603050405020304" pitchFamily="18" charset="0"/>
                <a:ea typeface="Times New Roman" panose="02020603050405020304" pitchFamily="18" charset="0"/>
              </a:rPr>
              <a:t> </a:t>
            </a:r>
            <a:r>
              <a:rPr lang="vi-VN" sz="2800" b="1" dirty="0">
                <a:effectLst/>
                <a:latin typeface="Times New Roman" panose="02020603050405020304" pitchFamily="18" charset="0"/>
                <a:ea typeface="Times New Roman" panose="02020603050405020304" pitchFamily="18" charset="0"/>
              </a:rPr>
              <a:t>phương pháp luận: </a:t>
            </a:r>
            <a:r>
              <a:rPr lang="vi-VN" sz="2800" dirty="0">
                <a:effectLst/>
                <a:latin typeface="Times New Roman" panose="02020603050405020304" pitchFamily="18" charset="0"/>
                <a:ea typeface="Times New Roman" panose="02020603050405020304" pitchFamily="18" charset="0"/>
              </a:rPr>
              <a:t>Nghiên cứu tập trung vào ứng dụng các thuật toán học máy</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cụ</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thể</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là</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cải</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tiến</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thuật</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toán</a:t>
            </a:r>
            <a:r>
              <a:rPr lang="en-US" sz="2800" dirty="0">
                <a:effectLst/>
                <a:latin typeface="Times New Roman" panose="02020603050405020304" pitchFamily="18" charset="0"/>
                <a:ea typeface="Times New Roman" panose="02020603050405020304" pitchFamily="18" charset="0"/>
              </a:rPr>
              <a:t> LR </a:t>
            </a:r>
            <a:r>
              <a:rPr lang="en-US" sz="2800" dirty="0" err="1">
                <a:effectLst/>
                <a:latin typeface="Times New Roman" panose="02020603050405020304" pitchFamily="18" charset="0"/>
                <a:ea typeface="Times New Roman" panose="02020603050405020304" pitchFamily="18" charset="0"/>
              </a:rPr>
              <a:t>và</a:t>
            </a:r>
            <a:r>
              <a:rPr lang="en-US" sz="2800" dirty="0">
                <a:effectLst/>
                <a:latin typeface="Times New Roman" panose="02020603050405020304" pitchFamily="18" charset="0"/>
                <a:ea typeface="Times New Roman" panose="02020603050405020304" pitchFamily="18" charset="0"/>
              </a:rPr>
              <a:t> SVM</a:t>
            </a:r>
          </a:p>
          <a:p>
            <a:pPr algn="just">
              <a:lnSpc>
                <a:spcPct val="130000"/>
              </a:lnSpc>
              <a:spcAft>
                <a:spcPts val="600"/>
              </a:spcAft>
            </a:pPr>
            <a:r>
              <a:rPr lang="en-US" sz="2800" b="1" dirty="0">
                <a:effectLst/>
                <a:latin typeface="Times New Roman" panose="02020603050405020304" pitchFamily="18" charset="0"/>
                <a:ea typeface="Times New Roman" panose="02020603050405020304" pitchFamily="18" charset="0"/>
              </a:rPr>
              <a:t>- </a:t>
            </a:r>
            <a:r>
              <a:rPr lang="en-US" sz="2800" b="1" dirty="0" err="1">
                <a:effectLst/>
                <a:latin typeface="Times New Roman" panose="02020603050405020304" pitchFamily="18" charset="0"/>
                <a:ea typeface="Times New Roman" panose="02020603050405020304" pitchFamily="18" charset="0"/>
              </a:rPr>
              <a:t>Về</a:t>
            </a:r>
            <a:r>
              <a:rPr lang="en-US" sz="2800" b="1" dirty="0">
                <a:effectLst/>
                <a:latin typeface="Times New Roman" panose="02020603050405020304" pitchFamily="18" charset="0"/>
                <a:ea typeface="Times New Roman" panose="02020603050405020304" pitchFamily="18" charset="0"/>
              </a:rPr>
              <a:t> </a:t>
            </a:r>
            <a:r>
              <a:rPr lang="vi-VN" sz="2800" b="1" dirty="0">
                <a:effectLst/>
                <a:latin typeface="Times New Roman" panose="02020603050405020304" pitchFamily="18" charset="0"/>
                <a:ea typeface="Times New Roman" panose="02020603050405020304" pitchFamily="18" charset="0"/>
              </a:rPr>
              <a:t>tiêu chí đánh giá: </a:t>
            </a:r>
            <a:r>
              <a:rPr lang="vi-VN" sz="2800" dirty="0">
                <a:effectLst/>
                <a:latin typeface="Times New Roman" panose="02020603050405020304" pitchFamily="18" charset="0"/>
                <a:ea typeface="Times New Roman" panose="02020603050405020304" pitchFamily="18" charset="0"/>
              </a:rPr>
              <a:t>dựa trên các yếu tố định lượng</a:t>
            </a:r>
            <a:r>
              <a:rPr lang="en-US" sz="2800" dirty="0">
                <a:effectLst/>
                <a:latin typeface="Times New Roman" panose="02020603050405020304" pitchFamily="18" charset="0"/>
                <a:ea typeface="Times New Roman" panose="02020603050405020304" pitchFamily="18" charset="0"/>
              </a:rPr>
              <a:t>,</a:t>
            </a:r>
            <a:r>
              <a:rPr lang="vi-VN" sz="2800" dirty="0">
                <a:effectLst/>
                <a:latin typeface="Times New Roman" panose="02020603050405020304" pitchFamily="18" charset="0"/>
                <a:ea typeface="Times New Roman" panose="02020603050405020304" pitchFamily="18" charset="0"/>
              </a:rPr>
              <a:t> như: số lượng sự kiện đăng nhập, tỷ lệ phát hiện bất thường, độ chính xác của mô hình</a:t>
            </a:r>
            <a:endParaRPr lang="en-US" sz="2800" dirty="0">
              <a:effectLst/>
              <a:latin typeface="Calibri" panose="020F050202020403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A6A872C8-D34C-1AE2-3966-2A4EBF202191}"/>
              </a:ext>
            </a:extLst>
          </p:cNvPr>
          <p:cNvSpPr txBox="1"/>
          <p:nvPr/>
        </p:nvSpPr>
        <p:spPr>
          <a:xfrm>
            <a:off x="11437034" y="6091311"/>
            <a:ext cx="576775" cy="584775"/>
          </a:xfrm>
          <a:prstGeom prst="rect">
            <a:avLst/>
          </a:prstGeom>
          <a:noFill/>
        </p:spPr>
        <p:txBody>
          <a:bodyPr wrap="square" rtlCol="0">
            <a:spAutoFit/>
          </a:bodyPr>
          <a:lstStyle/>
          <a:p>
            <a:r>
              <a:rPr lang="en-US" sz="3200" dirty="0">
                <a:solidFill>
                  <a:srgbClr val="FF0000"/>
                </a:solidFill>
              </a:rPr>
              <a:t>6</a:t>
            </a:r>
          </a:p>
        </p:txBody>
      </p:sp>
    </p:spTree>
    <p:extLst>
      <p:ext uri="{BB962C8B-B14F-4D97-AF65-F5344CB8AC3E}">
        <p14:creationId xmlns:p14="http://schemas.microsoft.com/office/powerpoint/2010/main" val="6487436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D6E5A1-D004-49E9-F956-811D86D46B84}"/>
              </a:ext>
            </a:extLst>
          </p:cNvPr>
          <p:cNvSpPr/>
          <p:nvPr/>
        </p:nvSpPr>
        <p:spPr>
          <a:xfrm>
            <a:off x="4650475" y="300251"/>
            <a:ext cx="2891050" cy="696035"/>
          </a:xfrm>
          <a:prstGeom prst="rect">
            <a:avLst/>
          </a:prstGeom>
          <a:solidFill>
            <a:schemeClr val="accent1">
              <a:lumMod val="5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MỤC LỤC</a:t>
            </a:r>
          </a:p>
        </p:txBody>
      </p:sp>
      <p:sp>
        <p:nvSpPr>
          <p:cNvPr id="5" name="Rectangle 4">
            <a:extLst>
              <a:ext uri="{FF2B5EF4-FFF2-40B4-BE49-F238E27FC236}">
                <a16:creationId xmlns:a16="http://schemas.microsoft.com/office/drawing/2014/main" id="{2CD06140-5FA9-E7AE-FC50-C927AC4E25EF}"/>
              </a:ext>
            </a:extLst>
          </p:cNvPr>
          <p:cNvSpPr/>
          <p:nvPr/>
        </p:nvSpPr>
        <p:spPr>
          <a:xfrm>
            <a:off x="129655" y="2074460"/>
            <a:ext cx="1425984" cy="4392841"/>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400" b="1" dirty="0">
              <a:solidFill>
                <a:schemeClr val="tx1">
                  <a:lumMod val="95000"/>
                  <a:lumOff val="5000"/>
                </a:schemeClr>
              </a:solidFill>
              <a:latin typeface="Arial" panose="020B0604020202020204" pitchFamily="34" charset="0"/>
              <a:cs typeface="Arial" panose="020B0604020202020204" pitchFamily="34" charset="0"/>
            </a:endParaRPr>
          </a:p>
          <a:p>
            <a:pPr algn="ctr"/>
            <a:r>
              <a:rPr lang="en-US" sz="2400" b="1" dirty="0">
                <a:solidFill>
                  <a:schemeClr val="tx1">
                    <a:lumMod val="95000"/>
                    <a:lumOff val="5000"/>
                  </a:schemeClr>
                </a:solidFill>
                <a:latin typeface="Arial" panose="020B0604020202020204" pitchFamily="34" charset="0"/>
                <a:cs typeface="Arial" panose="020B0604020202020204" pitchFamily="34" charset="0"/>
              </a:rPr>
              <a:t>C1:</a:t>
            </a:r>
          </a:p>
          <a:p>
            <a:pPr algn="ctr"/>
            <a:r>
              <a:rPr lang="en-US" sz="2400" b="1" dirty="0" err="1">
                <a:solidFill>
                  <a:schemeClr val="tx1">
                    <a:lumMod val="95000"/>
                    <a:lumOff val="5000"/>
                  </a:schemeClr>
                </a:solidFill>
                <a:latin typeface="Arial" panose="020B0604020202020204" pitchFamily="34" charset="0"/>
                <a:cs typeface="Arial" panose="020B0604020202020204" pitchFamily="34" charset="0"/>
              </a:rPr>
              <a:t>Mở</a:t>
            </a:r>
            <a:r>
              <a:rPr lang="en-US" sz="2400" b="1" dirty="0">
                <a:solidFill>
                  <a:schemeClr val="tx1">
                    <a:lumMod val="95000"/>
                    <a:lumOff val="5000"/>
                  </a:schemeClr>
                </a:solidFill>
                <a:latin typeface="Arial" panose="020B0604020202020204" pitchFamily="34" charset="0"/>
                <a:cs typeface="Arial" panose="020B0604020202020204" pitchFamily="34" charset="0"/>
              </a:rPr>
              <a:t> </a:t>
            </a:r>
            <a:r>
              <a:rPr lang="en-US" sz="2400" b="1" dirty="0" err="1">
                <a:solidFill>
                  <a:schemeClr val="tx1">
                    <a:lumMod val="95000"/>
                    <a:lumOff val="5000"/>
                  </a:schemeClr>
                </a:solidFill>
                <a:latin typeface="Arial" panose="020B0604020202020204" pitchFamily="34" charset="0"/>
                <a:cs typeface="Arial" panose="020B0604020202020204" pitchFamily="34" charset="0"/>
              </a:rPr>
              <a:t>đầu</a:t>
            </a:r>
            <a:endParaRPr lang="en-US" sz="2400" b="1" dirty="0">
              <a:solidFill>
                <a:schemeClr val="tx1">
                  <a:lumMod val="95000"/>
                  <a:lumOff val="5000"/>
                </a:schemeClr>
              </a:solidFill>
              <a:latin typeface="Arial" panose="020B0604020202020204" pitchFamily="34" charset="0"/>
              <a:cs typeface="Arial" panose="020B0604020202020204" pitchFamily="34" charset="0"/>
            </a:endParaRPr>
          </a:p>
          <a:p>
            <a:pPr algn="ctr"/>
            <a:endParaRPr lang="en-US" sz="24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17A26C9-F726-0CA6-4AFF-AA8F65CFD554}"/>
              </a:ext>
            </a:extLst>
          </p:cNvPr>
          <p:cNvSpPr/>
          <p:nvPr/>
        </p:nvSpPr>
        <p:spPr>
          <a:xfrm>
            <a:off x="1883719" y="2074459"/>
            <a:ext cx="1425984" cy="439284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400" b="1" dirty="0">
              <a:solidFill>
                <a:schemeClr val="tx1">
                  <a:lumMod val="95000"/>
                  <a:lumOff val="5000"/>
                </a:schemeClr>
              </a:solidFill>
              <a:latin typeface="Arial" panose="020B0604020202020204" pitchFamily="34" charset="0"/>
              <a:cs typeface="Arial" panose="020B0604020202020204" pitchFamily="34" charset="0"/>
            </a:endParaRPr>
          </a:p>
          <a:p>
            <a:pPr algn="ctr"/>
            <a:r>
              <a:rPr lang="en-US" sz="2400" b="1" dirty="0">
                <a:solidFill>
                  <a:schemeClr val="tx1">
                    <a:lumMod val="95000"/>
                    <a:lumOff val="5000"/>
                  </a:schemeClr>
                </a:solidFill>
                <a:latin typeface="Arial" panose="020B0604020202020204" pitchFamily="34" charset="0"/>
                <a:cs typeface="Arial" panose="020B0604020202020204" pitchFamily="34" charset="0"/>
              </a:rPr>
              <a:t>C2:</a:t>
            </a:r>
          </a:p>
          <a:p>
            <a:pPr algn="ctr"/>
            <a:r>
              <a:rPr lang="vi-VN" sz="2400" b="1" dirty="0">
                <a:solidFill>
                  <a:schemeClr val="tx1">
                    <a:lumMod val="95000"/>
                    <a:lumOff val="5000"/>
                  </a:schemeClr>
                </a:solidFill>
                <a:latin typeface="Arial" panose="020B0604020202020204" pitchFamily="34" charset="0"/>
                <a:cs typeface="Arial" panose="020B0604020202020204" pitchFamily="34" charset="0"/>
              </a:rPr>
              <a:t>Cơ sở lý thuyết và kiến thức nền tảng</a:t>
            </a:r>
            <a:endParaRPr lang="en-US" sz="2400" b="1" dirty="0">
              <a:solidFill>
                <a:schemeClr val="tx1">
                  <a:lumMod val="95000"/>
                  <a:lumOff val="5000"/>
                </a:schemeClr>
              </a:solidFill>
              <a:latin typeface="Arial" panose="020B0604020202020204" pitchFamily="34" charset="0"/>
              <a:cs typeface="Arial" panose="020B0604020202020204" pitchFamily="34" charset="0"/>
            </a:endParaRPr>
          </a:p>
          <a:p>
            <a:pPr algn="ctr"/>
            <a:r>
              <a:rPr lang="en-US" sz="2400" dirty="0">
                <a:solidFill>
                  <a:schemeClr val="tx1">
                    <a:lumMod val="95000"/>
                    <a:lumOff val="5000"/>
                  </a:schemeClr>
                </a:solidFill>
                <a:latin typeface="Arial" panose="020B0604020202020204" pitchFamily="34" charset="0"/>
                <a:cs typeface="Arial" panose="020B0604020202020204" pitchFamily="34" charset="0"/>
              </a:rPr>
              <a:t>	</a:t>
            </a:r>
          </a:p>
        </p:txBody>
      </p:sp>
      <p:sp>
        <p:nvSpPr>
          <p:cNvPr id="7" name="Rectangle 6">
            <a:extLst>
              <a:ext uri="{FF2B5EF4-FFF2-40B4-BE49-F238E27FC236}">
                <a16:creationId xmlns:a16="http://schemas.microsoft.com/office/drawing/2014/main" id="{21B98A00-06FD-3E85-39D3-6786438AF8DB}"/>
              </a:ext>
            </a:extLst>
          </p:cNvPr>
          <p:cNvSpPr/>
          <p:nvPr/>
        </p:nvSpPr>
        <p:spPr>
          <a:xfrm>
            <a:off x="3637784" y="2074459"/>
            <a:ext cx="1425984" cy="439284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400" b="1" dirty="0">
              <a:solidFill>
                <a:schemeClr val="tx1">
                  <a:lumMod val="95000"/>
                  <a:lumOff val="5000"/>
                </a:schemeClr>
              </a:solidFill>
              <a:latin typeface="Arial" panose="020B0604020202020204" pitchFamily="34" charset="0"/>
              <a:cs typeface="Arial" panose="020B0604020202020204" pitchFamily="34" charset="0"/>
            </a:endParaRPr>
          </a:p>
          <a:p>
            <a:pPr algn="ctr"/>
            <a:r>
              <a:rPr lang="en-US" sz="2400" b="1" dirty="0">
                <a:solidFill>
                  <a:schemeClr val="tx1">
                    <a:lumMod val="95000"/>
                    <a:lumOff val="5000"/>
                  </a:schemeClr>
                </a:solidFill>
                <a:latin typeface="Arial" panose="020B0604020202020204" pitchFamily="34" charset="0"/>
                <a:cs typeface="Arial" panose="020B0604020202020204" pitchFamily="34" charset="0"/>
              </a:rPr>
              <a:t>C3: </a:t>
            </a:r>
          </a:p>
          <a:p>
            <a:pPr algn="ctr"/>
            <a:r>
              <a:rPr lang="en-US" sz="2400" b="1" dirty="0" err="1">
                <a:solidFill>
                  <a:schemeClr val="tx1">
                    <a:lumMod val="95000"/>
                    <a:lumOff val="5000"/>
                  </a:schemeClr>
                </a:solidFill>
                <a:latin typeface="Arial" panose="020B0604020202020204" pitchFamily="34" charset="0"/>
                <a:cs typeface="Arial" panose="020B0604020202020204" pitchFamily="34" charset="0"/>
              </a:rPr>
              <a:t>Tổng</a:t>
            </a:r>
            <a:r>
              <a:rPr lang="en-US" sz="2400" b="1" dirty="0">
                <a:solidFill>
                  <a:schemeClr val="tx1">
                    <a:lumMod val="95000"/>
                    <a:lumOff val="5000"/>
                  </a:schemeClr>
                </a:solidFill>
                <a:latin typeface="Arial" panose="020B0604020202020204" pitchFamily="34" charset="0"/>
                <a:cs typeface="Arial" panose="020B0604020202020204" pitchFamily="34" charset="0"/>
              </a:rPr>
              <a:t> </a:t>
            </a:r>
            <a:r>
              <a:rPr lang="en-US" sz="2400" b="1" dirty="0" err="1">
                <a:solidFill>
                  <a:schemeClr val="tx1">
                    <a:lumMod val="95000"/>
                    <a:lumOff val="5000"/>
                  </a:schemeClr>
                </a:solidFill>
                <a:latin typeface="Arial" panose="020B0604020202020204" pitchFamily="34" charset="0"/>
                <a:cs typeface="Arial" panose="020B0604020202020204" pitchFamily="34" charset="0"/>
              </a:rPr>
              <a:t>quan</a:t>
            </a:r>
            <a:r>
              <a:rPr lang="en-US" sz="2400" b="1" dirty="0">
                <a:solidFill>
                  <a:schemeClr val="tx1">
                    <a:lumMod val="95000"/>
                    <a:lumOff val="5000"/>
                  </a:schemeClr>
                </a:solidFill>
                <a:latin typeface="Arial" panose="020B0604020202020204" pitchFamily="34" charset="0"/>
                <a:cs typeface="Arial" panose="020B0604020202020204" pitchFamily="34" charset="0"/>
              </a:rPr>
              <a:t> </a:t>
            </a:r>
            <a:r>
              <a:rPr lang="en-US" sz="2400" b="1" dirty="0" err="1">
                <a:solidFill>
                  <a:schemeClr val="tx1">
                    <a:lumMod val="95000"/>
                    <a:lumOff val="5000"/>
                  </a:schemeClr>
                </a:solidFill>
                <a:latin typeface="Arial" panose="020B0604020202020204" pitchFamily="34" charset="0"/>
                <a:cs typeface="Arial" panose="020B0604020202020204" pitchFamily="34" charset="0"/>
              </a:rPr>
              <a:t>các</a:t>
            </a:r>
            <a:r>
              <a:rPr lang="en-US" sz="2400" b="1" dirty="0">
                <a:solidFill>
                  <a:schemeClr val="tx1">
                    <a:lumMod val="95000"/>
                    <a:lumOff val="5000"/>
                  </a:schemeClr>
                </a:solidFill>
                <a:latin typeface="Arial" panose="020B0604020202020204" pitchFamily="34" charset="0"/>
                <a:cs typeface="Arial" panose="020B0604020202020204" pitchFamily="34" charset="0"/>
              </a:rPr>
              <a:t> </a:t>
            </a:r>
            <a:r>
              <a:rPr lang="en-US" sz="2400" b="1" dirty="0" err="1">
                <a:solidFill>
                  <a:schemeClr val="tx1">
                    <a:lumMod val="95000"/>
                    <a:lumOff val="5000"/>
                  </a:schemeClr>
                </a:solidFill>
                <a:latin typeface="Arial" panose="020B0604020202020204" pitchFamily="34" charset="0"/>
                <a:cs typeface="Arial" panose="020B0604020202020204" pitchFamily="34" charset="0"/>
              </a:rPr>
              <a:t>nghiên</a:t>
            </a:r>
            <a:r>
              <a:rPr lang="en-US" sz="2400" b="1" dirty="0">
                <a:solidFill>
                  <a:schemeClr val="tx1">
                    <a:lumMod val="95000"/>
                    <a:lumOff val="5000"/>
                  </a:schemeClr>
                </a:solidFill>
                <a:latin typeface="Arial" panose="020B0604020202020204" pitchFamily="34" charset="0"/>
                <a:cs typeface="Arial" panose="020B0604020202020204" pitchFamily="34" charset="0"/>
              </a:rPr>
              <a:t> </a:t>
            </a:r>
            <a:r>
              <a:rPr lang="en-US" sz="2400" b="1" dirty="0" err="1">
                <a:solidFill>
                  <a:schemeClr val="tx1">
                    <a:lumMod val="95000"/>
                    <a:lumOff val="5000"/>
                  </a:schemeClr>
                </a:solidFill>
                <a:latin typeface="Arial" panose="020B0604020202020204" pitchFamily="34" charset="0"/>
                <a:cs typeface="Arial" panose="020B0604020202020204" pitchFamily="34" charset="0"/>
              </a:rPr>
              <a:t>cứu</a:t>
            </a:r>
            <a:r>
              <a:rPr lang="en-US" sz="2400" b="1" dirty="0">
                <a:solidFill>
                  <a:schemeClr val="tx1">
                    <a:lumMod val="95000"/>
                    <a:lumOff val="5000"/>
                  </a:schemeClr>
                </a:solidFill>
                <a:latin typeface="Arial" panose="020B0604020202020204" pitchFamily="34" charset="0"/>
                <a:cs typeface="Arial" panose="020B0604020202020204" pitchFamily="34" charset="0"/>
              </a:rPr>
              <a:t> </a:t>
            </a:r>
            <a:r>
              <a:rPr lang="en-US" sz="2400" b="1" dirty="0" err="1">
                <a:solidFill>
                  <a:schemeClr val="tx1">
                    <a:lumMod val="95000"/>
                    <a:lumOff val="5000"/>
                  </a:schemeClr>
                </a:solidFill>
                <a:latin typeface="Arial" panose="020B0604020202020204" pitchFamily="34" charset="0"/>
                <a:cs typeface="Arial" panose="020B0604020202020204" pitchFamily="34" charset="0"/>
              </a:rPr>
              <a:t>có</a:t>
            </a:r>
            <a:r>
              <a:rPr lang="en-US" sz="2400" b="1" dirty="0">
                <a:solidFill>
                  <a:schemeClr val="tx1">
                    <a:lumMod val="95000"/>
                    <a:lumOff val="5000"/>
                  </a:schemeClr>
                </a:solidFill>
                <a:latin typeface="Arial" panose="020B0604020202020204" pitchFamily="34" charset="0"/>
                <a:cs typeface="Arial" panose="020B0604020202020204" pitchFamily="34" charset="0"/>
              </a:rPr>
              <a:t> </a:t>
            </a:r>
            <a:r>
              <a:rPr lang="en-US" sz="2400" b="1" dirty="0" err="1">
                <a:solidFill>
                  <a:schemeClr val="tx1">
                    <a:lumMod val="95000"/>
                    <a:lumOff val="5000"/>
                  </a:schemeClr>
                </a:solidFill>
                <a:latin typeface="Arial" panose="020B0604020202020204" pitchFamily="34" charset="0"/>
                <a:cs typeface="Arial" panose="020B0604020202020204" pitchFamily="34" charset="0"/>
              </a:rPr>
              <a:t>liên</a:t>
            </a:r>
            <a:r>
              <a:rPr lang="en-US" sz="2400" b="1" dirty="0">
                <a:solidFill>
                  <a:schemeClr val="tx1">
                    <a:lumMod val="95000"/>
                    <a:lumOff val="5000"/>
                  </a:schemeClr>
                </a:solidFill>
                <a:latin typeface="Arial" panose="020B0604020202020204" pitchFamily="34" charset="0"/>
                <a:cs typeface="Arial" panose="020B0604020202020204" pitchFamily="34" charset="0"/>
              </a:rPr>
              <a:t> </a:t>
            </a:r>
            <a:r>
              <a:rPr lang="en-US" sz="2400" b="1" dirty="0" err="1">
                <a:solidFill>
                  <a:schemeClr val="tx1">
                    <a:lumMod val="95000"/>
                    <a:lumOff val="5000"/>
                  </a:schemeClr>
                </a:solidFill>
                <a:latin typeface="Arial" panose="020B0604020202020204" pitchFamily="34" charset="0"/>
                <a:cs typeface="Arial" panose="020B0604020202020204" pitchFamily="34" charset="0"/>
              </a:rPr>
              <a:t>quan</a:t>
            </a:r>
            <a:endParaRPr lang="en-US" sz="24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A6E6FAAF-55D7-2E5F-DBE4-91BD46506103}"/>
              </a:ext>
            </a:extLst>
          </p:cNvPr>
          <p:cNvSpPr/>
          <p:nvPr/>
        </p:nvSpPr>
        <p:spPr>
          <a:xfrm>
            <a:off x="7128230" y="2074460"/>
            <a:ext cx="1425984" cy="4392841"/>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400" b="1" dirty="0">
              <a:solidFill>
                <a:schemeClr val="bg1"/>
              </a:solidFill>
              <a:latin typeface="Arial" panose="020B0604020202020204" pitchFamily="34" charset="0"/>
              <a:cs typeface="Arial" panose="020B0604020202020204" pitchFamily="34" charset="0"/>
            </a:endParaRPr>
          </a:p>
          <a:p>
            <a:pPr algn="ctr"/>
            <a:r>
              <a:rPr lang="en-US" sz="2400" b="1" dirty="0">
                <a:solidFill>
                  <a:schemeClr val="bg1"/>
                </a:solidFill>
                <a:latin typeface="Arial" panose="020B0604020202020204" pitchFamily="34" charset="0"/>
                <a:cs typeface="Arial" panose="020B0604020202020204" pitchFamily="34" charset="0"/>
              </a:rPr>
              <a:t>C5: </a:t>
            </a:r>
          </a:p>
          <a:p>
            <a:pPr algn="ctr"/>
            <a:r>
              <a:rPr lang="en-US" sz="2400" b="1" dirty="0" err="1">
                <a:solidFill>
                  <a:schemeClr val="bg1"/>
                </a:solidFill>
                <a:latin typeface="Arial" panose="020B0604020202020204" pitchFamily="34" charset="0"/>
                <a:cs typeface="Arial" panose="020B0604020202020204" pitchFamily="34" charset="0"/>
              </a:rPr>
              <a:t>Triển</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khai</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hiện</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thực</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giải</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pháp</a:t>
            </a:r>
            <a:endParaRPr lang="en-US" sz="2400" b="1" dirty="0">
              <a:solidFill>
                <a:schemeClr val="bg1"/>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1DD2E12-A9C6-2A40-CBFC-EB92B4346EBD}"/>
              </a:ext>
            </a:extLst>
          </p:cNvPr>
          <p:cNvSpPr/>
          <p:nvPr/>
        </p:nvSpPr>
        <p:spPr>
          <a:xfrm>
            <a:off x="8873454" y="2074460"/>
            <a:ext cx="1425984" cy="4392841"/>
          </a:xfrm>
          <a:prstGeom prst="rect">
            <a:avLst/>
          </a:prstGeom>
          <a:solidFill>
            <a:schemeClr val="accent5">
              <a:lumMod val="5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400" b="1" dirty="0">
              <a:solidFill>
                <a:schemeClr val="bg1"/>
              </a:solidFill>
              <a:latin typeface="Arial" panose="020B0604020202020204" pitchFamily="34" charset="0"/>
              <a:cs typeface="Arial" panose="020B0604020202020204" pitchFamily="34" charset="0"/>
            </a:endParaRPr>
          </a:p>
          <a:p>
            <a:pPr algn="ctr"/>
            <a:r>
              <a:rPr lang="en-US" sz="2400" b="1" dirty="0">
                <a:solidFill>
                  <a:schemeClr val="bg1"/>
                </a:solidFill>
                <a:latin typeface="Arial" panose="020B0604020202020204" pitchFamily="34" charset="0"/>
                <a:cs typeface="Arial" panose="020B0604020202020204" pitchFamily="34" charset="0"/>
              </a:rPr>
              <a:t>C6: </a:t>
            </a:r>
          </a:p>
          <a:p>
            <a:pPr algn="ctr"/>
            <a:r>
              <a:rPr lang="en-US" sz="2400" b="1" dirty="0" err="1">
                <a:solidFill>
                  <a:schemeClr val="bg1"/>
                </a:solidFill>
                <a:latin typeface="Arial" panose="020B0604020202020204" pitchFamily="34" charset="0"/>
                <a:cs typeface="Arial" panose="020B0604020202020204" pitchFamily="34" charset="0"/>
              </a:rPr>
              <a:t>Nhận</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xét</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đánh</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giá</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kết</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quả</a:t>
            </a:r>
            <a:endParaRPr lang="en-US" sz="2400" b="1" dirty="0">
              <a:solidFill>
                <a:schemeClr val="bg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6ACF044E-AC5F-0C8E-91E9-7D81D860EDD1}"/>
              </a:ext>
            </a:extLst>
          </p:cNvPr>
          <p:cNvSpPr/>
          <p:nvPr/>
        </p:nvSpPr>
        <p:spPr>
          <a:xfrm>
            <a:off x="10587825" y="2074460"/>
            <a:ext cx="1425984" cy="4392841"/>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400" b="1" dirty="0">
              <a:solidFill>
                <a:schemeClr val="bg1"/>
              </a:solidFill>
              <a:latin typeface="Arial" panose="020B0604020202020204" pitchFamily="34" charset="0"/>
              <a:cs typeface="Arial" panose="020B0604020202020204" pitchFamily="34" charset="0"/>
            </a:endParaRPr>
          </a:p>
          <a:p>
            <a:pPr algn="ctr"/>
            <a:r>
              <a:rPr lang="en-US" sz="2400" b="1" dirty="0">
                <a:solidFill>
                  <a:schemeClr val="bg1"/>
                </a:solidFill>
                <a:latin typeface="Arial" panose="020B0604020202020204" pitchFamily="34" charset="0"/>
                <a:cs typeface="Arial" panose="020B0604020202020204" pitchFamily="34" charset="0"/>
              </a:rPr>
              <a:t>C7:</a:t>
            </a:r>
          </a:p>
          <a:p>
            <a:pPr algn="ctr"/>
            <a:r>
              <a:rPr lang="vi-VN" sz="2400" b="1" dirty="0">
                <a:solidFill>
                  <a:schemeClr val="bg1"/>
                </a:solidFill>
                <a:latin typeface="Arial" panose="020B0604020202020204" pitchFamily="34" charset="0"/>
                <a:cs typeface="Arial" panose="020B0604020202020204" pitchFamily="34" charset="0"/>
              </a:rPr>
              <a:t>Kết luận và hướng phát triển</a:t>
            </a:r>
            <a:endParaRPr lang="en-US" sz="2400" b="1" dirty="0">
              <a:solidFill>
                <a:schemeClr val="bg1"/>
              </a:solidFill>
              <a:latin typeface="Arial" panose="020B0604020202020204" pitchFamily="34" charset="0"/>
              <a:cs typeface="Arial" panose="020B0604020202020204" pitchFamily="34" charset="0"/>
            </a:endParaRPr>
          </a:p>
        </p:txBody>
      </p:sp>
      <p:cxnSp>
        <p:nvCxnSpPr>
          <p:cNvPr id="14" name="Straight Arrow Connector 13">
            <a:extLst>
              <a:ext uri="{FF2B5EF4-FFF2-40B4-BE49-F238E27FC236}">
                <a16:creationId xmlns:a16="http://schemas.microsoft.com/office/drawing/2014/main" id="{CEF137A7-C024-1515-2209-A4F6E00F2829}"/>
              </a:ext>
            </a:extLst>
          </p:cNvPr>
          <p:cNvCxnSpPr>
            <a:cxnSpLocks/>
            <a:stCxn id="4" idx="2"/>
            <a:endCxn id="5" idx="0"/>
          </p:cNvCxnSpPr>
          <p:nvPr/>
        </p:nvCxnSpPr>
        <p:spPr>
          <a:xfrm flipH="1">
            <a:off x="842647" y="996286"/>
            <a:ext cx="5253353" cy="107817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5B31775-6815-391D-DB93-19013674CB52}"/>
              </a:ext>
            </a:extLst>
          </p:cNvPr>
          <p:cNvCxnSpPr>
            <a:cxnSpLocks/>
            <a:stCxn id="4" idx="2"/>
            <a:endCxn id="6" idx="0"/>
          </p:cNvCxnSpPr>
          <p:nvPr/>
        </p:nvCxnSpPr>
        <p:spPr>
          <a:xfrm flipH="1">
            <a:off x="2596711" y="996286"/>
            <a:ext cx="3499289" cy="1078173"/>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A8B5BC6-EDE7-799D-C645-32C06CAE0375}"/>
              </a:ext>
            </a:extLst>
          </p:cNvPr>
          <p:cNvCxnSpPr>
            <a:cxnSpLocks/>
            <a:stCxn id="4" idx="2"/>
            <a:endCxn id="7" idx="0"/>
          </p:cNvCxnSpPr>
          <p:nvPr/>
        </p:nvCxnSpPr>
        <p:spPr>
          <a:xfrm flipH="1">
            <a:off x="4350776" y="996286"/>
            <a:ext cx="1745224" cy="1078173"/>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D514DD8-78A4-886B-285F-C655274F33C3}"/>
              </a:ext>
            </a:extLst>
          </p:cNvPr>
          <p:cNvCxnSpPr>
            <a:cxnSpLocks/>
            <a:stCxn id="4" idx="2"/>
            <a:endCxn id="8" idx="0"/>
          </p:cNvCxnSpPr>
          <p:nvPr/>
        </p:nvCxnSpPr>
        <p:spPr>
          <a:xfrm>
            <a:off x="6096000" y="996286"/>
            <a:ext cx="1745222" cy="107817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2254E23-01CA-5111-F239-2A98992D0329}"/>
              </a:ext>
            </a:extLst>
          </p:cNvPr>
          <p:cNvCxnSpPr>
            <a:cxnSpLocks/>
            <a:stCxn id="4" idx="2"/>
            <a:endCxn id="9" idx="0"/>
          </p:cNvCxnSpPr>
          <p:nvPr/>
        </p:nvCxnSpPr>
        <p:spPr>
          <a:xfrm>
            <a:off x="6096000" y="996286"/>
            <a:ext cx="3490446" cy="107817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271992B-ED92-3BEA-53EF-C91615EA3812}"/>
              </a:ext>
            </a:extLst>
          </p:cNvPr>
          <p:cNvCxnSpPr>
            <a:cxnSpLocks/>
            <a:stCxn id="4" idx="2"/>
            <a:endCxn id="10" idx="0"/>
          </p:cNvCxnSpPr>
          <p:nvPr/>
        </p:nvCxnSpPr>
        <p:spPr>
          <a:xfrm>
            <a:off x="6096000" y="996286"/>
            <a:ext cx="5204817" cy="107817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9B698BE-2487-3FAB-DEE0-E6339827F611}"/>
              </a:ext>
            </a:extLst>
          </p:cNvPr>
          <p:cNvSpPr txBox="1"/>
          <p:nvPr/>
        </p:nvSpPr>
        <p:spPr>
          <a:xfrm>
            <a:off x="11437034" y="6091311"/>
            <a:ext cx="576775" cy="584775"/>
          </a:xfrm>
          <a:prstGeom prst="rect">
            <a:avLst/>
          </a:prstGeom>
          <a:noFill/>
        </p:spPr>
        <p:txBody>
          <a:bodyPr wrap="square" rtlCol="0">
            <a:spAutoFit/>
          </a:bodyPr>
          <a:lstStyle/>
          <a:p>
            <a:r>
              <a:rPr lang="en-US" sz="3200" dirty="0">
                <a:solidFill>
                  <a:srgbClr val="FF0000"/>
                </a:solidFill>
              </a:rPr>
              <a:t>7</a:t>
            </a:r>
          </a:p>
        </p:txBody>
      </p:sp>
      <p:sp>
        <p:nvSpPr>
          <p:cNvPr id="32" name="Rectangle 31">
            <a:extLst>
              <a:ext uri="{FF2B5EF4-FFF2-40B4-BE49-F238E27FC236}">
                <a16:creationId xmlns:a16="http://schemas.microsoft.com/office/drawing/2014/main" id="{087E4B29-5A40-1606-DF2A-12B47D8FEF57}"/>
              </a:ext>
            </a:extLst>
          </p:cNvPr>
          <p:cNvSpPr/>
          <p:nvPr/>
        </p:nvSpPr>
        <p:spPr>
          <a:xfrm>
            <a:off x="5383008" y="2074460"/>
            <a:ext cx="1425984" cy="4392841"/>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400" b="1" dirty="0">
              <a:solidFill>
                <a:schemeClr val="bg1"/>
              </a:solidFill>
              <a:latin typeface="Arial" panose="020B0604020202020204" pitchFamily="34" charset="0"/>
              <a:cs typeface="Arial" panose="020B0604020202020204" pitchFamily="34" charset="0"/>
            </a:endParaRPr>
          </a:p>
          <a:p>
            <a:pPr algn="ctr"/>
            <a:r>
              <a:rPr lang="en-US" sz="2400" b="1" dirty="0">
                <a:solidFill>
                  <a:schemeClr val="bg1"/>
                </a:solidFill>
                <a:latin typeface="Arial" panose="020B0604020202020204" pitchFamily="34" charset="0"/>
                <a:cs typeface="Arial" panose="020B0604020202020204" pitchFamily="34" charset="0"/>
              </a:rPr>
              <a:t>C4:</a:t>
            </a:r>
          </a:p>
          <a:p>
            <a:pPr algn="ctr"/>
            <a:r>
              <a:rPr lang="en-US" sz="2400" b="1" dirty="0" err="1">
                <a:solidFill>
                  <a:schemeClr val="bg1"/>
                </a:solidFill>
                <a:latin typeface="Arial" panose="020B0604020202020204" pitchFamily="34" charset="0"/>
                <a:cs typeface="Arial" panose="020B0604020202020204" pitchFamily="34" charset="0"/>
              </a:rPr>
              <a:t>Phân</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tích</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thiết</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kế</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giải</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pháp</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đề</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xuất</a:t>
            </a:r>
            <a:endParaRPr lang="en-US" sz="2400" b="1" dirty="0">
              <a:solidFill>
                <a:schemeClr val="bg1"/>
              </a:solidFill>
              <a:latin typeface="Arial" panose="020B0604020202020204" pitchFamily="34" charset="0"/>
              <a:cs typeface="Arial" panose="020B0604020202020204" pitchFamily="34" charset="0"/>
            </a:endParaRPr>
          </a:p>
        </p:txBody>
      </p:sp>
      <p:cxnSp>
        <p:nvCxnSpPr>
          <p:cNvPr id="33" name="Straight Arrow Connector 32">
            <a:extLst>
              <a:ext uri="{FF2B5EF4-FFF2-40B4-BE49-F238E27FC236}">
                <a16:creationId xmlns:a16="http://schemas.microsoft.com/office/drawing/2014/main" id="{8948960D-A409-2672-F0E5-92CD88915342}"/>
              </a:ext>
            </a:extLst>
          </p:cNvPr>
          <p:cNvCxnSpPr>
            <a:cxnSpLocks/>
            <a:stCxn id="4" idx="2"/>
            <a:endCxn id="32" idx="0"/>
          </p:cNvCxnSpPr>
          <p:nvPr/>
        </p:nvCxnSpPr>
        <p:spPr>
          <a:xfrm>
            <a:off x="6096000" y="996286"/>
            <a:ext cx="0" cy="107817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2489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810A0-309E-31DA-3ACD-532300545A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3E9E46-7132-859F-4DD1-5339CE45805D}"/>
              </a:ext>
            </a:extLst>
          </p:cNvPr>
          <p:cNvSpPr txBox="1"/>
          <p:nvPr/>
        </p:nvSpPr>
        <p:spPr>
          <a:xfrm>
            <a:off x="117235" y="513393"/>
            <a:ext cx="6836735" cy="678199"/>
          </a:xfrm>
          <a:prstGeom prst="rect">
            <a:avLst/>
          </a:prstGeom>
          <a:noFill/>
        </p:spPr>
        <p:txBody>
          <a:bodyPr wrap="square">
            <a:spAutoFit/>
          </a:bodyPr>
          <a:lstStyle/>
          <a:p>
            <a:pPr algn="ct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Các </a:t>
            </a:r>
            <a:r>
              <a:rPr lang="en-US" sz="3200" b="1" dirty="0" err="1">
                <a:solidFill>
                  <a:srgbClr val="FF0000"/>
                </a:solidFill>
                <a:effectLst/>
                <a:latin typeface="Times New Roman" panose="02020603050405020304" pitchFamily="18" charset="0"/>
                <a:ea typeface="Calibri" panose="020F0502020204030204" pitchFamily="34" charset="0"/>
              </a:rPr>
              <a:t>hành</a:t>
            </a:r>
            <a:r>
              <a:rPr lang="en-US" sz="3200" b="1" dirty="0">
                <a:solidFill>
                  <a:srgbClr val="FF0000"/>
                </a:solidFill>
                <a:effectLst/>
                <a:latin typeface="Times New Roman" panose="02020603050405020304" pitchFamily="18" charset="0"/>
                <a:ea typeface="Calibri" panose="020F0502020204030204" pitchFamily="34" charset="0"/>
              </a:rPr>
              <a:t> vi </a:t>
            </a:r>
            <a:r>
              <a:rPr lang="en-US" sz="3200" b="1" dirty="0" err="1">
                <a:solidFill>
                  <a:srgbClr val="FF0000"/>
                </a:solidFill>
                <a:effectLst/>
                <a:latin typeface="Times New Roman" panose="02020603050405020304" pitchFamily="18" charset="0"/>
                <a:ea typeface="Calibri" panose="020F0502020204030204" pitchFamily="34" charset="0"/>
              </a:rPr>
              <a:t>đăng</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nhập</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bất</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thường</a:t>
            </a:r>
            <a:endParaRPr lang="en-US" sz="3200" dirty="0">
              <a:solidFill>
                <a:srgbClr val="FF0000"/>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0BF686D4-61FC-AB8B-25BA-0300DFE3F88D}"/>
              </a:ext>
            </a:extLst>
          </p:cNvPr>
          <p:cNvSpPr txBox="1"/>
          <p:nvPr/>
        </p:nvSpPr>
        <p:spPr>
          <a:xfrm>
            <a:off x="467834" y="1856518"/>
            <a:ext cx="6135539" cy="3638945"/>
          </a:xfrm>
          <a:prstGeom prst="rect">
            <a:avLst/>
          </a:prstGeom>
          <a:noFill/>
        </p:spPr>
        <p:txBody>
          <a:bodyPr wrap="square">
            <a:spAutoFit/>
          </a:bodyPr>
          <a:lstStyle/>
          <a:p>
            <a:pPr algn="just">
              <a:lnSpc>
                <a:spcPct val="200000"/>
              </a:lnSpc>
              <a:spcAft>
                <a:spcPts val="600"/>
              </a:spcAft>
            </a:pPr>
            <a:r>
              <a:rPr lang="en-US" sz="2800" dirty="0">
                <a:latin typeface="Times New Roman" panose="02020603050405020304" pitchFamily="18" charset="0"/>
                <a:ea typeface="Times New Roman" panose="02020603050405020304" pitchFamily="18" charset="0"/>
              </a:rPr>
              <a:t>-</a:t>
            </a:r>
            <a:r>
              <a:rPr lang="vi-VN" sz="2800" dirty="0">
                <a:effectLst/>
                <a:latin typeface="Times New Roman" panose="02020603050405020304" pitchFamily="18" charset="0"/>
                <a:ea typeface="Times New Roman" panose="02020603050405020304" pitchFamily="18" charset="0"/>
              </a:rPr>
              <a:t> Đăng nhập từ vị trí địa lý bất thường</a:t>
            </a:r>
            <a:endParaRPr lang="en-US" sz="2800" dirty="0">
              <a:latin typeface="Calibri" panose="020F0502020204030204" pitchFamily="34" charset="0"/>
              <a:ea typeface="Times New Roman" panose="02020603050405020304" pitchFamily="18" charset="0"/>
            </a:endParaRPr>
          </a:p>
          <a:p>
            <a:pPr algn="just">
              <a:lnSpc>
                <a:spcPct val="200000"/>
              </a:lnSpc>
              <a:spcAft>
                <a:spcPts val="600"/>
              </a:spcAft>
            </a:pPr>
            <a:r>
              <a:rPr lang="en-US" sz="2800" dirty="0">
                <a:latin typeface="Times New Roman" panose="02020603050405020304" pitchFamily="18" charset="0"/>
                <a:ea typeface="Times New Roman" panose="02020603050405020304" pitchFamily="18" charset="0"/>
              </a:rPr>
              <a:t>-</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Đăng</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nhập</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vào</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thời</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gian</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không</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phù</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hợp</a:t>
            </a:r>
            <a:r>
              <a:rPr lang="en-US" sz="2800" dirty="0">
                <a:effectLst/>
                <a:latin typeface="Times New Roman" panose="02020603050405020304" pitchFamily="18" charset="0"/>
                <a:ea typeface="Times New Roman" panose="02020603050405020304" pitchFamily="18" charset="0"/>
              </a:rPr>
              <a:t> </a:t>
            </a:r>
          </a:p>
          <a:p>
            <a:pPr algn="just">
              <a:lnSpc>
                <a:spcPct val="200000"/>
              </a:lnSpc>
              <a:spcAft>
                <a:spcPts val="600"/>
              </a:spcAft>
            </a:pPr>
            <a:r>
              <a:rPr lang="en-US" sz="2800" dirty="0">
                <a:latin typeface="Times New Roman" panose="02020603050405020304" pitchFamily="18" charset="0"/>
                <a:ea typeface="Times New Roman" panose="02020603050405020304" pitchFamily="18" charset="0"/>
              </a:rPr>
              <a:t>-</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Đăng</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nhập</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nhiều</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lần</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không</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thành</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công</a:t>
            </a:r>
            <a:r>
              <a:rPr lang="en-US" sz="2800" dirty="0">
                <a:effectLst/>
                <a:latin typeface="Times New Roman" panose="02020603050405020304" pitchFamily="18" charset="0"/>
                <a:ea typeface="Times New Roman" panose="02020603050405020304" pitchFamily="18" charset="0"/>
              </a:rPr>
              <a:t> </a:t>
            </a:r>
          </a:p>
          <a:p>
            <a:pPr algn="just">
              <a:lnSpc>
                <a:spcPct val="200000"/>
              </a:lnSpc>
              <a:spcAft>
                <a:spcPts val="600"/>
              </a:spcAft>
            </a:pPr>
            <a:r>
              <a:rPr lang="en-US" sz="2800" dirty="0">
                <a:latin typeface="Times New Roman" panose="02020603050405020304" pitchFamily="18" charset="0"/>
                <a:ea typeface="Times New Roman" panose="02020603050405020304" pitchFamily="18" charset="0"/>
              </a:rPr>
              <a:t>-</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Đăng</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nhập</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từ</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thiết</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bị</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lạ</a:t>
            </a:r>
            <a:r>
              <a:rPr lang="en-US" sz="2800" dirty="0">
                <a:effectLst/>
                <a:latin typeface="Times New Roman" panose="02020603050405020304" pitchFamily="18" charset="0"/>
                <a:ea typeface="Times New Roman" panose="02020603050405020304" pitchFamily="18" charset="0"/>
              </a:rPr>
              <a:t> </a:t>
            </a:r>
          </a:p>
        </p:txBody>
      </p:sp>
      <p:pic>
        <p:nvPicPr>
          <p:cNvPr id="2050" name="Picture 2" descr="Việt Nam đứng thứ 21 thế giới về các vụ tấn công, lừa đảo qua mạng - Nhịp  sống kinh tế Việt Nam &amp; Thế giới">
            <a:extLst>
              <a:ext uri="{FF2B5EF4-FFF2-40B4-BE49-F238E27FC236}">
                <a16:creationId xmlns:a16="http://schemas.microsoft.com/office/drawing/2014/main" id="{5BA1F319-E3B9-D4E0-2BDC-1FE98683B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3373" y="1756263"/>
            <a:ext cx="5601031" cy="31449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27ECCE9-8BC9-CE9D-2CE2-841A06B709FD}"/>
              </a:ext>
            </a:extLst>
          </p:cNvPr>
          <p:cNvSpPr txBox="1"/>
          <p:nvPr/>
        </p:nvSpPr>
        <p:spPr>
          <a:xfrm>
            <a:off x="11437034" y="6091311"/>
            <a:ext cx="576775" cy="584775"/>
          </a:xfrm>
          <a:prstGeom prst="rect">
            <a:avLst/>
          </a:prstGeom>
          <a:noFill/>
        </p:spPr>
        <p:txBody>
          <a:bodyPr wrap="square" rtlCol="0">
            <a:spAutoFit/>
          </a:bodyPr>
          <a:lstStyle/>
          <a:p>
            <a:r>
              <a:rPr lang="en-US" sz="3200" dirty="0">
                <a:solidFill>
                  <a:srgbClr val="FF0000"/>
                </a:solidFill>
              </a:rPr>
              <a:t>8</a:t>
            </a:r>
          </a:p>
        </p:txBody>
      </p:sp>
    </p:spTree>
    <p:extLst>
      <p:ext uri="{BB962C8B-B14F-4D97-AF65-F5344CB8AC3E}">
        <p14:creationId xmlns:p14="http://schemas.microsoft.com/office/powerpoint/2010/main" val="4749855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B4162-4AA9-40BB-4475-AEFCE6C02F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7E9548-9F6A-68F0-EA3C-D990F43D9183}"/>
              </a:ext>
            </a:extLst>
          </p:cNvPr>
          <p:cNvSpPr txBox="1"/>
          <p:nvPr/>
        </p:nvSpPr>
        <p:spPr>
          <a:xfrm>
            <a:off x="0" y="162518"/>
            <a:ext cx="5284381" cy="678199"/>
          </a:xfrm>
          <a:prstGeom prst="rect">
            <a:avLst/>
          </a:prstGeom>
          <a:noFill/>
        </p:spPr>
        <p:txBody>
          <a:bodyPr wrap="square">
            <a:spAutoFit/>
          </a:bodyPr>
          <a:lstStyle/>
          <a:p>
            <a:pPr algn="ct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Công </a:t>
            </a:r>
            <a:r>
              <a:rPr lang="en-US" sz="3200" b="1" dirty="0" err="1">
                <a:solidFill>
                  <a:srgbClr val="FF0000"/>
                </a:solidFill>
                <a:effectLst/>
                <a:latin typeface="Times New Roman" panose="02020603050405020304" pitchFamily="18" charset="0"/>
                <a:ea typeface="Calibri" panose="020F0502020204030204" pitchFamily="34" charset="0"/>
              </a:rPr>
              <a:t>trình</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có</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liên</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quan</a:t>
            </a:r>
            <a:endParaRPr lang="en-US" sz="3200" dirty="0">
              <a:solidFill>
                <a:srgbClr val="FF0000"/>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12C352A3-7740-0BF9-A60B-AA45533862F8}"/>
              </a:ext>
            </a:extLst>
          </p:cNvPr>
          <p:cNvSpPr txBox="1"/>
          <p:nvPr/>
        </p:nvSpPr>
        <p:spPr>
          <a:xfrm>
            <a:off x="914401" y="947043"/>
            <a:ext cx="10664456" cy="5637954"/>
          </a:xfrm>
          <a:prstGeom prst="rect">
            <a:avLst/>
          </a:prstGeom>
          <a:noFill/>
        </p:spPr>
        <p:txBody>
          <a:bodyPr wrap="square">
            <a:spAutoFit/>
          </a:bodyPr>
          <a:lstStyle/>
          <a:p>
            <a:pPr algn="just">
              <a:lnSpc>
                <a:spcPct val="130000"/>
              </a:lnSpc>
            </a:pPr>
            <a:r>
              <a:rPr lang="vi-VN" sz="2800" dirty="0">
                <a:effectLst/>
                <a:latin typeface="Times New Roman" panose="02020603050405020304" pitchFamily="18" charset="0"/>
                <a:ea typeface="Times New Roman" panose="02020603050405020304" pitchFamily="18" charset="0"/>
              </a:rPr>
              <a:t>1. Phân tích hành vi đăng nhập của người dùng và phát hiện bất thường bằng cách sử dụng máy học</a:t>
            </a:r>
            <a:r>
              <a:rPr lang="en-US" sz="2800" dirty="0">
                <a:effectLst/>
                <a:latin typeface="Times New Roman" panose="02020603050405020304" pitchFamily="18" charset="0"/>
                <a:ea typeface="Times New Roman" panose="02020603050405020304" pitchFamily="18" charset="0"/>
              </a:rPr>
              <a:t> [7] </a:t>
            </a:r>
          </a:p>
          <a:p>
            <a:pPr algn="just">
              <a:lnSpc>
                <a:spcPct val="130000"/>
              </a:lnSpc>
            </a:pPr>
            <a:r>
              <a:rPr lang="vi-VN" sz="2800" dirty="0">
                <a:effectLst/>
                <a:latin typeface="Times New Roman" panose="02020603050405020304" pitchFamily="18" charset="0"/>
                <a:ea typeface="Times New Roman" panose="02020603050405020304" pitchFamily="18" charset="0"/>
              </a:rPr>
              <a:t>2. Phát hiện bất thường trong dữ liệu đăng nhập</a:t>
            </a:r>
            <a:r>
              <a:rPr lang="en-US" sz="2800" dirty="0">
                <a:effectLst/>
                <a:latin typeface="Times New Roman" panose="02020603050405020304" pitchFamily="18" charset="0"/>
                <a:ea typeface="Times New Roman" panose="02020603050405020304" pitchFamily="18" charset="0"/>
              </a:rPr>
              <a:t> [8] </a:t>
            </a:r>
          </a:p>
          <a:p>
            <a:pPr algn="just">
              <a:lnSpc>
                <a:spcPct val="130000"/>
              </a:lnSpc>
            </a:pPr>
            <a:r>
              <a:rPr lang="en-US" sz="2800" dirty="0">
                <a:effectLst/>
                <a:latin typeface="Times New Roman" panose="02020603050405020304" pitchFamily="18" charset="0"/>
                <a:ea typeface="Times New Roman" panose="02020603050405020304" pitchFamily="18" charset="0"/>
              </a:rPr>
              <a:t>3. </a:t>
            </a:r>
            <a:r>
              <a:rPr lang="vi-VN" sz="2800" dirty="0">
                <a:effectLst/>
                <a:latin typeface="Times New Roman" panose="02020603050405020304" pitchFamily="18" charset="0"/>
                <a:ea typeface="Times New Roman" panose="02020603050405020304" pitchFamily="18" charset="0"/>
              </a:rPr>
              <a:t>Vai trò của phát hiện bất thường trong bảo mật API: Một phương pháp tiếp cận học máy</a:t>
            </a:r>
            <a:r>
              <a:rPr lang="en-US" sz="2800" dirty="0">
                <a:effectLst/>
                <a:latin typeface="Times New Roman" panose="02020603050405020304" pitchFamily="18" charset="0"/>
                <a:ea typeface="Times New Roman" panose="02020603050405020304" pitchFamily="18" charset="0"/>
              </a:rPr>
              <a:t> [9] </a:t>
            </a:r>
          </a:p>
          <a:p>
            <a:pPr algn="just">
              <a:lnSpc>
                <a:spcPct val="130000"/>
              </a:lnSpc>
            </a:pPr>
            <a:r>
              <a:rPr lang="vi-VN" sz="2800" dirty="0">
                <a:effectLst/>
                <a:latin typeface="Times New Roman" panose="02020603050405020304" pitchFamily="18" charset="0"/>
                <a:ea typeface="Times New Roman" panose="02020603050405020304" pitchFamily="18" charset="0"/>
              </a:rPr>
              <a:t>4. Phát hiện dị thường lệnh gọi API bằng cách sử dụng máy học: Đánh giá tài liệu có hệ thống</a:t>
            </a:r>
            <a:r>
              <a:rPr lang="en-US" sz="2800" dirty="0">
                <a:effectLst/>
                <a:latin typeface="Times New Roman" panose="02020603050405020304" pitchFamily="18" charset="0"/>
                <a:ea typeface="Times New Roman" panose="02020603050405020304" pitchFamily="18" charset="0"/>
              </a:rPr>
              <a:t> [10] </a:t>
            </a:r>
          </a:p>
          <a:p>
            <a:pPr algn="just">
              <a:lnSpc>
                <a:spcPct val="130000"/>
              </a:lnSpc>
            </a:pPr>
            <a:r>
              <a:rPr lang="vi-VN" sz="2800" dirty="0">
                <a:effectLst/>
                <a:latin typeface="Times New Roman" panose="02020603050405020304" pitchFamily="18" charset="0"/>
                <a:ea typeface="Times New Roman" panose="02020603050405020304" pitchFamily="18" charset="0"/>
              </a:rPr>
              <a:t>5. Tăng cường an ninh mạng thông qua phát hiện bất thường dựa trên máy học</a:t>
            </a:r>
            <a:r>
              <a:rPr lang="en-US" sz="2800" dirty="0">
                <a:effectLst/>
                <a:latin typeface="Times New Roman" panose="02020603050405020304" pitchFamily="18" charset="0"/>
                <a:ea typeface="Times New Roman" panose="02020603050405020304" pitchFamily="18" charset="0"/>
              </a:rPr>
              <a:t> [12] </a:t>
            </a:r>
          </a:p>
          <a:p>
            <a:pPr algn="just">
              <a:lnSpc>
                <a:spcPct val="130000"/>
              </a:lnSpc>
            </a:pPr>
            <a:r>
              <a:rPr lang="vi-VN" sz="2800" dirty="0">
                <a:effectLst/>
                <a:latin typeface="Times New Roman" panose="02020603050405020304" pitchFamily="18" charset="0"/>
                <a:ea typeface="Times New Roman" panose="02020603050405020304" pitchFamily="18" charset="0"/>
              </a:rPr>
              <a:t>6. Dự án mã nguồn mở Phát hiện bất thường trong xác thực web</a:t>
            </a:r>
            <a:r>
              <a:rPr lang="en-US" sz="2800" dirty="0">
                <a:effectLst/>
                <a:latin typeface="Times New Roman" panose="02020603050405020304" pitchFamily="18" charset="0"/>
                <a:ea typeface="Times New Roman" panose="02020603050405020304" pitchFamily="18" charset="0"/>
              </a:rPr>
              <a:t> [13]</a:t>
            </a:r>
          </a:p>
        </p:txBody>
      </p:sp>
      <p:sp>
        <p:nvSpPr>
          <p:cNvPr id="6" name="TextBox 5">
            <a:extLst>
              <a:ext uri="{FF2B5EF4-FFF2-40B4-BE49-F238E27FC236}">
                <a16:creationId xmlns:a16="http://schemas.microsoft.com/office/drawing/2014/main" id="{A6DF3AD7-630E-5704-0B92-36007DBCD767}"/>
              </a:ext>
            </a:extLst>
          </p:cNvPr>
          <p:cNvSpPr txBox="1"/>
          <p:nvPr/>
        </p:nvSpPr>
        <p:spPr>
          <a:xfrm>
            <a:off x="11437034" y="6091311"/>
            <a:ext cx="576775" cy="584775"/>
          </a:xfrm>
          <a:prstGeom prst="rect">
            <a:avLst/>
          </a:prstGeom>
          <a:noFill/>
        </p:spPr>
        <p:txBody>
          <a:bodyPr wrap="square" rtlCol="0">
            <a:spAutoFit/>
          </a:bodyPr>
          <a:lstStyle/>
          <a:p>
            <a:r>
              <a:rPr lang="en-US" sz="3200" dirty="0">
                <a:solidFill>
                  <a:srgbClr val="FF0000"/>
                </a:solidFill>
              </a:rPr>
              <a:t>9</a:t>
            </a:r>
          </a:p>
        </p:txBody>
      </p:sp>
    </p:spTree>
    <p:extLst>
      <p:ext uri="{BB962C8B-B14F-4D97-AF65-F5344CB8AC3E}">
        <p14:creationId xmlns:p14="http://schemas.microsoft.com/office/powerpoint/2010/main" val="644341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93B1A-4723-ABAF-7A09-BF65E99662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292D1A-0C52-3EE0-8B38-721B3E67D4C2}"/>
              </a:ext>
            </a:extLst>
          </p:cNvPr>
          <p:cNvSpPr txBox="1"/>
          <p:nvPr/>
        </p:nvSpPr>
        <p:spPr>
          <a:xfrm>
            <a:off x="0" y="162518"/>
            <a:ext cx="5284381" cy="678199"/>
          </a:xfrm>
          <a:prstGeom prst="rect">
            <a:avLst/>
          </a:prstGeom>
          <a:noFill/>
        </p:spPr>
        <p:txBody>
          <a:bodyPr wrap="square">
            <a:spAutoFit/>
          </a:bodyPr>
          <a:lstStyle/>
          <a:p>
            <a:pPr algn="ct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Công </a:t>
            </a:r>
            <a:r>
              <a:rPr lang="en-US" sz="3200" b="1" dirty="0" err="1">
                <a:solidFill>
                  <a:srgbClr val="FF0000"/>
                </a:solidFill>
                <a:effectLst/>
                <a:latin typeface="Times New Roman" panose="02020603050405020304" pitchFamily="18" charset="0"/>
                <a:ea typeface="Calibri" panose="020F0502020204030204" pitchFamily="34" charset="0"/>
              </a:rPr>
              <a:t>trình</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có</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liên</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quan</a:t>
            </a:r>
            <a:endParaRPr lang="en-US" sz="3200" dirty="0">
              <a:solidFill>
                <a:srgbClr val="FF0000"/>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64550CE1-26E6-637A-BE2F-5342EB1A3B8F}"/>
              </a:ext>
            </a:extLst>
          </p:cNvPr>
          <p:cNvSpPr txBox="1"/>
          <p:nvPr/>
        </p:nvSpPr>
        <p:spPr>
          <a:xfrm>
            <a:off x="914401" y="947043"/>
            <a:ext cx="10664456" cy="5637954"/>
          </a:xfrm>
          <a:prstGeom prst="rect">
            <a:avLst/>
          </a:prstGeom>
          <a:noFill/>
        </p:spPr>
        <p:txBody>
          <a:bodyPr wrap="square">
            <a:spAutoFit/>
          </a:bodyPr>
          <a:lstStyle/>
          <a:p>
            <a:pPr algn="just">
              <a:lnSpc>
                <a:spcPct val="130000"/>
              </a:lnSpc>
            </a:pPr>
            <a:r>
              <a:rPr lang="vi-VN" sz="2800" dirty="0">
                <a:effectLst/>
                <a:latin typeface="Times New Roman" panose="02020603050405020304" pitchFamily="18" charset="0"/>
                <a:ea typeface="Times New Roman" panose="02020603050405020304" pitchFamily="18" charset="0"/>
              </a:rPr>
              <a:t>1. Phân tích hành vi đăng nhập của người dùng và phát hiện bất thường bằng cách sử dụng máy học</a:t>
            </a:r>
            <a:r>
              <a:rPr lang="en-US" sz="2800" dirty="0">
                <a:effectLst/>
                <a:latin typeface="Times New Roman" panose="02020603050405020304" pitchFamily="18" charset="0"/>
                <a:ea typeface="Times New Roman" panose="02020603050405020304" pitchFamily="18" charset="0"/>
              </a:rPr>
              <a:t> [7] </a:t>
            </a:r>
          </a:p>
          <a:p>
            <a:pPr algn="just">
              <a:lnSpc>
                <a:spcPct val="130000"/>
              </a:lnSpc>
            </a:pPr>
            <a:r>
              <a:rPr lang="vi-VN" sz="2800" dirty="0">
                <a:effectLst/>
                <a:latin typeface="Times New Roman" panose="02020603050405020304" pitchFamily="18" charset="0"/>
                <a:ea typeface="Times New Roman" panose="02020603050405020304" pitchFamily="18" charset="0"/>
              </a:rPr>
              <a:t>2. Phát hiện bất thường trong dữ liệu đăng nhập</a:t>
            </a:r>
            <a:r>
              <a:rPr lang="en-US" sz="2800" dirty="0">
                <a:effectLst/>
                <a:latin typeface="Times New Roman" panose="02020603050405020304" pitchFamily="18" charset="0"/>
                <a:ea typeface="Times New Roman" panose="02020603050405020304" pitchFamily="18" charset="0"/>
              </a:rPr>
              <a:t> [8] </a:t>
            </a:r>
          </a:p>
          <a:p>
            <a:pPr algn="just">
              <a:lnSpc>
                <a:spcPct val="130000"/>
              </a:lnSpc>
            </a:pPr>
            <a:r>
              <a:rPr lang="en-US" sz="2800" dirty="0">
                <a:effectLst/>
                <a:latin typeface="Times New Roman" panose="02020603050405020304" pitchFamily="18" charset="0"/>
                <a:ea typeface="Times New Roman" panose="02020603050405020304" pitchFamily="18" charset="0"/>
              </a:rPr>
              <a:t>3. </a:t>
            </a:r>
            <a:r>
              <a:rPr lang="vi-VN" sz="2800" dirty="0">
                <a:effectLst/>
                <a:latin typeface="Times New Roman" panose="02020603050405020304" pitchFamily="18" charset="0"/>
                <a:ea typeface="Times New Roman" panose="02020603050405020304" pitchFamily="18" charset="0"/>
              </a:rPr>
              <a:t>Vai trò của phát hiện bất thường trong bảo mật API: Một phương pháp tiếp cận học máy</a:t>
            </a:r>
            <a:r>
              <a:rPr lang="en-US" sz="2800" dirty="0">
                <a:effectLst/>
                <a:latin typeface="Times New Roman" panose="02020603050405020304" pitchFamily="18" charset="0"/>
                <a:ea typeface="Times New Roman" panose="02020603050405020304" pitchFamily="18" charset="0"/>
              </a:rPr>
              <a:t> [9] </a:t>
            </a:r>
          </a:p>
          <a:p>
            <a:pPr algn="just">
              <a:lnSpc>
                <a:spcPct val="130000"/>
              </a:lnSpc>
            </a:pPr>
            <a:r>
              <a:rPr lang="vi-VN" sz="2800" dirty="0">
                <a:effectLst/>
                <a:latin typeface="Times New Roman" panose="02020603050405020304" pitchFamily="18" charset="0"/>
                <a:ea typeface="Times New Roman" panose="02020603050405020304" pitchFamily="18" charset="0"/>
              </a:rPr>
              <a:t>4. Phát hiện dị thường lệnh gọi API bằng cách sử dụng máy học: Đánh giá tài liệu có hệ thống</a:t>
            </a:r>
            <a:r>
              <a:rPr lang="en-US" sz="2800" dirty="0">
                <a:effectLst/>
                <a:latin typeface="Times New Roman" panose="02020603050405020304" pitchFamily="18" charset="0"/>
                <a:ea typeface="Times New Roman" panose="02020603050405020304" pitchFamily="18" charset="0"/>
              </a:rPr>
              <a:t> [10] </a:t>
            </a:r>
          </a:p>
          <a:p>
            <a:pPr algn="just">
              <a:lnSpc>
                <a:spcPct val="130000"/>
              </a:lnSpc>
            </a:pPr>
            <a:r>
              <a:rPr lang="vi-VN" sz="2800" dirty="0">
                <a:effectLst/>
                <a:latin typeface="Times New Roman" panose="02020603050405020304" pitchFamily="18" charset="0"/>
                <a:ea typeface="Times New Roman" panose="02020603050405020304" pitchFamily="18" charset="0"/>
              </a:rPr>
              <a:t>5. Tăng cường an ninh mạng thông qua phát hiện bất thường dựa trên máy học</a:t>
            </a:r>
            <a:r>
              <a:rPr lang="en-US" sz="2800" dirty="0">
                <a:effectLst/>
                <a:latin typeface="Times New Roman" panose="02020603050405020304" pitchFamily="18" charset="0"/>
                <a:ea typeface="Times New Roman" panose="02020603050405020304" pitchFamily="18" charset="0"/>
              </a:rPr>
              <a:t> [12] </a:t>
            </a:r>
          </a:p>
          <a:p>
            <a:pPr algn="just">
              <a:lnSpc>
                <a:spcPct val="130000"/>
              </a:lnSpc>
            </a:pPr>
            <a:r>
              <a:rPr lang="vi-VN" sz="2800" b="1" dirty="0">
                <a:effectLst/>
                <a:latin typeface="Times New Roman" panose="02020603050405020304" pitchFamily="18" charset="0"/>
                <a:ea typeface="Times New Roman" panose="02020603050405020304" pitchFamily="18" charset="0"/>
              </a:rPr>
              <a:t>6. Dự án mã nguồn mở Phát hiện bất thường trong xác thực web</a:t>
            </a:r>
            <a:r>
              <a:rPr lang="en-US" sz="2800" b="1" dirty="0">
                <a:effectLst/>
                <a:latin typeface="Times New Roman" panose="02020603050405020304" pitchFamily="18" charset="0"/>
                <a:ea typeface="Times New Roman" panose="02020603050405020304" pitchFamily="18" charset="0"/>
              </a:rPr>
              <a:t> [13]</a:t>
            </a:r>
          </a:p>
        </p:txBody>
      </p:sp>
      <p:sp>
        <p:nvSpPr>
          <p:cNvPr id="6" name="TextBox 5">
            <a:extLst>
              <a:ext uri="{FF2B5EF4-FFF2-40B4-BE49-F238E27FC236}">
                <a16:creationId xmlns:a16="http://schemas.microsoft.com/office/drawing/2014/main" id="{F79218E0-E6DA-D336-C157-FDBEF37DFD64}"/>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9</a:t>
            </a:r>
          </a:p>
        </p:txBody>
      </p:sp>
    </p:spTree>
    <p:extLst>
      <p:ext uri="{BB962C8B-B14F-4D97-AF65-F5344CB8AC3E}">
        <p14:creationId xmlns:p14="http://schemas.microsoft.com/office/powerpoint/2010/main" val="20746398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repeatCount="indefinite" fill="remove" nodeType="withEffect">
                                  <p:stCondLst>
                                    <p:cond delay="0"/>
                                  </p:stCondLst>
                                  <p:endCondLst>
                                    <p:cond evt="onNext" delay="0">
                                      <p:tgtEl>
                                        <p:sldTgt/>
                                      </p:tgtEl>
                                    </p:cond>
                                  </p:endCondLst>
                                  <p:childTnLst>
                                    <p:animClr clrSpc="rgb" dir="cw">
                                      <p:cBhvr override="childStyle">
                                        <p:cTn id="6" dur="250" autoRev="1" fill="remove"/>
                                        <p:tgtEl>
                                          <p:spTgt spid="4">
                                            <p:txEl>
                                              <p:pRg st="5" end="5"/>
                                            </p:txEl>
                                          </p:spTgt>
                                        </p:tgtEl>
                                        <p:attrNameLst>
                                          <p:attrName>style.color</p:attrName>
                                        </p:attrNameLst>
                                      </p:cBhvr>
                                      <p:to>
                                        <a:schemeClr val="bg1"/>
                                      </p:to>
                                    </p:animClr>
                                    <p:animClr clrSpc="rgb" dir="cw">
                                      <p:cBhvr>
                                        <p:cTn id="7" dur="250" autoRev="1" fill="remove"/>
                                        <p:tgtEl>
                                          <p:spTgt spid="4">
                                            <p:txEl>
                                              <p:pRg st="5" end="5"/>
                                            </p:txEl>
                                          </p:spTgt>
                                        </p:tgtEl>
                                        <p:attrNameLst>
                                          <p:attrName>fillcolor</p:attrName>
                                        </p:attrNameLst>
                                      </p:cBhvr>
                                      <p:to>
                                        <a:schemeClr val="bg1"/>
                                      </p:to>
                                    </p:animClr>
                                    <p:set>
                                      <p:cBhvr>
                                        <p:cTn id="8" dur="250" autoRev="1" fill="remove"/>
                                        <p:tgtEl>
                                          <p:spTgt spid="4">
                                            <p:txEl>
                                              <p:pRg st="5" end="5"/>
                                            </p:txEl>
                                          </p:spTgt>
                                        </p:tgtEl>
                                        <p:attrNameLst>
                                          <p:attrName>fill.type</p:attrName>
                                        </p:attrNameLst>
                                      </p:cBhvr>
                                      <p:to>
                                        <p:strVal val="solid"/>
                                      </p:to>
                                    </p:set>
                                    <p:set>
                                      <p:cBhvr>
                                        <p:cTn id="9" dur="250" autoRev="1" fill="remove"/>
                                        <p:tgtEl>
                                          <p:spTgt spid="4">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B858-D273-4014-B493-D6575F6D37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BE36A4-411C-77AF-28C2-A59FF755DDB7}"/>
              </a:ext>
            </a:extLst>
          </p:cNvPr>
          <p:cNvSpPr txBox="1"/>
          <p:nvPr/>
        </p:nvSpPr>
        <p:spPr>
          <a:xfrm>
            <a:off x="287079" y="151886"/>
            <a:ext cx="6783572" cy="678199"/>
          </a:xfrm>
          <a:prstGeom prst="rect">
            <a:avLst/>
          </a:prstGeom>
          <a:noFill/>
        </p:spPr>
        <p:txBody>
          <a:bodyPr wrap="square">
            <a:spAutoFit/>
          </a:bodyPr>
          <a:lstStyle/>
          <a:p>
            <a:pPr algn="ctr">
              <a:lnSpc>
                <a:spcPct val="130000"/>
              </a:lnSpc>
              <a:spcAft>
                <a:spcPts val="800"/>
              </a:spcAft>
              <a:buNone/>
            </a:pPr>
            <a:r>
              <a:rPr lang="en-US" sz="3200" b="1" dirty="0" err="1">
                <a:solidFill>
                  <a:srgbClr val="FF0000"/>
                </a:solidFill>
                <a:effectLst/>
                <a:latin typeface="Times New Roman" panose="02020603050405020304" pitchFamily="18" charset="0"/>
                <a:ea typeface="Calibri" panose="020F0502020204030204" pitchFamily="34" charset="0"/>
              </a:rPr>
              <a:t>Hướng</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tập</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trung</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nghiên</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cứu</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cải</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tiến</a:t>
            </a:r>
            <a:endParaRPr lang="en-US" sz="3200" dirty="0">
              <a:solidFill>
                <a:srgbClr val="FF0000"/>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447619F0-D3C6-42EF-CAC8-F19DA8CD0A29}"/>
              </a:ext>
            </a:extLst>
          </p:cNvPr>
          <p:cNvSpPr txBox="1"/>
          <p:nvPr/>
        </p:nvSpPr>
        <p:spPr>
          <a:xfrm>
            <a:off x="914401" y="1255387"/>
            <a:ext cx="4391246" cy="4539191"/>
          </a:xfrm>
          <a:prstGeom prst="rect">
            <a:avLst/>
          </a:prstGeom>
          <a:noFill/>
        </p:spPr>
        <p:txBody>
          <a:bodyPr wrap="square">
            <a:spAutoFit/>
          </a:bodyPr>
          <a:lstStyle/>
          <a:p>
            <a:pPr algn="just">
              <a:lnSpc>
                <a:spcPct val="150000"/>
              </a:lnSpc>
            </a:pPr>
            <a:r>
              <a:rPr lang="vi-VN" sz="2800" dirty="0">
                <a:effectLst/>
                <a:latin typeface="Times New Roman" panose="02020603050405020304" pitchFamily="18" charset="0"/>
                <a:ea typeface="Times New Roman" panose="02020603050405020304" pitchFamily="18" charset="0"/>
              </a:rPr>
              <a:t>1. Logistic regression</a:t>
            </a:r>
            <a:r>
              <a:rPr lang="en-US" sz="2800" dirty="0">
                <a:effectLst/>
                <a:latin typeface="Times New Roman" panose="02020603050405020304" pitchFamily="18" charset="0"/>
                <a:ea typeface="Times New Roman" panose="02020603050405020304" pitchFamily="18" charset="0"/>
              </a:rPr>
              <a:t> </a:t>
            </a:r>
          </a:p>
          <a:p>
            <a:pPr algn="just">
              <a:lnSpc>
                <a:spcPct val="150000"/>
              </a:lnSpc>
            </a:pPr>
            <a:endParaRPr lang="en-US" sz="2800" dirty="0">
              <a:effectLst/>
              <a:latin typeface="Times New Roman" panose="02020603050405020304" pitchFamily="18" charset="0"/>
              <a:ea typeface="Times New Roman" panose="02020603050405020304" pitchFamily="18" charset="0"/>
            </a:endParaRPr>
          </a:p>
          <a:p>
            <a:pPr algn="just">
              <a:lnSpc>
                <a:spcPct val="150000"/>
              </a:lnSpc>
            </a:pPr>
            <a:r>
              <a:rPr lang="en-US" sz="2800" dirty="0">
                <a:effectLst/>
                <a:latin typeface="Times New Roman" panose="02020603050405020304" pitchFamily="18" charset="0"/>
                <a:ea typeface="Times New Roman" panose="02020603050405020304" pitchFamily="18" charset="0"/>
              </a:rPr>
              <a:t>2. Support Vector Machine</a:t>
            </a:r>
          </a:p>
          <a:p>
            <a:pPr algn="just">
              <a:lnSpc>
                <a:spcPct val="150000"/>
              </a:lnSpc>
            </a:pPr>
            <a:endParaRPr lang="en-US" sz="2800" dirty="0">
              <a:effectLst/>
              <a:latin typeface="Times New Roman" panose="02020603050405020304" pitchFamily="18" charset="0"/>
              <a:ea typeface="Times New Roman" panose="02020603050405020304" pitchFamily="18" charset="0"/>
            </a:endParaRPr>
          </a:p>
          <a:p>
            <a:pPr algn="just">
              <a:lnSpc>
                <a:spcPct val="150000"/>
              </a:lnSpc>
            </a:pPr>
            <a:r>
              <a:rPr lang="en-US" sz="2800" dirty="0">
                <a:latin typeface="Times New Roman" panose="02020603050405020304" pitchFamily="18" charset="0"/>
                <a:ea typeface="Times New Roman" panose="02020603050405020304" pitchFamily="18" charset="0"/>
              </a:rPr>
              <a:t>3. </a:t>
            </a:r>
            <a:r>
              <a:rPr lang="en-US" sz="2800" dirty="0">
                <a:effectLst/>
                <a:latin typeface="Times New Roman" panose="02020603050405020304" pitchFamily="18" charset="0"/>
                <a:ea typeface="Times New Roman" panose="02020603050405020304" pitchFamily="18" charset="0"/>
              </a:rPr>
              <a:t>Random Forest</a:t>
            </a:r>
          </a:p>
          <a:p>
            <a:pPr algn="just">
              <a:lnSpc>
                <a:spcPct val="150000"/>
              </a:lnSpc>
            </a:pPr>
            <a:endParaRPr lang="en-US" sz="2800" dirty="0">
              <a:effectLst/>
              <a:latin typeface="Times New Roman" panose="02020603050405020304" pitchFamily="18" charset="0"/>
              <a:ea typeface="Times New Roman" panose="02020603050405020304" pitchFamily="18" charset="0"/>
            </a:endParaRPr>
          </a:p>
          <a:p>
            <a:pPr algn="just">
              <a:lnSpc>
                <a:spcPct val="150000"/>
              </a:lnSpc>
            </a:pPr>
            <a:r>
              <a:rPr lang="en-US" sz="2800" dirty="0">
                <a:latin typeface="Times New Roman" panose="02020603050405020304" pitchFamily="18" charset="0"/>
                <a:ea typeface="Times New Roman" panose="02020603050405020304" pitchFamily="18" charset="0"/>
              </a:rPr>
              <a:t>4. </a:t>
            </a:r>
            <a:r>
              <a:rPr lang="en-US" sz="2800" dirty="0">
                <a:effectLst/>
                <a:latin typeface="Times New Roman" panose="02020603050405020304" pitchFamily="18" charset="0"/>
                <a:ea typeface="Times New Roman" panose="02020603050405020304" pitchFamily="18" charset="0"/>
              </a:rPr>
              <a:t>Neural Network</a:t>
            </a:r>
          </a:p>
        </p:txBody>
      </p:sp>
      <p:sp>
        <p:nvSpPr>
          <p:cNvPr id="6" name="TextBox 5">
            <a:extLst>
              <a:ext uri="{FF2B5EF4-FFF2-40B4-BE49-F238E27FC236}">
                <a16:creationId xmlns:a16="http://schemas.microsoft.com/office/drawing/2014/main" id="{9EF2EC63-C924-0C4C-6249-9985A75AEE54}"/>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10</a:t>
            </a:r>
          </a:p>
        </p:txBody>
      </p:sp>
    </p:spTree>
    <p:extLst>
      <p:ext uri="{BB962C8B-B14F-4D97-AF65-F5344CB8AC3E}">
        <p14:creationId xmlns:p14="http://schemas.microsoft.com/office/powerpoint/2010/main" val="42363238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758DE-73F6-FC3F-369E-0A4DAF5B14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9391CA-E79D-551E-1863-294F8A5162EA}"/>
              </a:ext>
            </a:extLst>
          </p:cNvPr>
          <p:cNvSpPr txBox="1"/>
          <p:nvPr/>
        </p:nvSpPr>
        <p:spPr>
          <a:xfrm>
            <a:off x="287079" y="151886"/>
            <a:ext cx="6783572" cy="678199"/>
          </a:xfrm>
          <a:prstGeom prst="rect">
            <a:avLst/>
          </a:prstGeom>
          <a:noFill/>
        </p:spPr>
        <p:txBody>
          <a:bodyPr wrap="square">
            <a:spAutoFit/>
          </a:bodyPr>
          <a:lstStyle/>
          <a:p>
            <a:pPr algn="ctr">
              <a:lnSpc>
                <a:spcPct val="130000"/>
              </a:lnSpc>
              <a:spcAft>
                <a:spcPts val="800"/>
              </a:spcAft>
              <a:buNone/>
            </a:pPr>
            <a:r>
              <a:rPr lang="en-US" sz="3200" b="1" dirty="0" err="1">
                <a:solidFill>
                  <a:srgbClr val="FF0000"/>
                </a:solidFill>
                <a:effectLst/>
                <a:latin typeface="Times New Roman" panose="02020603050405020304" pitchFamily="18" charset="0"/>
                <a:ea typeface="Calibri" panose="020F0502020204030204" pitchFamily="34" charset="0"/>
              </a:rPr>
              <a:t>Hướng</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tập</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trung</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nghiên</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cứu</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cải</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tiến</a:t>
            </a:r>
            <a:endParaRPr lang="en-US" sz="3200" dirty="0">
              <a:solidFill>
                <a:srgbClr val="FF0000"/>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A3B448E3-D5E7-33E5-10C2-B9BFEB955291}"/>
              </a:ext>
            </a:extLst>
          </p:cNvPr>
          <p:cNvSpPr txBox="1"/>
          <p:nvPr/>
        </p:nvSpPr>
        <p:spPr>
          <a:xfrm>
            <a:off x="914401" y="1255387"/>
            <a:ext cx="4391246" cy="4539191"/>
          </a:xfrm>
          <a:prstGeom prst="rect">
            <a:avLst/>
          </a:prstGeom>
          <a:noFill/>
        </p:spPr>
        <p:txBody>
          <a:bodyPr wrap="square">
            <a:spAutoFit/>
          </a:bodyPr>
          <a:lstStyle/>
          <a:p>
            <a:pPr algn="just">
              <a:lnSpc>
                <a:spcPct val="150000"/>
              </a:lnSpc>
            </a:pPr>
            <a:r>
              <a:rPr lang="vi-VN" sz="2800" b="1" dirty="0">
                <a:effectLst/>
                <a:latin typeface="Times New Roman" panose="02020603050405020304" pitchFamily="18" charset="0"/>
                <a:ea typeface="Times New Roman" panose="02020603050405020304" pitchFamily="18" charset="0"/>
              </a:rPr>
              <a:t>1. Logistic regression</a:t>
            </a:r>
            <a:r>
              <a:rPr lang="en-US" sz="2800" b="1" dirty="0">
                <a:effectLst/>
                <a:latin typeface="Times New Roman" panose="02020603050405020304" pitchFamily="18" charset="0"/>
                <a:ea typeface="Times New Roman" panose="02020603050405020304" pitchFamily="18" charset="0"/>
              </a:rPr>
              <a:t> </a:t>
            </a:r>
          </a:p>
          <a:p>
            <a:pPr algn="just">
              <a:lnSpc>
                <a:spcPct val="150000"/>
              </a:lnSpc>
            </a:pPr>
            <a:endParaRPr lang="en-US" sz="2800" b="1" dirty="0">
              <a:effectLst/>
              <a:latin typeface="Times New Roman" panose="02020603050405020304" pitchFamily="18" charset="0"/>
              <a:ea typeface="Times New Roman" panose="02020603050405020304" pitchFamily="18" charset="0"/>
            </a:endParaRPr>
          </a:p>
          <a:p>
            <a:pPr algn="just">
              <a:lnSpc>
                <a:spcPct val="150000"/>
              </a:lnSpc>
            </a:pPr>
            <a:r>
              <a:rPr lang="en-US" sz="2800" b="1" dirty="0">
                <a:effectLst/>
                <a:latin typeface="Times New Roman" panose="02020603050405020304" pitchFamily="18" charset="0"/>
                <a:ea typeface="Times New Roman" panose="02020603050405020304" pitchFamily="18" charset="0"/>
              </a:rPr>
              <a:t>2. Support Vector Machine</a:t>
            </a:r>
          </a:p>
          <a:p>
            <a:pPr algn="just">
              <a:lnSpc>
                <a:spcPct val="150000"/>
              </a:lnSpc>
            </a:pPr>
            <a:endParaRPr lang="en-US" sz="2800" dirty="0">
              <a:effectLst/>
              <a:latin typeface="Times New Roman" panose="02020603050405020304" pitchFamily="18" charset="0"/>
              <a:ea typeface="Times New Roman" panose="02020603050405020304" pitchFamily="18" charset="0"/>
            </a:endParaRPr>
          </a:p>
          <a:p>
            <a:pPr algn="just">
              <a:lnSpc>
                <a:spcPct val="150000"/>
              </a:lnSpc>
            </a:pPr>
            <a:r>
              <a:rPr lang="en-US" sz="2800" dirty="0">
                <a:latin typeface="Times New Roman" panose="02020603050405020304" pitchFamily="18" charset="0"/>
                <a:ea typeface="Times New Roman" panose="02020603050405020304" pitchFamily="18" charset="0"/>
              </a:rPr>
              <a:t>3. </a:t>
            </a:r>
            <a:r>
              <a:rPr lang="en-US" sz="2800" dirty="0">
                <a:effectLst/>
                <a:latin typeface="Times New Roman" panose="02020603050405020304" pitchFamily="18" charset="0"/>
                <a:ea typeface="Times New Roman" panose="02020603050405020304" pitchFamily="18" charset="0"/>
              </a:rPr>
              <a:t>Random Forest</a:t>
            </a:r>
          </a:p>
          <a:p>
            <a:pPr algn="just">
              <a:lnSpc>
                <a:spcPct val="150000"/>
              </a:lnSpc>
            </a:pPr>
            <a:endParaRPr lang="en-US" sz="2800" dirty="0">
              <a:effectLst/>
              <a:latin typeface="Times New Roman" panose="02020603050405020304" pitchFamily="18" charset="0"/>
              <a:ea typeface="Times New Roman" panose="02020603050405020304" pitchFamily="18" charset="0"/>
            </a:endParaRPr>
          </a:p>
          <a:p>
            <a:pPr algn="just">
              <a:lnSpc>
                <a:spcPct val="150000"/>
              </a:lnSpc>
            </a:pPr>
            <a:r>
              <a:rPr lang="en-US" sz="2800" dirty="0">
                <a:latin typeface="Times New Roman" panose="02020603050405020304" pitchFamily="18" charset="0"/>
                <a:ea typeface="Times New Roman" panose="02020603050405020304" pitchFamily="18" charset="0"/>
              </a:rPr>
              <a:t>4. </a:t>
            </a:r>
            <a:r>
              <a:rPr lang="en-US" sz="2800" dirty="0">
                <a:effectLst/>
                <a:latin typeface="Times New Roman" panose="02020603050405020304" pitchFamily="18" charset="0"/>
                <a:ea typeface="Times New Roman" panose="02020603050405020304" pitchFamily="18" charset="0"/>
              </a:rPr>
              <a:t>Neural Network</a:t>
            </a:r>
          </a:p>
        </p:txBody>
      </p:sp>
      <p:sp>
        <p:nvSpPr>
          <p:cNvPr id="6" name="TextBox 5">
            <a:extLst>
              <a:ext uri="{FF2B5EF4-FFF2-40B4-BE49-F238E27FC236}">
                <a16:creationId xmlns:a16="http://schemas.microsoft.com/office/drawing/2014/main" id="{0AF1A587-0770-02FF-19AA-DA78FCF8C438}"/>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10</a:t>
            </a:r>
          </a:p>
        </p:txBody>
      </p:sp>
    </p:spTree>
    <p:extLst>
      <p:ext uri="{BB962C8B-B14F-4D97-AF65-F5344CB8AC3E}">
        <p14:creationId xmlns:p14="http://schemas.microsoft.com/office/powerpoint/2010/main" val="11447157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endCondLst>
                                    <p:cond evt="onNext" delay="0">
                                      <p:tgtEl>
                                        <p:sldTgt/>
                                      </p:tgtEl>
                                    </p:cond>
                                  </p:endCondLst>
                                  <p:childTnLst>
                                    <p:animEffect transition="out" filter="fade">
                                      <p:cBhvr>
                                        <p:cTn id="6" dur="500" tmFilter="0, 0; .2, .5; .8, .5; 1, 0"/>
                                        <p:tgtEl>
                                          <p:spTgt spid="4">
                                            <p:txEl>
                                              <p:pRg st="0" end="0"/>
                                            </p:txEl>
                                          </p:spTgt>
                                        </p:tgtEl>
                                      </p:cBhvr>
                                    </p:animEffect>
                                    <p:animScale>
                                      <p:cBhvr>
                                        <p:cTn id="7" dur="250" autoRev="1" fill="hold"/>
                                        <p:tgtEl>
                                          <p:spTgt spid="4">
                                            <p:txEl>
                                              <p:pRg st="0" end="0"/>
                                            </p:txEl>
                                          </p:spTgt>
                                        </p:tgtEl>
                                      </p:cBhvr>
                                      <p:by x="105000" y="105000"/>
                                    </p:animScale>
                                  </p:childTnLst>
                                </p:cTn>
                              </p:par>
                              <p:par>
                                <p:cTn id="8" presetID="26" presetClass="emph" presetSubtype="0" repeatCount="indefinite" fill="hold" nodeType="withEffect">
                                  <p:stCondLst>
                                    <p:cond delay="0"/>
                                  </p:stCondLst>
                                  <p:endCondLst>
                                    <p:cond evt="onNext" delay="0">
                                      <p:tgtEl>
                                        <p:sldTgt/>
                                      </p:tgtEl>
                                    </p:cond>
                                  </p:endCondLst>
                                  <p:childTnLst>
                                    <p:animEffect transition="out" filter="fade">
                                      <p:cBhvr>
                                        <p:cTn id="9" dur="500" tmFilter="0, 0; .2, .5; .8, .5; 1, 0"/>
                                        <p:tgtEl>
                                          <p:spTgt spid="4">
                                            <p:txEl>
                                              <p:pRg st="2" end="2"/>
                                            </p:txEl>
                                          </p:spTgt>
                                        </p:tgtEl>
                                      </p:cBhvr>
                                    </p:animEffect>
                                    <p:animScale>
                                      <p:cBhvr>
                                        <p:cTn id="10" dur="250" autoRev="1" fill="hold"/>
                                        <p:tgtEl>
                                          <p:spTgt spid="4">
                                            <p:txEl>
                                              <p:pRg st="2" end="2"/>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BFA55-2157-32D1-0D39-C33C061DEA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BD416F-FC6C-FBEF-82E7-1111F08039F3}"/>
              </a:ext>
            </a:extLst>
          </p:cNvPr>
          <p:cNvSpPr txBox="1"/>
          <p:nvPr/>
        </p:nvSpPr>
        <p:spPr>
          <a:xfrm>
            <a:off x="287079" y="151886"/>
            <a:ext cx="6783572" cy="678199"/>
          </a:xfrm>
          <a:prstGeom prst="rect">
            <a:avLst/>
          </a:prstGeom>
          <a:noFill/>
        </p:spPr>
        <p:txBody>
          <a:bodyPr wrap="square">
            <a:spAutoFit/>
          </a:bodyPr>
          <a:lstStyle/>
          <a:p>
            <a:pPr algn="ctr">
              <a:lnSpc>
                <a:spcPct val="130000"/>
              </a:lnSpc>
              <a:spcAft>
                <a:spcPts val="800"/>
              </a:spcAft>
              <a:buNone/>
            </a:pPr>
            <a:r>
              <a:rPr lang="en-US" sz="3200" b="1" dirty="0" err="1">
                <a:solidFill>
                  <a:srgbClr val="FF0000"/>
                </a:solidFill>
                <a:effectLst/>
                <a:latin typeface="Times New Roman" panose="02020603050405020304" pitchFamily="18" charset="0"/>
                <a:ea typeface="Calibri" panose="020F0502020204030204" pitchFamily="34" charset="0"/>
              </a:rPr>
              <a:t>Hướng</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tập</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trung</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nghiên</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cứu</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cải</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tiến</a:t>
            </a:r>
            <a:endParaRPr lang="en-US" sz="3200" dirty="0">
              <a:solidFill>
                <a:srgbClr val="FF0000"/>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24A2797E-C578-F514-F811-27314DF18BC3}"/>
              </a:ext>
            </a:extLst>
          </p:cNvPr>
          <p:cNvSpPr txBox="1"/>
          <p:nvPr/>
        </p:nvSpPr>
        <p:spPr>
          <a:xfrm>
            <a:off x="754966" y="2775231"/>
            <a:ext cx="4391246" cy="1307537"/>
          </a:xfrm>
          <a:prstGeom prst="rect">
            <a:avLst/>
          </a:prstGeom>
          <a:noFill/>
        </p:spPr>
        <p:txBody>
          <a:bodyPr wrap="square">
            <a:spAutoFit/>
          </a:bodyPr>
          <a:lstStyle/>
          <a:p>
            <a:pPr algn="just">
              <a:lnSpc>
                <a:spcPct val="150000"/>
              </a:lnSpc>
            </a:pPr>
            <a:r>
              <a:rPr lang="vi-VN" sz="2800" b="1" dirty="0">
                <a:effectLst/>
                <a:latin typeface="Times New Roman" panose="02020603050405020304" pitchFamily="18" charset="0"/>
                <a:ea typeface="Times New Roman" panose="02020603050405020304" pitchFamily="18" charset="0"/>
              </a:rPr>
              <a:t>1. Logistic regression</a:t>
            </a:r>
            <a:r>
              <a:rPr lang="en-US" sz="2800" b="1" dirty="0">
                <a:effectLst/>
                <a:latin typeface="Times New Roman" panose="02020603050405020304" pitchFamily="18" charset="0"/>
                <a:ea typeface="Times New Roman" panose="02020603050405020304" pitchFamily="18" charset="0"/>
              </a:rPr>
              <a:t> </a:t>
            </a:r>
          </a:p>
          <a:p>
            <a:pPr algn="just">
              <a:lnSpc>
                <a:spcPct val="150000"/>
              </a:lnSpc>
            </a:pPr>
            <a:r>
              <a:rPr lang="en-US" sz="2800" b="1" dirty="0">
                <a:effectLst/>
                <a:latin typeface="Times New Roman" panose="02020603050405020304" pitchFamily="18" charset="0"/>
                <a:ea typeface="Times New Roman" panose="02020603050405020304" pitchFamily="18" charset="0"/>
              </a:rPr>
              <a:t>2. Support Vector Machine</a:t>
            </a:r>
          </a:p>
        </p:txBody>
      </p:sp>
      <p:sp>
        <p:nvSpPr>
          <p:cNvPr id="8" name="TextBox 7">
            <a:extLst>
              <a:ext uri="{FF2B5EF4-FFF2-40B4-BE49-F238E27FC236}">
                <a16:creationId xmlns:a16="http://schemas.microsoft.com/office/drawing/2014/main" id="{41FE65EA-6C32-D7A3-EDF1-0A925EDC3448}"/>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11</a:t>
            </a:r>
          </a:p>
        </p:txBody>
      </p:sp>
      <p:sp>
        <p:nvSpPr>
          <p:cNvPr id="3" name="TextBox 2">
            <a:extLst>
              <a:ext uri="{FF2B5EF4-FFF2-40B4-BE49-F238E27FC236}">
                <a16:creationId xmlns:a16="http://schemas.microsoft.com/office/drawing/2014/main" id="{1788F8CE-31FA-9190-48AE-FD397F05AE2C}"/>
              </a:ext>
            </a:extLst>
          </p:cNvPr>
          <p:cNvSpPr txBox="1"/>
          <p:nvPr/>
        </p:nvSpPr>
        <p:spPr>
          <a:xfrm>
            <a:off x="7431092" y="830085"/>
            <a:ext cx="4005942" cy="1307537"/>
          </a:xfrm>
          <a:prstGeom prst="rect">
            <a:avLst/>
          </a:prstGeom>
          <a:solidFill>
            <a:schemeClr val="accent6">
              <a:lumMod val="20000"/>
              <a:lumOff val="80000"/>
            </a:schemeClr>
          </a:solidFill>
        </p:spPr>
        <p:txBody>
          <a:bodyPr wrap="square">
            <a:spAutoFit/>
          </a:bodyPr>
          <a:lstStyle/>
          <a:p>
            <a:pPr algn="just">
              <a:lnSpc>
                <a:spcPct val="150000"/>
              </a:lnSpc>
            </a:pPr>
            <a:r>
              <a:rPr lang="en-US" sz="2800" dirty="0" err="1">
                <a:effectLst/>
                <a:latin typeface="Times New Roman" panose="02020603050405020304" pitchFamily="18" charset="0"/>
                <a:ea typeface="Times New Roman" panose="02020603050405020304" pitchFamily="18" charset="0"/>
              </a:rPr>
              <a:t>Xử</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lý</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mất</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cân</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bằng</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lớp</a:t>
            </a:r>
            <a:r>
              <a:rPr lang="en-US" sz="2800" dirty="0">
                <a:effectLst/>
                <a:latin typeface="Times New Roman" panose="02020603050405020304" pitchFamily="18" charset="0"/>
                <a:ea typeface="Times New Roman" panose="02020603050405020304" pitchFamily="18" charset="0"/>
              </a:rPr>
              <a:t> (Class Imbalance) </a:t>
            </a:r>
          </a:p>
        </p:txBody>
      </p:sp>
      <p:sp>
        <p:nvSpPr>
          <p:cNvPr id="6" name="TextBox 5">
            <a:extLst>
              <a:ext uri="{FF2B5EF4-FFF2-40B4-BE49-F238E27FC236}">
                <a16:creationId xmlns:a16="http://schemas.microsoft.com/office/drawing/2014/main" id="{068538AD-F8EE-1FE2-756C-EE3FB202BFA9}"/>
              </a:ext>
            </a:extLst>
          </p:cNvPr>
          <p:cNvSpPr txBox="1"/>
          <p:nvPr/>
        </p:nvSpPr>
        <p:spPr>
          <a:xfrm>
            <a:off x="7431092" y="4720378"/>
            <a:ext cx="4005942" cy="1307537"/>
          </a:xfrm>
          <a:prstGeom prst="rect">
            <a:avLst/>
          </a:prstGeom>
          <a:solidFill>
            <a:schemeClr val="accent6">
              <a:lumMod val="60000"/>
              <a:lumOff val="40000"/>
            </a:schemeClr>
          </a:solidFill>
        </p:spPr>
        <p:txBody>
          <a:bodyPr wrap="square">
            <a:spAutoFit/>
          </a:bodyPr>
          <a:lstStyle/>
          <a:p>
            <a:pPr algn="just">
              <a:lnSpc>
                <a:spcPct val="150000"/>
              </a:lnSpc>
            </a:pPr>
            <a:r>
              <a:rPr lang="en-US" sz="2800" dirty="0">
                <a:latin typeface="Times New Roman" panose="02020603050405020304" pitchFamily="18" charset="0"/>
                <a:ea typeface="Times New Roman" panose="02020603050405020304" pitchFamily="18" charset="0"/>
              </a:rPr>
              <a:t>Tinh </a:t>
            </a:r>
            <a:r>
              <a:rPr lang="en-US" sz="2800" dirty="0" err="1">
                <a:latin typeface="Times New Roman" panose="02020603050405020304" pitchFamily="18" charset="0"/>
                <a:ea typeface="Times New Roman" panose="02020603050405020304" pitchFamily="18" charset="0"/>
              </a:rPr>
              <a:t>chỉnh</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hệ</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số</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điều</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chuẩn</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tham</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số</a:t>
            </a:r>
            <a:r>
              <a:rPr lang="en-US" sz="2800" dirty="0">
                <a:latin typeface="Times New Roman" panose="02020603050405020304" pitchFamily="18" charset="0"/>
                <a:ea typeface="Times New Roman" panose="02020603050405020304" pitchFamily="18" charset="0"/>
              </a:rPr>
              <a:t> C)</a:t>
            </a:r>
          </a:p>
        </p:txBody>
      </p:sp>
      <p:sp>
        <p:nvSpPr>
          <p:cNvPr id="9" name="TextBox 8">
            <a:extLst>
              <a:ext uri="{FF2B5EF4-FFF2-40B4-BE49-F238E27FC236}">
                <a16:creationId xmlns:a16="http://schemas.microsoft.com/office/drawing/2014/main" id="{507D1B16-82C2-82C6-FF26-BAABCE17FC84}"/>
              </a:ext>
            </a:extLst>
          </p:cNvPr>
          <p:cNvSpPr txBox="1"/>
          <p:nvPr/>
        </p:nvSpPr>
        <p:spPr>
          <a:xfrm>
            <a:off x="7431092" y="2775230"/>
            <a:ext cx="4005942" cy="1307537"/>
          </a:xfrm>
          <a:prstGeom prst="rect">
            <a:avLst/>
          </a:prstGeom>
          <a:solidFill>
            <a:schemeClr val="accent6">
              <a:lumMod val="40000"/>
              <a:lumOff val="60000"/>
            </a:schemeClr>
          </a:solidFill>
        </p:spPr>
        <p:txBody>
          <a:bodyPr wrap="square">
            <a:spAutoFit/>
          </a:bodyPr>
          <a:lstStyle/>
          <a:p>
            <a:pPr algn="just">
              <a:lnSpc>
                <a:spcPct val="150000"/>
              </a:lnSpc>
            </a:pPr>
            <a:r>
              <a:rPr lang="en-US" sz="2800" dirty="0" err="1">
                <a:latin typeface="Times New Roman" panose="02020603050405020304" pitchFamily="18" charset="0"/>
                <a:ea typeface="Times New Roman" panose="02020603050405020304" pitchFamily="18" charset="0"/>
              </a:rPr>
              <a:t>Điều</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chỉnh</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ngưỡng</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quyết</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định</a:t>
            </a:r>
            <a:r>
              <a:rPr lang="en-US" sz="2800" dirty="0">
                <a:latin typeface="Times New Roman" panose="02020603050405020304" pitchFamily="18" charset="0"/>
                <a:ea typeface="Times New Roman" panose="02020603050405020304" pitchFamily="18" charset="0"/>
              </a:rPr>
              <a:t> (threshold)</a:t>
            </a:r>
          </a:p>
        </p:txBody>
      </p:sp>
      <p:cxnSp>
        <p:nvCxnSpPr>
          <p:cNvPr id="11" name="Straight Arrow Connector 10">
            <a:extLst>
              <a:ext uri="{FF2B5EF4-FFF2-40B4-BE49-F238E27FC236}">
                <a16:creationId xmlns:a16="http://schemas.microsoft.com/office/drawing/2014/main" id="{A4E16E32-F7A0-6AF7-9C59-952F3837389B}"/>
              </a:ext>
            </a:extLst>
          </p:cNvPr>
          <p:cNvCxnSpPr>
            <a:cxnSpLocks/>
            <a:stCxn id="4" idx="3"/>
            <a:endCxn id="3" idx="1"/>
          </p:cNvCxnSpPr>
          <p:nvPr/>
        </p:nvCxnSpPr>
        <p:spPr>
          <a:xfrm flipV="1">
            <a:off x="5146212" y="1483854"/>
            <a:ext cx="2284880" cy="194514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29A0550-274C-6D96-37EE-08677AF300B6}"/>
              </a:ext>
            </a:extLst>
          </p:cNvPr>
          <p:cNvCxnSpPr>
            <a:cxnSpLocks/>
            <a:stCxn id="4" idx="3"/>
            <a:endCxn id="9" idx="1"/>
          </p:cNvCxnSpPr>
          <p:nvPr/>
        </p:nvCxnSpPr>
        <p:spPr>
          <a:xfrm flipV="1">
            <a:off x="5146212" y="3428999"/>
            <a:ext cx="2284880" cy="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A64BBED-98B6-33A5-22C6-F31BFD0FE552}"/>
              </a:ext>
            </a:extLst>
          </p:cNvPr>
          <p:cNvCxnSpPr>
            <a:cxnSpLocks/>
            <a:stCxn id="4" idx="3"/>
            <a:endCxn id="6" idx="1"/>
          </p:cNvCxnSpPr>
          <p:nvPr/>
        </p:nvCxnSpPr>
        <p:spPr>
          <a:xfrm>
            <a:off x="5146212" y="3429000"/>
            <a:ext cx="2284880" cy="194514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32880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8DCC2-612B-D7C5-0D82-6C7EE4A555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E710AF-7B23-63BE-4A37-51EB2BE1FF7C}"/>
              </a:ext>
            </a:extLst>
          </p:cNvPr>
          <p:cNvSpPr txBox="1"/>
          <p:nvPr/>
        </p:nvSpPr>
        <p:spPr>
          <a:xfrm>
            <a:off x="287079" y="151886"/>
            <a:ext cx="6783572" cy="678199"/>
          </a:xfrm>
          <a:prstGeom prst="rect">
            <a:avLst/>
          </a:prstGeom>
          <a:noFill/>
        </p:spPr>
        <p:txBody>
          <a:bodyPr wrap="square">
            <a:spAutoFit/>
          </a:bodyPr>
          <a:lstStyle/>
          <a:p>
            <a:pP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1. Logistic regression </a:t>
            </a:r>
          </a:p>
        </p:txBody>
      </p:sp>
      <p:pic>
        <p:nvPicPr>
          <p:cNvPr id="17" name="Picture 16">
            <a:extLst>
              <a:ext uri="{FF2B5EF4-FFF2-40B4-BE49-F238E27FC236}">
                <a16:creationId xmlns:a16="http://schemas.microsoft.com/office/drawing/2014/main" id="{77C2B0FB-4990-31ED-5CEE-A2DD9458F3F9}"/>
              </a:ext>
            </a:extLst>
          </p:cNvPr>
          <p:cNvPicPr>
            <a:picLocks noChangeAspect="1"/>
          </p:cNvPicPr>
          <p:nvPr/>
        </p:nvPicPr>
        <p:blipFill>
          <a:blip r:embed="rId3"/>
          <a:stretch>
            <a:fillRect/>
          </a:stretch>
        </p:blipFill>
        <p:spPr>
          <a:xfrm>
            <a:off x="3321380" y="1570867"/>
            <a:ext cx="8737403" cy="2027716"/>
          </a:xfrm>
          <a:prstGeom prst="rect">
            <a:avLst/>
          </a:prstGeom>
        </p:spPr>
      </p:pic>
      <p:sp>
        <p:nvSpPr>
          <p:cNvPr id="18" name="TextBox 17">
            <a:extLst>
              <a:ext uri="{FF2B5EF4-FFF2-40B4-BE49-F238E27FC236}">
                <a16:creationId xmlns:a16="http://schemas.microsoft.com/office/drawing/2014/main" id="{7907548E-420A-8083-C6D7-65CB230646D6}"/>
              </a:ext>
            </a:extLst>
          </p:cNvPr>
          <p:cNvSpPr txBox="1"/>
          <p:nvPr/>
        </p:nvSpPr>
        <p:spPr>
          <a:xfrm>
            <a:off x="471970" y="2109883"/>
            <a:ext cx="2682261" cy="661207"/>
          </a:xfrm>
          <a:prstGeom prst="rect">
            <a:avLst/>
          </a:prstGeom>
          <a:noFill/>
        </p:spPr>
        <p:txBody>
          <a:bodyPr wrap="square">
            <a:spAutoFit/>
          </a:bodyPr>
          <a:lstStyle/>
          <a:p>
            <a:pPr algn="just">
              <a:lnSpc>
                <a:spcPct val="150000"/>
              </a:lnSpc>
            </a:pPr>
            <a:r>
              <a:rPr lang="en-US" sz="2800" b="1" dirty="0">
                <a:effectLst/>
                <a:latin typeface="Times New Roman" panose="02020603050405020304" pitchFamily="18" charset="0"/>
                <a:ea typeface="Times New Roman" panose="02020603050405020304" pitchFamily="18" charset="0"/>
              </a:rPr>
              <a:t>Loss function</a:t>
            </a:r>
          </a:p>
        </p:txBody>
      </p:sp>
      <p:sp>
        <p:nvSpPr>
          <p:cNvPr id="19" name="TextBox 18">
            <a:extLst>
              <a:ext uri="{FF2B5EF4-FFF2-40B4-BE49-F238E27FC236}">
                <a16:creationId xmlns:a16="http://schemas.microsoft.com/office/drawing/2014/main" id="{B3D691BA-3FC1-99D8-95F9-2F1EAAB85C5D}"/>
              </a:ext>
            </a:extLst>
          </p:cNvPr>
          <p:cNvSpPr txBox="1"/>
          <p:nvPr/>
        </p:nvSpPr>
        <p:spPr>
          <a:xfrm>
            <a:off x="7690082" y="369727"/>
            <a:ext cx="4005942" cy="661207"/>
          </a:xfrm>
          <a:prstGeom prst="rect">
            <a:avLst/>
          </a:prstGeom>
          <a:solidFill>
            <a:schemeClr val="accent6">
              <a:lumMod val="20000"/>
              <a:lumOff val="80000"/>
            </a:schemeClr>
          </a:solidFill>
        </p:spPr>
        <p:txBody>
          <a:bodyPr wrap="square">
            <a:spAutoFit/>
          </a:bodyPr>
          <a:lstStyle/>
          <a:p>
            <a:pPr algn="ctr">
              <a:lnSpc>
                <a:spcPct val="150000"/>
              </a:lnSpc>
            </a:pPr>
            <a:r>
              <a:rPr lang="en-US" sz="2800" dirty="0">
                <a:effectLst/>
                <a:latin typeface="Times New Roman" panose="02020603050405020304" pitchFamily="18" charset="0"/>
                <a:ea typeface="Times New Roman" panose="02020603050405020304" pitchFamily="18" charset="0"/>
              </a:rPr>
              <a:t>Class Imbalance </a:t>
            </a:r>
          </a:p>
        </p:txBody>
      </p:sp>
      <p:sp>
        <p:nvSpPr>
          <p:cNvPr id="20" name="TextBox 19">
            <a:extLst>
              <a:ext uri="{FF2B5EF4-FFF2-40B4-BE49-F238E27FC236}">
                <a16:creationId xmlns:a16="http://schemas.microsoft.com/office/drawing/2014/main" id="{2FE8350A-0855-F961-B11C-4AA9071FAAA7}"/>
              </a:ext>
            </a:extLst>
          </p:cNvPr>
          <p:cNvSpPr txBox="1"/>
          <p:nvPr/>
        </p:nvSpPr>
        <p:spPr>
          <a:xfrm>
            <a:off x="-22624" y="4086911"/>
            <a:ext cx="4004689" cy="661207"/>
          </a:xfrm>
          <a:prstGeom prst="rect">
            <a:avLst/>
          </a:prstGeom>
          <a:noFill/>
        </p:spPr>
        <p:txBody>
          <a:bodyPr wrap="square">
            <a:spAutoFit/>
          </a:bodyPr>
          <a:lstStyle/>
          <a:p>
            <a:pPr algn="just">
              <a:lnSpc>
                <a:spcPct val="150000"/>
              </a:lnSpc>
            </a:pPr>
            <a:r>
              <a:rPr lang="en-US" sz="2800" b="1" dirty="0">
                <a:effectLst/>
                <a:latin typeface="Times New Roman" panose="02020603050405020304" pitchFamily="18" charset="0"/>
                <a:ea typeface="Times New Roman" panose="02020603050405020304" pitchFamily="18" charset="0"/>
              </a:rPr>
              <a:t>Weig</a:t>
            </a:r>
            <a:r>
              <a:rPr lang="en-US" sz="2800" b="1" dirty="0">
                <a:latin typeface="Times New Roman" panose="02020603050405020304" pitchFamily="18" charset="0"/>
                <a:ea typeface="Times New Roman" panose="02020603050405020304" pitchFamily="18" charset="0"/>
              </a:rPr>
              <a:t>hted l</a:t>
            </a:r>
            <a:r>
              <a:rPr lang="en-US" sz="2800" b="1" dirty="0">
                <a:effectLst/>
                <a:latin typeface="Times New Roman" panose="02020603050405020304" pitchFamily="18" charset="0"/>
                <a:ea typeface="Times New Roman" panose="02020603050405020304" pitchFamily="18" charset="0"/>
              </a:rPr>
              <a:t>oss function</a:t>
            </a:r>
          </a:p>
        </p:txBody>
      </p:sp>
      <p:pic>
        <p:nvPicPr>
          <p:cNvPr id="23" name="Picture 22">
            <a:extLst>
              <a:ext uri="{FF2B5EF4-FFF2-40B4-BE49-F238E27FC236}">
                <a16:creationId xmlns:a16="http://schemas.microsoft.com/office/drawing/2014/main" id="{8005B0E8-C97B-8F13-BCD7-1A7761886405}"/>
              </a:ext>
            </a:extLst>
          </p:cNvPr>
          <p:cNvPicPr>
            <a:picLocks noChangeAspect="1"/>
          </p:cNvPicPr>
          <p:nvPr/>
        </p:nvPicPr>
        <p:blipFill>
          <a:blip r:embed="rId4"/>
          <a:stretch>
            <a:fillRect/>
          </a:stretch>
        </p:blipFill>
        <p:spPr>
          <a:xfrm>
            <a:off x="3573591" y="3901715"/>
            <a:ext cx="8618409" cy="1404683"/>
          </a:xfrm>
          <a:prstGeom prst="rect">
            <a:avLst/>
          </a:prstGeom>
        </p:spPr>
      </p:pic>
      <p:pic>
        <p:nvPicPr>
          <p:cNvPr id="25" name="Picture 24">
            <a:extLst>
              <a:ext uri="{FF2B5EF4-FFF2-40B4-BE49-F238E27FC236}">
                <a16:creationId xmlns:a16="http://schemas.microsoft.com/office/drawing/2014/main" id="{71D6D0E6-F4F8-2AB5-2F2C-F69516D7EDBC}"/>
              </a:ext>
            </a:extLst>
          </p:cNvPr>
          <p:cNvPicPr>
            <a:picLocks noChangeAspect="1"/>
          </p:cNvPicPr>
          <p:nvPr/>
        </p:nvPicPr>
        <p:blipFill>
          <a:blip r:embed="rId5"/>
          <a:stretch>
            <a:fillRect/>
          </a:stretch>
        </p:blipFill>
        <p:spPr>
          <a:xfrm>
            <a:off x="799208" y="4878381"/>
            <a:ext cx="3650442" cy="1953675"/>
          </a:xfrm>
          <a:prstGeom prst="rect">
            <a:avLst/>
          </a:prstGeom>
        </p:spPr>
      </p:pic>
      <p:cxnSp>
        <p:nvCxnSpPr>
          <p:cNvPr id="26" name="Straight Arrow Connector 25">
            <a:extLst>
              <a:ext uri="{FF2B5EF4-FFF2-40B4-BE49-F238E27FC236}">
                <a16:creationId xmlns:a16="http://schemas.microsoft.com/office/drawing/2014/main" id="{9482D8F3-10B6-72F7-04E0-F22C77497548}"/>
              </a:ext>
            </a:extLst>
          </p:cNvPr>
          <p:cNvCxnSpPr>
            <a:cxnSpLocks/>
          </p:cNvCxnSpPr>
          <p:nvPr/>
        </p:nvCxnSpPr>
        <p:spPr>
          <a:xfrm flipH="1">
            <a:off x="4168877" y="4878381"/>
            <a:ext cx="2251588" cy="98164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45A6D13-B876-A062-B1DA-B413B2A7F952}"/>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12</a:t>
            </a:r>
          </a:p>
        </p:txBody>
      </p:sp>
    </p:spTree>
    <p:extLst>
      <p:ext uri="{BB962C8B-B14F-4D97-AF65-F5344CB8AC3E}">
        <p14:creationId xmlns:p14="http://schemas.microsoft.com/office/powerpoint/2010/main" val="5347280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D0F87-19E4-8714-90B9-19149A28CF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3D4DBF-146E-3205-803C-95128A96A8EF}"/>
              </a:ext>
            </a:extLst>
          </p:cNvPr>
          <p:cNvSpPr txBox="1"/>
          <p:nvPr/>
        </p:nvSpPr>
        <p:spPr>
          <a:xfrm>
            <a:off x="287079" y="151886"/>
            <a:ext cx="6783572" cy="678199"/>
          </a:xfrm>
          <a:prstGeom prst="rect">
            <a:avLst/>
          </a:prstGeom>
          <a:noFill/>
        </p:spPr>
        <p:txBody>
          <a:bodyPr wrap="square">
            <a:spAutoFit/>
          </a:bodyPr>
          <a:lstStyle/>
          <a:p>
            <a:pP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1. Logistic regression </a:t>
            </a:r>
          </a:p>
        </p:txBody>
      </p:sp>
      <p:sp>
        <p:nvSpPr>
          <p:cNvPr id="18" name="TextBox 17">
            <a:extLst>
              <a:ext uri="{FF2B5EF4-FFF2-40B4-BE49-F238E27FC236}">
                <a16:creationId xmlns:a16="http://schemas.microsoft.com/office/drawing/2014/main" id="{DF2B15E0-B53A-2932-F531-825BD6047F65}"/>
              </a:ext>
            </a:extLst>
          </p:cNvPr>
          <p:cNvSpPr txBox="1"/>
          <p:nvPr/>
        </p:nvSpPr>
        <p:spPr>
          <a:xfrm>
            <a:off x="3666001" y="4029893"/>
            <a:ext cx="5515876" cy="1233030"/>
          </a:xfrm>
          <a:prstGeom prst="rect">
            <a:avLst/>
          </a:prstGeom>
          <a:noFill/>
        </p:spPr>
        <p:txBody>
          <a:bodyPr wrap="square">
            <a:spAutoFit/>
          </a:bodyPr>
          <a:lstStyle/>
          <a:p>
            <a:pPr algn="ctr">
              <a:lnSpc>
                <a:spcPct val="150000"/>
              </a:lnSpc>
            </a:pPr>
            <a:r>
              <a:rPr lang="en-US" sz="2800" b="1" dirty="0" err="1">
                <a:effectLst/>
                <a:latin typeface="Times New Roman" panose="02020603050405020304" pitchFamily="18" charset="0"/>
                <a:ea typeface="Times New Roman" panose="02020603050405020304" pitchFamily="18" charset="0"/>
              </a:rPr>
              <a:t>sklearn</a:t>
            </a:r>
            <a:r>
              <a:rPr lang="en-US" sz="2800" b="1" dirty="0">
                <a:effectLst/>
                <a:latin typeface="Times New Roman" panose="02020603050405020304" pitchFamily="18" charset="0"/>
                <a:ea typeface="Times New Roman" panose="02020603050405020304" pitchFamily="18" charset="0"/>
              </a:rPr>
              <a:t> default threshold = 0.5</a:t>
            </a:r>
          </a:p>
          <a:p>
            <a:pPr algn="ctr">
              <a:lnSpc>
                <a:spcPct val="150000"/>
              </a:lnSpc>
            </a:pPr>
            <a:r>
              <a:rPr lang="en-US" sz="2400" dirty="0"/>
              <a:t>(</a:t>
            </a:r>
            <a:r>
              <a:rPr lang="vi-VN" sz="2400" dirty="0"/>
              <a:t>false positive </a:t>
            </a:r>
            <a:r>
              <a:rPr lang="en-US" sz="2400" dirty="0"/>
              <a:t>&gt; </a:t>
            </a:r>
            <a:r>
              <a:rPr lang="vi-VN" sz="2400" dirty="0"/>
              <a:t>false negative</a:t>
            </a:r>
            <a:r>
              <a:rPr lang="en-US" sz="2400" dirty="0"/>
              <a:t>)</a:t>
            </a:r>
            <a:endParaRPr lang="en-US" sz="2400" dirty="0">
              <a:effectLst/>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EB9F2C89-F59A-BDAB-AFF3-8A18312A15C8}"/>
              </a:ext>
            </a:extLst>
          </p:cNvPr>
          <p:cNvSpPr txBox="1"/>
          <p:nvPr/>
        </p:nvSpPr>
        <p:spPr>
          <a:xfrm>
            <a:off x="7898979" y="449677"/>
            <a:ext cx="4005942" cy="661207"/>
          </a:xfrm>
          <a:prstGeom prst="rect">
            <a:avLst/>
          </a:prstGeom>
          <a:solidFill>
            <a:schemeClr val="accent6">
              <a:lumMod val="40000"/>
              <a:lumOff val="60000"/>
            </a:schemeClr>
          </a:solidFill>
        </p:spPr>
        <p:txBody>
          <a:bodyPr wrap="square">
            <a:spAutoFit/>
          </a:bodyPr>
          <a:lstStyle/>
          <a:p>
            <a:pPr algn="ctr">
              <a:lnSpc>
                <a:spcPct val="150000"/>
              </a:lnSpc>
            </a:pPr>
            <a:r>
              <a:rPr lang="en-US" sz="2800" dirty="0">
                <a:latin typeface="Times New Roman" panose="02020603050405020304" pitchFamily="18" charset="0"/>
                <a:ea typeface="Times New Roman" panose="02020603050405020304" pitchFamily="18" charset="0"/>
              </a:rPr>
              <a:t>threshold</a:t>
            </a:r>
          </a:p>
        </p:txBody>
      </p:sp>
      <p:pic>
        <p:nvPicPr>
          <p:cNvPr id="5" name="Picture 4">
            <a:extLst>
              <a:ext uri="{FF2B5EF4-FFF2-40B4-BE49-F238E27FC236}">
                <a16:creationId xmlns:a16="http://schemas.microsoft.com/office/drawing/2014/main" id="{FAF6CB6F-F42B-D553-457F-F0B053EF827D}"/>
              </a:ext>
            </a:extLst>
          </p:cNvPr>
          <p:cNvPicPr>
            <a:picLocks noChangeAspect="1"/>
          </p:cNvPicPr>
          <p:nvPr/>
        </p:nvPicPr>
        <p:blipFill>
          <a:blip r:embed="rId3"/>
          <a:stretch>
            <a:fillRect/>
          </a:stretch>
        </p:blipFill>
        <p:spPr>
          <a:xfrm>
            <a:off x="2330258" y="2321365"/>
            <a:ext cx="7531483" cy="1483719"/>
          </a:xfrm>
          <a:prstGeom prst="rect">
            <a:avLst/>
          </a:prstGeom>
        </p:spPr>
      </p:pic>
      <p:sp>
        <p:nvSpPr>
          <p:cNvPr id="6" name="TextBox 5">
            <a:extLst>
              <a:ext uri="{FF2B5EF4-FFF2-40B4-BE49-F238E27FC236}">
                <a16:creationId xmlns:a16="http://schemas.microsoft.com/office/drawing/2014/main" id="{B5546E27-6823-61A1-A124-56025CE5EF25}"/>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12</a:t>
            </a:r>
          </a:p>
        </p:txBody>
      </p:sp>
    </p:spTree>
    <p:extLst>
      <p:ext uri="{BB962C8B-B14F-4D97-AF65-F5344CB8AC3E}">
        <p14:creationId xmlns:p14="http://schemas.microsoft.com/office/powerpoint/2010/main" val="4841641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3B8EE-1CB4-1661-F9C4-879A3FE6CD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213EB6-2AFF-A230-E7CA-9D2BA3BDD7F2}"/>
              </a:ext>
            </a:extLst>
          </p:cNvPr>
          <p:cNvSpPr txBox="1"/>
          <p:nvPr/>
        </p:nvSpPr>
        <p:spPr>
          <a:xfrm>
            <a:off x="287079" y="151886"/>
            <a:ext cx="6783572" cy="678199"/>
          </a:xfrm>
          <a:prstGeom prst="rect">
            <a:avLst/>
          </a:prstGeom>
          <a:noFill/>
        </p:spPr>
        <p:txBody>
          <a:bodyPr wrap="square">
            <a:spAutoFit/>
          </a:bodyPr>
          <a:lstStyle/>
          <a:p>
            <a:pP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1. Logistic regression </a:t>
            </a:r>
          </a:p>
        </p:txBody>
      </p:sp>
      <p:sp>
        <p:nvSpPr>
          <p:cNvPr id="4" name="TextBox 3">
            <a:extLst>
              <a:ext uri="{FF2B5EF4-FFF2-40B4-BE49-F238E27FC236}">
                <a16:creationId xmlns:a16="http://schemas.microsoft.com/office/drawing/2014/main" id="{BEC2D6C9-8D94-11C7-8D63-9069B4C7AA51}"/>
              </a:ext>
            </a:extLst>
          </p:cNvPr>
          <p:cNvSpPr txBox="1"/>
          <p:nvPr/>
        </p:nvSpPr>
        <p:spPr>
          <a:xfrm>
            <a:off x="7745725" y="345023"/>
            <a:ext cx="4005942" cy="661207"/>
          </a:xfrm>
          <a:prstGeom prst="rect">
            <a:avLst/>
          </a:prstGeom>
          <a:solidFill>
            <a:schemeClr val="accent6">
              <a:lumMod val="60000"/>
              <a:lumOff val="40000"/>
            </a:schemeClr>
          </a:solidFill>
        </p:spPr>
        <p:txBody>
          <a:bodyPr wrap="square">
            <a:spAutoFit/>
          </a:bodyPr>
          <a:lstStyle/>
          <a:p>
            <a:pPr algn="ctr">
              <a:lnSpc>
                <a:spcPct val="150000"/>
              </a:lnSpc>
            </a:pPr>
            <a:r>
              <a:rPr lang="en-US" sz="2800" dirty="0">
                <a:latin typeface="Times New Roman" panose="02020603050405020304" pitchFamily="18" charset="0"/>
                <a:ea typeface="Times New Roman" panose="02020603050405020304" pitchFamily="18" charset="0"/>
              </a:rPr>
              <a:t>C parameter</a:t>
            </a:r>
          </a:p>
        </p:txBody>
      </p:sp>
      <p:pic>
        <p:nvPicPr>
          <p:cNvPr id="7" name="Picture 6">
            <a:extLst>
              <a:ext uri="{FF2B5EF4-FFF2-40B4-BE49-F238E27FC236}">
                <a16:creationId xmlns:a16="http://schemas.microsoft.com/office/drawing/2014/main" id="{63D50512-C6C3-794C-665D-1835440ABC49}"/>
              </a:ext>
            </a:extLst>
          </p:cNvPr>
          <p:cNvPicPr>
            <a:picLocks noChangeAspect="1"/>
          </p:cNvPicPr>
          <p:nvPr/>
        </p:nvPicPr>
        <p:blipFill>
          <a:blip r:embed="rId3"/>
          <a:stretch>
            <a:fillRect/>
          </a:stretch>
        </p:blipFill>
        <p:spPr>
          <a:xfrm>
            <a:off x="520334" y="1819129"/>
            <a:ext cx="11151331" cy="1686038"/>
          </a:xfrm>
          <a:prstGeom prst="rect">
            <a:avLst/>
          </a:prstGeom>
        </p:spPr>
      </p:pic>
      <p:pic>
        <p:nvPicPr>
          <p:cNvPr id="9" name="Picture 8">
            <a:extLst>
              <a:ext uri="{FF2B5EF4-FFF2-40B4-BE49-F238E27FC236}">
                <a16:creationId xmlns:a16="http://schemas.microsoft.com/office/drawing/2014/main" id="{A000A859-33BC-95B0-3697-88B1DDC02EBA}"/>
              </a:ext>
            </a:extLst>
          </p:cNvPr>
          <p:cNvPicPr>
            <a:picLocks noChangeAspect="1"/>
          </p:cNvPicPr>
          <p:nvPr/>
        </p:nvPicPr>
        <p:blipFill>
          <a:blip r:embed="rId4"/>
          <a:stretch>
            <a:fillRect/>
          </a:stretch>
        </p:blipFill>
        <p:spPr>
          <a:xfrm>
            <a:off x="2446074" y="3896605"/>
            <a:ext cx="3153730" cy="1904427"/>
          </a:xfrm>
          <a:prstGeom prst="rect">
            <a:avLst/>
          </a:prstGeom>
        </p:spPr>
      </p:pic>
      <p:pic>
        <p:nvPicPr>
          <p:cNvPr id="11" name="Picture 10">
            <a:extLst>
              <a:ext uri="{FF2B5EF4-FFF2-40B4-BE49-F238E27FC236}">
                <a16:creationId xmlns:a16="http://schemas.microsoft.com/office/drawing/2014/main" id="{066BD29D-1843-A784-8BF1-BDE2A033BD70}"/>
              </a:ext>
            </a:extLst>
          </p:cNvPr>
          <p:cNvPicPr>
            <a:picLocks noChangeAspect="1"/>
          </p:cNvPicPr>
          <p:nvPr/>
        </p:nvPicPr>
        <p:blipFill>
          <a:blip r:embed="rId5"/>
          <a:stretch>
            <a:fillRect/>
          </a:stretch>
        </p:blipFill>
        <p:spPr>
          <a:xfrm>
            <a:off x="6772987" y="4114994"/>
            <a:ext cx="4191010" cy="1686038"/>
          </a:xfrm>
          <a:prstGeom prst="rect">
            <a:avLst/>
          </a:prstGeom>
        </p:spPr>
      </p:pic>
      <p:cxnSp>
        <p:nvCxnSpPr>
          <p:cNvPr id="12" name="Straight Arrow Connector 11">
            <a:extLst>
              <a:ext uri="{FF2B5EF4-FFF2-40B4-BE49-F238E27FC236}">
                <a16:creationId xmlns:a16="http://schemas.microsoft.com/office/drawing/2014/main" id="{2C4954DB-8030-0BE8-4EB3-C1B67879A9A7}"/>
              </a:ext>
            </a:extLst>
          </p:cNvPr>
          <p:cNvCxnSpPr>
            <a:cxnSpLocks/>
          </p:cNvCxnSpPr>
          <p:nvPr/>
        </p:nvCxnSpPr>
        <p:spPr>
          <a:xfrm flipH="1">
            <a:off x="5112774" y="2940869"/>
            <a:ext cx="5476568" cy="17589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D7FBC4E-7DAB-05C3-2B0A-24B945285BF6}"/>
              </a:ext>
            </a:extLst>
          </p:cNvPr>
          <p:cNvCxnSpPr>
            <a:cxnSpLocks/>
          </p:cNvCxnSpPr>
          <p:nvPr/>
        </p:nvCxnSpPr>
        <p:spPr>
          <a:xfrm flipH="1">
            <a:off x="9360310" y="2961395"/>
            <a:ext cx="1229032" cy="144345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7F9F9AA-C153-91AD-6549-189B9D0B8B76}"/>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12</a:t>
            </a:r>
          </a:p>
        </p:txBody>
      </p:sp>
    </p:spTree>
    <p:extLst>
      <p:ext uri="{BB962C8B-B14F-4D97-AF65-F5344CB8AC3E}">
        <p14:creationId xmlns:p14="http://schemas.microsoft.com/office/powerpoint/2010/main" val="16404769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49162-44A1-F4BE-D257-050BD4BA6E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F8A4D7-4649-7C55-FF9F-991B847E49C4}"/>
              </a:ext>
            </a:extLst>
          </p:cNvPr>
          <p:cNvSpPr txBox="1"/>
          <p:nvPr/>
        </p:nvSpPr>
        <p:spPr>
          <a:xfrm>
            <a:off x="287079" y="151886"/>
            <a:ext cx="6783572" cy="678199"/>
          </a:xfrm>
          <a:prstGeom prst="rect">
            <a:avLst/>
          </a:prstGeom>
          <a:noFill/>
        </p:spPr>
        <p:txBody>
          <a:bodyPr wrap="square">
            <a:spAutoFit/>
          </a:bodyPr>
          <a:lstStyle/>
          <a:p>
            <a:pP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2. Support Vector Machine</a:t>
            </a:r>
          </a:p>
        </p:txBody>
      </p:sp>
      <p:sp>
        <p:nvSpPr>
          <p:cNvPr id="18" name="TextBox 17">
            <a:extLst>
              <a:ext uri="{FF2B5EF4-FFF2-40B4-BE49-F238E27FC236}">
                <a16:creationId xmlns:a16="http://schemas.microsoft.com/office/drawing/2014/main" id="{FF7B3CFA-B89F-20FD-7E93-AF8FC145BE1D}"/>
              </a:ext>
            </a:extLst>
          </p:cNvPr>
          <p:cNvSpPr txBox="1"/>
          <p:nvPr/>
        </p:nvSpPr>
        <p:spPr>
          <a:xfrm>
            <a:off x="501467" y="2689986"/>
            <a:ext cx="2682261" cy="661207"/>
          </a:xfrm>
          <a:prstGeom prst="rect">
            <a:avLst/>
          </a:prstGeom>
          <a:noFill/>
        </p:spPr>
        <p:txBody>
          <a:bodyPr wrap="square">
            <a:spAutoFit/>
          </a:bodyPr>
          <a:lstStyle/>
          <a:p>
            <a:pPr algn="just">
              <a:lnSpc>
                <a:spcPct val="150000"/>
              </a:lnSpc>
            </a:pPr>
            <a:r>
              <a:rPr lang="en-US" sz="2800" b="1" dirty="0">
                <a:effectLst/>
                <a:latin typeface="Times New Roman" panose="02020603050405020304" pitchFamily="18" charset="0"/>
                <a:ea typeface="Times New Roman" panose="02020603050405020304" pitchFamily="18" charset="0"/>
              </a:rPr>
              <a:t>Loss function</a:t>
            </a:r>
          </a:p>
        </p:txBody>
      </p:sp>
      <p:sp>
        <p:nvSpPr>
          <p:cNvPr id="19" name="TextBox 18">
            <a:extLst>
              <a:ext uri="{FF2B5EF4-FFF2-40B4-BE49-F238E27FC236}">
                <a16:creationId xmlns:a16="http://schemas.microsoft.com/office/drawing/2014/main" id="{9A9A1BE6-877C-C5F7-E353-BB30779F5E41}"/>
              </a:ext>
            </a:extLst>
          </p:cNvPr>
          <p:cNvSpPr txBox="1"/>
          <p:nvPr/>
        </p:nvSpPr>
        <p:spPr>
          <a:xfrm>
            <a:off x="7690082" y="369727"/>
            <a:ext cx="4005942" cy="661207"/>
          </a:xfrm>
          <a:prstGeom prst="rect">
            <a:avLst/>
          </a:prstGeom>
          <a:solidFill>
            <a:schemeClr val="accent6">
              <a:lumMod val="20000"/>
              <a:lumOff val="80000"/>
            </a:schemeClr>
          </a:solidFill>
        </p:spPr>
        <p:txBody>
          <a:bodyPr wrap="square">
            <a:spAutoFit/>
          </a:bodyPr>
          <a:lstStyle/>
          <a:p>
            <a:pPr algn="ctr">
              <a:lnSpc>
                <a:spcPct val="150000"/>
              </a:lnSpc>
            </a:pPr>
            <a:r>
              <a:rPr lang="en-US" sz="2800" dirty="0">
                <a:effectLst/>
                <a:latin typeface="Times New Roman" panose="02020603050405020304" pitchFamily="18" charset="0"/>
                <a:ea typeface="Times New Roman" panose="02020603050405020304" pitchFamily="18" charset="0"/>
              </a:rPr>
              <a:t>Class Imbalance </a:t>
            </a:r>
          </a:p>
        </p:txBody>
      </p:sp>
      <p:pic>
        <p:nvPicPr>
          <p:cNvPr id="6" name="Picture 5">
            <a:extLst>
              <a:ext uri="{FF2B5EF4-FFF2-40B4-BE49-F238E27FC236}">
                <a16:creationId xmlns:a16="http://schemas.microsoft.com/office/drawing/2014/main" id="{5369B96E-811C-B589-1AFA-9CC2CA401EBE}"/>
              </a:ext>
            </a:extLst>
          </p:cNvPr>
          <p:cNvPicPr>
            <a:picLocks noChangeAspect="1"/>
          </p:cNvPicPr>
          <p:nvPr/>
        </p:nvPicPr>
        <p:blipFill>
          <a:blip r:embed="rId3"/>
          <a:stretch>
            <a:fillRect/>
          </a:stretch>
        </p:blipFill>
        <p:spPr>
          <a:xfrm>
            <a:off x="3183728" y="2119248"/>
            <a:ext cx="8697495" cy="1774450"/>
          </a:xfrm>
          <a:prstGeom prst="rect">
            <a:avLst/>
          </a:prstGeom>
        </p:spPr>
      </p:pic>
      <p:sp>
        <p:nvSpPr>
          <p:cNvPr id="7" name="TextBox 6">
            <a:extLst>
              <a:ext uri="{FF2B5EF4-FFF2-40B4-BE49-F238E27FC236}">
                <a16:creationId xmlns:a16="http://schemas.microsoft.com/office/drawing/2014/main" id="{B992FAC4-FD90-5CCE-9720-DB89A5B74551}"/>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12</a:t>
            </a:r>
          </a:p>
        </p:txBody>
      </p:sp>
    </p:spTree>
    <p:extLst>
      <p:ext uri="{BB962C8B-B14F-4D97-AF65-F5344CB8AC3E}">
        <p14:creationId xmlns:p14="http://schemas.microsoft.com/office/powerpoint/2010/main" val="4469579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A3CB8-B44D-FFC1-5EAD-2CFAC246D0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A1567B-8E70-97E7-43E7-87F23F92AA9A}"/>
              </a:ext>
            </a:extLst>
          </p:cNvPr>
          <p:cNvSpPr txBox="1"/>
          <p:nvPr/>
        </p:nvSpPr>
        <p:spPr>
          <a:xfrm>
            <a:off x="287079" y="151886"/>
            <a:ext cx="6783572" cy="678199"/>
          </a:xfrm>
          <a:prstGeom prst="rect">
            <a:avLst/>
          </a:prstGeom>
          <a:noFill/>
        </p:spPr>
        <p:txBody>
          <a:bodyPr wrap="square">
            <a:spAutoFit/>
          </a:bodyPr>
          <a:lstStyle/>
          <a:p>
            <a:pP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2. Support Vector Machine</a:t>
            </a:r>
          </a:p>
        </p:txBody>
      </p:sp>
      <p:sp>
        <p:nvSpPr>
          <p:cNvPr id="18" name="TextBox 17">
            <a:extLst>
              <a:ext uri="{FF2B5EF4-FFF2-40B4-BE49-F238E27FC236}">
                <a16:creationId xmlns:a16="http://schemas.microsoft.com/office/drawing/2014/main" id="{8D11480D-DC59-4B76-7BCF-DDAF5873A8FF}"/>
              </a:ext>
            </a:extLst>
          </p:cNvPr>
          <p:cNvSpPr txBox="1"/>
          <p:nvPr/>
        </p:nvSpPr>
        <p:spPr>
          <a:xfrm>
            <a:off x="639118" y="1844412"/>
            <a:ext cx="3303617" cy="661207"/>
          </a:xfrm>
          <a:prstGeom prst="rect">
            <a:avLst/>
          </a:prstGeom>
          <a:noFill/>
        </p:spPr>
        <p:txBody>
          <a:bodyPr wrap="square">
            <a:spAutoFit/>
          </a:bodyPr>
          <a:lstStyle/>
          <a:p>
            <a:pPr algn="just">
              <a:lnSpc>
                <a:spcPct val="150000"/>
              </a:lnSpc>
            </a:pPr>
            <a:r>
              <a:rPr lang="en-US" sz="2800" b="1" dirty="0">
                <a:effectLst/>
                <a:latin typeface="Times New Roman" panose="02020603050405020304" pitchFamily="18" charset="0"/>
                <a:ea typeface="Times New Roman" panose="02020603050405020304" pitchFamily="18" charset="0"/>
              </a:rPr>
              <a:t>SVM </a:t>
            </a:r>
            <a:r>
              <a:rPr lang="en-US" sz="2800" b="1" dirty="0" err="1">
                <a:effectLst/>
                <a:latin typeface="Times New Roman" panose="02020603050405020304" pitchFamily="18" charset="0"/>
                <a:ea typeface="Times New Roman" panose="02020603050405020304" pitchFamily="18" charset="0"/>
              </a:rPr>
              <a:t>tuyến</a:t>
            </a:r>
            <a:r>
              <a:rPr lang="en-US" sz="2800" b="1" dirty="0">
                <a:effectLst/>
                <a:latin typeface="Times New Roman" panose="02020603050405020304" pitchFamily="18" charset="0"/>
                <a:ea typeface="Times New Roman" panose="02020603050405020304" pitchFamily="18" charset="0"/>
              </a:rPr>
              <a:t> </a:t>
            </a:r>
            <a:r>
              <a:rPr lang="en-US" sz="2800" b="1" dirty="0" err="1">
                <a:effectLst/>
                <a:latin typeface="Times New Roman" panose="02020603050405020304" pitchFamily="18" charset="0"/>
                <a:ea typeface="Times New Roman" panose="02020603050405020304" pitchFamily="18" charset="0"/>
              </a:rPr>
              <a:t>tính</a:t>
            </a:r>
            <a:r>
              <a:rPr lang="en-US" sz="2800" b="1" dirty="0">
                <a:effectLst/>
                <a:latin typeface="Times New Roman" panose="02020603050405020304" pitchFamily="18" charset="0"/>
                <a:ea typeface="Times New Roman" panose="02020603050405020304" pitchFamily="18" charset="0"/>
              </a:rPr>
              <a:t>: </a:t>
            </a:r>
          </a:p>
        </p:txBody>
      </p:sp>
      <p:sp>
        <p:nvSpPr>
          <p:cNvPr id="3" name="TextBox 2">
            <a:extLst>
              <a:ext uri="{FF2B5EF4-FFF2-40B4-BE49-F238E27FC236}">
                <a16:creationId xmlns:a16="http://schemas.microsoft.com/office/drawing/2014/main" id="{D82BBE21-6DC1-207E-5F1C-EC97956FA24A}"/>
              </a:ext>
            </a:extLst>
          </p:cNvPr>
          <p:cNvSpPr txBox="1"/>
          <p:nvPr/>
        </p:nvSpPr>
        <p:spPr>
          <a:xfrm>
            <a:off x="7898979" y="449677"/>
            <a:ext cx="4005942" cy="661207"/>
          </a:xfrm>
          <a:prstGeom prst="rect">
            <a:avLst/>
          </a:prstGeom>
          <a:solidFill>
            <a:schemeClr val="accent6">
              <a:lumMod val="40000"/>
              <a:lumOff val="60000"/>
            </a:schemeClr>
          </a:solidFill>
        </p:spPr>
        <p:txBody>
          <a:bodyPr wrap="square">
            <a:spAutoFit/>
          </a:bodyPr>
          <a:lstStyle/>
          <a:p>
            <a:pPr algn="ctr">
              <a:lnSpc>
                <a:spcPct val="150000"/>
              </a:lnSpc>
            </a:pPr>
            <a:r>
              <a:rPr lang="en-US" sz="2800" dirty="0">
                <a:latin typeface="Times New Roman" panose="02020603050405020304" pitchFamily="18" charset="0"/>
                <a:ea typeface="Times New Roman" panose="02020603050405020304" pitchFamily="18" charset="0"/>
              </a:rPr>
              <a:t>threshold</a:t>
            </a:r>
          </a:p>
        </p:txBody>
      </p:sp>
      <p:pic>
        <p:nvPicPr>
          <p:cNvPr id="5" name="Picture 4">
            <a:extLst>
              <a:ext uri="{FF2B5EF4-FFF2-40B4-BE49-F238E27FC236}">
                <a16:creationId xmlns:a16="http://schemas.microsoft.com/office/drawing/2014/main" id="{61A68ECD-9E51-6529-7C27-BE5F7067B4FF}"/>
              </a:ext>
            </a:extLst>
          </p:cNvPr>
          <p:cNvPicPr>
            <a:picLocks noChangeAspect="1"/>
          </p:cNvPicPr>
          <p:nvPr/>
        </p:nvPicPr>
        <p:blipFill>
          <a:blip r:embed="rId3"/>
          <a:stretch>
            <a:fillRect/>
          </a:stretch>
        </p:blipFill>
        <p:spPr>
          <a:xfrm>
            <a:off x="3839644" y="1110884"/>
            <a:ext cx="5625295" cy="1604530"/>
          </a:xfrm>
          <a:prstGeom prst="rect">
            <a:avLst/>
          </a:prstGeom>
        </p:spPr>
      </p:pic>
      <p:sp>
        <p:nvSpPr>
          <p:cNvPr id="7" name="TextBox 6">
            <a:extLst>
              <a:ext uri="{FF2B5EF4-FFF2-40B4-BE49-F238E27FC236}">
                <a16:creationId xmlns:a16="http://schemas.microsoft.com/office/drawing/2014/main" id="{F92BE902-5697-508B-14A3-123D2CC912B9}"/>
              </a:ext>
            </a:extLst>
          </p:cNvPr>
          <p:cNvSpPr txBox="1"/>
          <p:nvPr/>
        </p:nvSpPr>
        <p:spPr>
          <a:xfrm>
            <a:off x="639118" y="4228735"/>
            <a:ext cx="3303617" cy="661207"/>
          </a:xfrm>
          <a:prstGeom prst="rect">
            <a:avLst/>
          </a:prstGeom>
          <a:noFill/>
        </p:spPr>
        <p:txBody>
          <a:bodyPr wrap="square">
            <a:spAutoFit/>
          </a:bodyPr>
          <a:lstStyle/>
          <a:p>
            <a:pPr algn="just">
              <a:lnSpc>
                <a:spcPct val="150000"/>
              </a:lnSpc>
            </a:pPr>
            <a:r>
              <a:rPr lang="en-US" sz="2800" b="1" dirty="0">
                <a:effectLst/>
                <a:latin typeface="Times New Roman" panose="02020603050405020304" pitchFamily="18" charset="0"/>
                <a:ea typeface="Times New Roman" panose="02020603050405020304" pitchFamily="18" charset="0"/>
              </a:rPr>
              <a:t>SVM phi </a:t>
            </a:r>
            <a:r>
              <a:rPr lang="en-US" sz="2800" b="1" dirty="0" err="1">
                <a:effectLst/>
                <a:latin typeface="Times New Roman" panose="02020603050405020304" pitchFamily="18" charset="0"/>
                <a:ea typeface="Times New Roman" panose="02020603050405020304" pitchFamily="18" charset="0"/>
              </a:rPr>
              <a:t>tuyến</a:t>
            </a:r>
            <a:r>
              <a:rPr lang="en-US" sz="2800" b="1" dirty="0">
                <a:effectLst/>
                <a:latin typeface="Times New Roman" panose="02020603050405020304" pitchFamily="18" charset="0"/>
                <a:ea typeface="Times New Roman" panose="02020603050405020304" pitchFamily="18" charset="0"/>
              </a:rPr>
              <a:t>: </a:t>
            </a:r>
          </a:p>
        </p:txBody>
      </p:sp>
      <p:pic>
        <p:nvPicPr>
          <p:cNvPr id="9" name="Picture 8">
            <a:extLst>
              <a:ext uri="{FF2B5EF4-FFF2-40B4-BE49-F238E27FC236}">
                <a16:creationId xmlns:a16="http://schemas.microsoft.com/office/drawing/2014/main" id="{2B67D5FE-62FB-4781-C786-F9439F379D78}"/>
              </a:ext>
            </a:extLst>
          </p:cNvPr>
          <p:cNvPicPr>
            <a:picLocks noChangeAspect="1"/>
          </p:cNvPicPr>
          <p:nvPr/>
        </p:nvPicPr>
        <p:blipFill>
          <a:blip r:embed="rId4"/>
          <a:stretch>
            <a:fillRect/>
          </a:stretch>
        </p:blipFill>
        <p:spPr>
          <a:xfrm>
            <a:off x="3839644" y="3448942"/>
            <a:ext cx="7649344" cy="2392602"/>
          </a:xfrm>
          <a:prstGeom prst="rect">
            <a:avLst/>
          </a:prstGeom>
        </p:spPr>
      </p:pic>
      <p:sp>
        <p:nvSpPr>
          <p:cNvPr id="10" name="TextBox 9">
            <a:extLst>
              <a:ext uri="{FF2B5EF4-FFF2-40B4-BE49-F238E27FC236}">
                <a16:creationId xmlns:a16="http://schemas.microsoft.com/office/drawing/2014/main" id="{FB86E246-BFA2-BC21-0663-64C23C14748F}"/>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12</a:t>
            </a:r>
          </a:p>
        </p:txBody>
      </p:sp>
    </p:spTree>
    <p:extLst>
      <p:ext uri="{BB962C8B-B14F-4D97-AF65-F5344CB8AC3E}">
        <p14:creationId xmlns:p14="http://schemas.microsoft.com/office/powerpoint/2010/main" val="4650612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60886-82FA-7D09-D594-A1F8CBF7D3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AB007E-A099-F6EA-7F4E-BD8CE21DA769}"/>
              </a:ext>
            </a:extLst>
          </p:cNvPr>
          <p:cNvSpPr txBox="1"/>
          <p:nvPr/>
        </p:nvSpPr>
        <p:spPr>
          <a:xfrm>
            <a:off x="287079" y="151886"/>
            <a:ext cx="6783572" cy="678199"/>
          </a:xfrm>
          <a:prstGeom prst="rect">
            <a:avLst/>
          </a:prstGeom>
          <a:noFill/>
        </p:spPr>
        <p:txBody>
          <a:bodyPr wrap="square">
            <a:spAutoFit/>
          </a:bodyPr>
          <a:lstStyle/>
          <a:p>
            <a:pPr>
              <a:lnSpc>
                <a:spcPct val="130000"/>
              </a:lnSpc>
              <a:spcAft>
                <a:spcPts val="800"/>
              </a:spcAft>
              <a:buNone/>
            </a:pPr>
            <a:r>
              <a:rPr lang="en-US" sz="3200" b="1" dirty="0">
                <a:solidFill>
                  <a:srgbClr val="FF0000"/>
                </a:solidFill>
                <a:effectLst/>
                <a:latin typeface="Times New Roman" panose="02020603050405020304" pitchFamily="18" charset="0"/>
                <a:ea typeface="Calibri" panose="020F0502020204030204" pitchFamily="34" charset="0"/>
              </a:rPr>
              <a:t>2. Support Vector Machine</a:t>
            </a:r>
          </a:p>
        </p:txBody>
      </p:sp>
      <p:sp>
        <p:nvSpPr>
          <p:cNvPr id="18" name="TextBox 17">
            <a:extLst>
              <a:ext uri="{FF2B5EF4-FFF2-40B4-BE49-F238E27FC236}">
                <a16:creationId xmlns:a16="http://schemas.microsoft.com/office/drawing/2014/main" id="{E8BD1661-825F-13F7-42CC-B3C5213A546C}"/>
              </a:ext>
            </a:extLst>
          </p:cNvPr>
          <p:cNvSpPr txBox="1"/>
          <p:nvPr/>
        </p:nvSpPr>
        <p:spPr>
          <a:xfrm>
            <a:off x="678447" y="2188541"/>
            <a:ext cx="3303617" cy="661207"/>
          </a:xfrm>
          <a:prstGeom prst="rect">
            <a:avLst/>
          </a:prstGeom>
          <a:noFill/>
        </p:spPr>
        <p:txBody>
          <a:bodyPr wrap="square">
            <a:spAutoFit/>
          </a:bodyPr>
          <a:lstStyle/>
          <a:p>
            <a:pPr algn="just">
              <a:lnSpc>
                <a:spcPct val="150000"/>
              </a:lnSpc>
            </a:pPr>
            <a:r>
              <a:rPr lang="en-US" sz="2800" b="1" dirty="0">
                <a:latin typeface="Times New Roman" panose="02020603050405020304" pitchFamily="18" charset="0"/>
                <a:ea typeface="Times New Roman" panose="02020603050405020304" pitchFamily="18" charset="0"/>
              </a:rPr>
              <a:t>Loss function</a:t>
            </a:r>
          </a:p>
        </p:txBody>
      </p:sp>
      <p:sp>
        <p:nvSpPr>
          <p:cNvPr id="4" name="TextBox 3">
            <a:extLst>
              <a:ext uri="{FF2B5EF4-FFF2-40B4-BE49-F238E27FC236}">
                <a16:creationId xmlns:a16="http://schemas.microsoft.com/office/drawing/2014/main" id="{0C27ECDF-F4A3-6872-5DD8-A50A9F669E88}"/>
              </a:ext>
            </a:extLst>
          </p:cNvPr>
          <p:cNvSpPr txBox="1"/>
          <p:nvPr/>
        </p:nvSpPr>
        <p:spPr>
          <a:xfrm>
            <a:off x="7745725" y="345023"/>
            <a:ext cx="4005942" cy="661207"/>
          </a:xfrm>
          <a:prstGeom prst="rect">
            <a:avLst/>
          </a:prstGeom>
          <a:solidFill>
            <a:schemeClr val="accent6">
              <a:lumMod val="60000"/>
              <a:lumOff val="40000"/>
            </a:schemeClr>
          </a:solidFill>
        </p:spPr>
        <p:txBody>
          <a:bodyPr wrap="square">
            <a:spAutoFit/>
          </a:bodyPr>
          <a:lstStyle/>
          <a:p>
            <a:pPr algn="ctr">
              <a:lnSpc>
                <a:spcPct val="150000"/>
              </a:lnSpc>
            </a:pPr>
            <a:r>
              <a:rPr lang="en-US" sz="2800" dirty="0">
                <a:latin typeface="Times New Roman" panose="02020603050405020304" pitchFamily="18" charset="0"/>
                <a:ea typeface="Times New Roman" panose="02020603050405020304" pitchFamily="18" charset="0"/>
              </a:rPr>
              <a:t>C parameter</a:t>
            </a:r>
          </a:p>
        </p:txBody>
      </p:sp>
      <p:pic>
        <p:nvPicPr>
          <p:cNvPr id="8" name="Picture 7">
            <a:extLst>
              <a:ext uri="{FF2B5EF4-FFF2-40B4-BE49-F238E27FC236}">
                <a16:creationId xmlns:a16="http://schemas.microsoft.com/office/drawing/2014/main" id="{0CD8A98A-1AB6-6090-6ABD-8B9B04F2F6F6}"/>
              </a:ext>
            </a:extLst>
          </p:cNvPr>
          <p:cNvPicPr>
            <a:picLocks noChangeAspect="1"/>
          </p:cNvPicPr>
          <p:nvPr/>
        </p:nvPicPr>
        <p:blipFill>
          <a:blip r:embed="rId3"/>
          <a:stretch>
            <a:fillRect/>
          </a:stretch>
        </p:blipFill>
        <p:spPr>
          <a:xfrm>
            <a:off x="3678865" y="1726850"/>
            <a:ext cx="7734566" cy="1584588"/>
          </a:xfrm>
          <a:prstGeom prst="rect">
            <a:avLst/>
          </a:prstGeom>
        </p:spPr>
      </p:pic>
      <p:sp>
        <p:nvSpPr>
          <p:cNvPr id="10" name="TextBox 9">
            <a:extLst>
              <a:ext uri="{FF2B5EF4-FFF2-40B4-BE49-F238E27FC236}">
                <a16:creationId xmlns:a16="http://schemas.microsoft.com/office/drawing/2014/main" id="{D9116A9F-F977-B103-1149-AEB5AE993049}"/>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12</a:t>
            </a:r>
          </a:p>
        </p:txBody>
      </p:sp>
    </p:spTree>
    <p:extLst>
      <p:ext uri="{BB962C8B-B14F-4D97-AF65-F5344CB8AC3E}">
        <p14:creationId xmlns:p14="http://schemas.microsoft.com/office/powerpoint/2010/main" val="9228814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F484D-9017-87A9-FFD6-9504FC607390}"/>
            </a:ext>
          </a:extLst>
        </p:cNvPr>
        <p:cNvGrpSpPr/>
        <p:nvPr/>
      </p:nvGrpSpPr>
      <p:grpSpPr>
        <a:xfrm>
          <a:off x="0" y="0"/>
          <a:ext cx="0" cy="0"/>
          <a:chOff x="0" y="0"/>
          <a:chExt cx="0" cy="0"/>
        </a:xfrm>
      </p:grpSpPr>
      <p:pic>
        <p:nvPicPr>
          <p:cNvPr id="1026" name="Picture 2" descr="User (computing) - Wikipedia">
            <a:extLst>
              <a:ext uri="{FF2B5EF4-FFF2-40B4-BE49-F238E27FC236}">
                <a16:creationId xmlns:a16="http://schemas.microsoft.com/office/drawing/2014/main" id="{325D53F3-F5B9-BB28-D949-6491CD0503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979" y="0"/>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ckend Development | Software ...">
            <a:extLst>
              <a:ext uri="{FF2B5EF4-FFF2-40B4-BE49-F238E27FC236}">
                <a16:creationId xmlns:a16="http://schemas.microsoft.com/office/drawing/2014/main" id="{968B208E-10AC-B406-7FE8-3E4D03BAC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4632" y="2817160"/>
            <a:ext cx="1141256" cy="11412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DD0E68B-6716-1AA7-8748-5B1FA0F112E5}"/>
              </a:ext>
            </a:extLst>
          </p:cNvPr>
          <p:cNvPicPr>
            <a:picLocks noChangeAspect="1"/>
          </p:cNvPicPr>
          <p:nvPr/>
        </p:nvPicPr>
        <p:blipFill>
          <a:blip r:embed="rId4"/>
          <a:stretch>
            <a:fillRect/>
          </a:stretch>
        </p:blipFill>
        <p:spPr>
          <a:xfrm>
            <a:off x="2710671" y="4714875"/>
            <a:ext cx="2019300" cy="2066925"/>
          </a:xfrm>
          <a:prstGeom prst="rect">
            <a:avLst/>
          </a:prstGeom>
        </p:spPr>
      </p:pic>
      <p:cxnSp>
        <p:nvCxnSpPr>
          <p:cNvPr id="10" name="Straight Arrow Connector 9">
            <a:extLst>
              <a:ext uri="{FF2B5EF4-FFF2-40B4-BE49-F238E27FC236}">
                <a16:creationId xmlns:a16="http://schemas.microsoft.com/office/drawing/2014/main" id="{F20E2774-17EF-0B6A-D2B7-AD119E95711E}"/>
              </a:ext>
            </a:extLst>
          </p:cNvPr>
          <p:cNvCxnSpPr>
            <a:cxnSpLocks/>
          </p:cNvCxnSpPr>
          <p:nvPr/>
        </p:nvCxnSpPr>
        <p:spPr>
          <a:xfrm flipH="1">
            <a:off x="3635260" y="1949953"/>
            <a:ext cx="1" cy="812726"/>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C21C57-66B5-7A73-FB64-03D337EEF583}"/>
              </a:ext>
            </a:extLst>
          </p:cNvPr>
          <p:cNvCxnSpPr>
            <a:cxnSpLocks/>
          </p:cNvCxnSpPr>
          <p:nvPr/>
        </p:nvCxnSpPr>
        <p:spPr>
          <a:xfrm flipH="1">
            <a:off x="3635260" y="4012898"/>
            <a:ext cx="1" cy="699734"/>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Học máy - thuật toán AI học như thế nào - Nguyễn Nam Phong">
            <a:extLst>
              <a:ext uri="{FF2B5EF4-FFF2-40B4-BE49-F238E27FC236}">
                <a16:creationId xmlns:a16="http://schemas.microsoft.com/office/drawing/2014/main" id="{D6A2758A-D9AB-8D21-36F5-0CB5FF3B3A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289675"/>
            <a:ext cx="3955991" cy="227865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C25A4AA5-EB46-3C6A-5BD6-19647FA003B2}"/>
              </a:ext>
            </a:extLst>
          </p:cNvPr>
          <p:cNvCxnSpPr>
            <a:cxnSpLocks/>
          </p:cNvCxnSpPr>
          <p:nvPr/>
        </p:nvCxnSpPr>
        <p:spPr>
          <a:xfrm>
            <a:off x="4296166" y="3387788"/>
            <a:ext cx="1562979" cy="0"/>
          </a:xfrm>
          <a:prstGeom prst="straightConnector1">
            <a:avLst/>
          </a:prstGeom>
          <a:ln w="76200">
            <a:solidFill>
              <a:srgbClr val="FF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2046395-5EB0-D826-4D82-53988B8E6C32}"/>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13</a:t>
            </a:r>
          </a:p>
        </p:txBody>
      </p:sp>
    </p:spTree>
    <p:extLst>
      <p:ext uri="{BB962C8B-B14F-4D97-AF65-F5344CB8AC3E}">
        <p14:creationId xmlns:p14="http://schemas.microsoft.com/office/powerpoint/2010/main" val="13913692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repeatCount="indefinite" fill="hold" nodeType="afterEffect">
                                  <p:stCondLst>
                                    <p:cond delay="0"/>
                                  </p:stCondLst>
                                  <p:endCondLst>
                                    <p:cond evt="onNext" delay="0">
                                      <p:tgtEl>
                                        <p:sldTgt/>
                                      </p:tgtEl>
                                    </p:cond>
                                  </p:end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0C583-DFFA-D844-BBA7-73FEB1A422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FD198E-5994-8E9D-1B19-7CE67BC4E881}"/>
              </a:ext>
            </a:extLst>
          </p:cNvPr>
          <p:cNvSpPr txBox="1"/>
          <p:nvPr/>
        </p:nvSpPr>
        <p:spPr>
          <a:xfrm>
            <a:off x="81048" y="172193"/>
            <a:ext cx="2859376" cy="971100"/>
          </a:xfrm>
          <a:prstGeom prst="rect">
            <a:avLst/>
          </a:prstGeom>
          <a:noFill/>
        </p:spPr>
        <p:txBody>
          <a:bodyPr wrap="square">
            <a:spAutoFit/>
          </a:bodyPr>
          <a:lstStyle/>
          <a:p>
            <a:pPr algn="ctr">
              <a:lnSpc>
                <a:spcPct val="130000"/>
              </a:lnSpc>
              <a:spcAft>
                <a:spcPts val="800"/>
              </a:spcAft>
              <a:buNone/>
            </a:pPr>
            <a:r>
              <a:rPr lang="en-US" sz="4800" b="1" dirty="0">
                <a:solidFill>
                  <a:srgbClr val="FF0000"/>
                </a:solidFill>
                <a:effectLst/>
                <a:latin typeface="Times New Roman" panose="02020603050405020304" pitchFamily="18" charset="0"/>
                <a:ea typeface="Calibri" panose="020F0502020204030204" pitchFamily="34" charset="0"/>
              </a:rPr>
              <a:t>Dataset</a:t>
            </a:r>
            <a:endParaRPr lang="en-US" sz="4800" dirty="0">
              <a:solidFill>
                <a:srgbClr val="FF0000"/>
              </a:solidFill>
              <a:effectLst/>
              <a:latin typeface="Calibri" panose="020F0502020204030204" pitchFamily="34" charset="0"/>
              <a:ea typeface="Calibri" panose="020F0502020204030204" pitchFamily="34" charset="0"/>
            </a:endParaRPr>
          </a:p>
        </p:txBody>
      </p:sp>
      <p:graphicFrame>
        <p:nvGraphicFramePr>
          <p:cNvPr id="3" name="Table 2">
            <a:extLst>
              <a:ext uri="{FF2B5EF4-FFF2-40B4-BE49-F238E27FC236}">
                <a16:creationId xmlns:a16="http://schemas.microsoft.com/office/drawing/2014/main" id="{252C911C-1D03-5127-9851-F642B24B4A27}"/>
              </a:ext>
            </a:extLst>
          </p:cNvPr>
          <p:cNvGraphicFramePr>
            <a:graphicFrameLocks noGrp="1"/>
          </p:cNvGraphicFramePr>
          <p:nvPr>
            <p:extLst>
              <p:ext uri="{D42A27DB-BD31-4B8C-83A1-F6EECF244321}">
                <p14:modId xmlns:p14="http://schemas.microsoft.com/office/powerpoint/2010/main" val="1955952023"/>
              </p:ext>
            </p:extLst>
          </p:nvPr>
        </p:nvGraphicFramePr>
        <p:xfrm>
          <a:off x="3674322" y="172193"/>
          <a:ext cx="8302525" cy="6049313"/>
        </p:xfrm>
        <a:graphic>
          <a:graphicData uri="http://schemas.openxmlformats.org/drawingml/2006/table">
            <a:tbl>
              <a:tblPr firstRow="1" firstCol="1" bandRow="1">
                <a:tableStyleId>{5C22544A-7EE6-4342-B048-85BDC9FD1C3A}</a:tableStyleId>
              </a:tblPr>
              <a:tblGrid>
                <a:gridCol w="3166440">
                  <a:extLst>
                    <a:ext uri="{9D8B030D-6E8A-4147-A177-3AD203B41FA5}">
                      <a16:colId xmlns:a16="http://schemas.microsoft.com/office/drawing/2014/main" val="1058055619"/>
                    </a:ext>
                  </a:extLst>
                </a:gridCol>
                <a:gridCol w="5136085">
                  <a:extLst>
                    <a:ext uri="{9D8B030D-6E8A-4147-A177-3AD203B41FA5}">
                      <a16:colId xmlns:a16="http://schemas.microsoft.com/office/drawing/2014/main" val="2408172376"/>
                    </a:ext>
                  </a:extLst>
                </a:gridCol>
              </a:tblGrid>
              <a:tr h="548604">
                <a:tc>
                  <a:txBody>
                    <a:bodyPr/>
                    <a:lstStyle/>
                    <a:p>
                      <a:pPr algn="ctr">
                        <a:lnSpc>
                          <a:spcPct val="130000"/>
                        </a:lnSpc>
                        <a:spcAft>
                          <a:spcPts val="600"/>
                        </a:spcAft>
                        <a:buNone/>
                      </a:pPr>
                      <a:r>
                        <a:rPr lang="en-US" sz="2400" dirty="0" err="1">
                          <a:effectLst/>
                        </a:rPr>
                        <a:t>Cột</a:t>
                      </a:r>
                      <a:endParaRPr lang="en-US" sz="24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30000"/>
                        </a:lnSpc>
                        <a:spcAft>
                          <a:spcPts val="600"/>
                        </a:spcAft>
                        <a:buNone/>
                      </a:pPr>
                      <a:r>
                        <a:rPr lang="en-US" sz="2400" dirty="0" err="1">
                          <a:effectLst/>
                        </a:rPr>
                        <a:t>Mô</a:t>
                      </a:r>
                      <a:r>
                        <a:rPr lang="en-US" sz="2400" dirty="0">
                          <a:effectLst/>
                        </a:rPr>
                        <a:t> </a:t>
                      </a:r>
                      <a:r>
                        <a:rPr lang="en-US" sz="2400" dirty="0" err="1">
                          <a:effectLst/>
                        </a:rPr>
                        <a:t>tả</a:t>
                      </a:r>
                      <a:endParaRPr lang="en-US" sz="24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415449963"/>
                  </a:ext>
                </a:extLst>
              </a:tr>
              <a:tr h="548604">
                <a:tc>
                  <a:txBody>
                    <a:bodyPr/>
                    <a:lstStyle/>
                    <a:p>
                      <a:pPr algn="just">
                        <a:lnSpc>
                          <a:spcPct val="130000"/>
                        </a:lnSpc>
                        <a:spcAft>
                          <a:spcPts val="600"/>
                        </a:spcAft>
                        <a:buNone/>
                      </a:pPr>
                      <a:r>
                        <a:rPr lang="en-US" sz="2400" dirty="0">
                          <a:effectLst/>
                        </a:rPr>
                        <a:t>User ID</a:t>
                      </a:r>
                      <a:endParaRPr lang="en-US" sz="24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dirty="0" err="1">
                          <a:effectLst/>
                        </a:rPr>
                        <a:t>Mã</a:t>
                      </a:r>
                      <a:r>
                        <a:rPr lang="en-US" sz="2400" dirty="0">
                          <a:effectLst/>
                        </a:rPr>
                        <a:t> </a:t>
                      </a:r>
                      <a:r>
                        <a:rPr lang="en-US" sz="2400" dirty="0" err="1">
                          <a:effectLst/>
                        </a:rPr>
                        <a:t>người</a:t>
                      </a:r>
                      <a:r>
                        <a:rPr lang="en-US" sz="2400" dirty="0">
                          <a:effectLst/>
                        </a:rPr>
                        <a:t> </a:t>
                      </a:r>
                      <a:r>
                        <a:rPr lang="en-US" sz="2400" dirty="0" err="1">
                          <a:effectLst/>
                        </a:rPr>
                        <a:t>dùng</a:t>
                      </a:r>
                      <a:r>
                        <a:rPr lang="en-US" sz="2400" dirty="0">
                          <a:effectLst/>
                        </a:rPr>
                        <a:t> </a:t>
                      </a:r>
                      <a:endParaRPr lang="en-US" sz="24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37332899"/>
                  </a:ext>
                </a:extLst>
              </a:tr>
              <a:tr h="548604">
                <a:tc>
                  <a:txBody>
                    <a:bodyPr/>
                    <a:lstStyle/>
                    <a:p>
                      <a:pPr algn="just">
                        <a:lnSpc>
                          <a:spcPct val="130000"/>
                        </a:lnSpc>
                        <a:spcAft>
                          <a:spcPts val="600"/>
                        </a:spcAft>
                        <a:buNone/>
                      </a:pPr>
                      <a:r>
                        <a:rPr lang="en-US" sz="2400">
                          <a:effectLst/>
                        </a:rPr>
                        <a:t>Timestamp</a:t>
                      </a:r>
                      <a:endParaRPr lang="en-US" sz="240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a:effectLst/>
                        </a:rPr>
                        <a:t>Thời gian đăng nhập</a:t>
                      </a:r>
                      <a:endParaRPr lang="en-US" sz="24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134719287"/>
                  </a:ext>
                </a:extLst>
              </a:tr>
              <a:tr h="548604">
                <a:tc>
                  <a:txBody>
                    <a:bodyPr/>
                    <a:lstStyle/>
                    <a:p>
                      <a:pPr algn="just">
                        <a:lnSpc>
                          <a:spcPct val="130000"/>
                        </a:lnSpc>
                        <a:spcAft>
                          <a:spcPts val="600"/>
                        </a:spcAft>
                        <a:buNone/>
                      </a:pPr>
                      <a:r>
                        <a:rPr lang="en-US" sz="2400">
                          <a:effectLst/>
                        </a:rPr>
                        <a:t>Login Status</a:t>
                      </a:r>
                      <a:endParaRPr lang="en-US" sz="240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dirty="0" err="1">
                          <a:effectLst/>
                        </a:rPr>
                        <a:t>Kết</a:t>
                      </a:r>
                      <a:r>
                        <a:rPr lang="en-US" sz="2400" dirty="0">
                          <a:effectLst/>
                        </a:rPr>
                        <a:t> </a:t>
                      </a:r>
                      <a:r>
                        <a:rPr lang="en-US" sz="2400" dirty="0" err="1">
                          <a:effectLst/>
                        </a:rPr>
                        <a:t>quả</a:t>
                      </a:r>
                      <a:r>
                        <a:rPr lang="en-US" sz="2400" dirty="0">
                          <a:effectLst/>
                        </a:rPr>
                        <a:t> </a:t>
                      </a:r>
                      <a:r>
                        <a:rPr lang="en-US" sz="2400" dirty="0" err="1">
                          <a:effectLst/>
                        </a:rPr>
                        <a:t>đăng</a:t>
                      </a:r>
                      <a:r>
                        <a:rPr lang="en-US" sz="2400" dirty="0">
                          <a:effectLst/>
                        </a:rPr>
                        <a:t> </a:t>
                      </a:r>
                      <a:r>
                        <a:rPr lang="en-US" sz="2400" dirty="0" err="1">
                          <a:effectLst/>
                        </a:rPr>
                        <a:t>nhập</a:t>
                      </a:r>
                      <a:r>
                        <a:rPr lang="en-US" sz="2400" dirty="0">
                          <a:effectLst/>
                        </a:rPr>
                        <a:t> (Success / Failed)</a:t>
                      </a:r>
                      <a:endParaRPr lang="en-US" sz="24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565027814"/>
                  </a:ext>
                </a:extLst>
              </a:tr>
              <a:tr h="548604">
                <a:tc>
                  <a:txBody>
                    <a:bodyPr/>
                    <a:lstStyle/>
                    <a:p>
                      <a:pPr algn="just">
                        <a:lnSpc>
                          <a:spcPct val="130000"/>
                        </a:lnSpc>
                        <a:spcAft>
                          <a:spcPts val="600"/>
                        </a:spcAft>
                        <a:buNone/>
                      </a:pPr>
                      <a:r>
                        <a:rPr lang="en-US" sz="2400">
                          <a:effectLst/>
                        </a:rPr>
                        <a:t>IP Address</a:t>
                      </a:r>
                      <a:endParaRPr lang="en-US" sz="240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a:effectLst/>
                        </a:rPr>
                        <a:t>Địa chỉ IP thiết bị đăng nhập</a:t>
                      </a:r>
                      <a:endParaRPr lang="en-US" sz="24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676416171"/>
                  </a:ext>
                </a:extLst>
              </a:tr>
              <a:tr h="548604">
                <a:tc>
                  <a:txBody>
                    <a:bodyPr/>
                    <a:lstStyle/>
                    <a:p>
                      <a:pPr algn="just">
                        <a:lnSpc>
                          <a:spcPct val="130000"/>
                        </a:lnSpc>
                        <a:spcAft>
                          <a:spcPts val="600"/>
                        </a:spcAft>
                        <a:buNone/>
                      </a:pPr>
                      <a:r>
                        <a:rPr lang="en-US" sz="2400">
                          <a:effectLst/>
                        </a:rPr>
                        <a:t>Device Type</a:t>
                      </a:r>
                      <a:endParaRPr lang="en-US" sz="240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dirty="0" err="1">
                          <a:effectLst/>
                        </a:rPr>
                        <a:t>Loại</a:t>
                      </a:r>
                      <a:r>
                        <a:rPr lang="en-US" sz="2400" dirty="0">
                          <a:effectLst/>
                        </a:rPr>
                        <a:t> </a:t>
                      </a:r>
                      <a:r>
                        <a:rPr lang="en-US" sz="2400" dirty="0" err="1">
                          <a:effectLst/>
                        </a:rPr>
                        <a:t>thiết</a:t>
                      </a:r>
                      <a:r>
                        <a:rPr lang="en-US" sz="2400" dirty="0">
                          <a:effectLst/>
                        </a:rPr>
                        <a:t> </a:t>
                      </a:r>
                      <a:r>
                        <a:rPr lang="en-US" sz="2400" dirty="0" err="1">
                          <a:effectLst/>
                        </a:rPr>
                        <a:t>bị</a:t>
                      </a:r>
                      <a:r>
                        <a:rPr lang="en-US" sz="2400" dirty="0">
                          <a:effectLst/>
                        </a:rPr>
                        <a:t> (Desktop, Mobile, Tablet)</a:t>
                      </a:r>
                      <a:endParaRPr lang="en-US" sz="24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387341312"/>
                  </a:ext>
                </a:extLst>
              </a:tr>
              <a:tr h="548604">
                <a:tc>
                  <a:txBody>
                    <a:bodyPr/>
                    <a:lstStyle/>
                    <a:p>
                      <a:pPr algn="just">
                        <a:lnSpc>
                          <a:spcPct val="130000"/>
                        </a:lnSpc>
                        <a:spcAft>
                          <a:spcPts val="600"/>
                        </a:spcAft>
                        <a:buNone/>
                      </a:pPr>
                      <a:r>
                        <a:rPr lang="en-US" sz="2400">
                          <a:effectLst/>
                        </a:rPr>
                        <a:t>Location</a:t>
                      </a:r>
                      <a:endParaRPr lang="en-US" sz="240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a:effectLst/>
                        </a:rPr>
                        <a:t>Quốc gia</a:t>
                      </a:r>
                      <a:endParaRPr lang="en-US" sz="24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619805444"/>
                  </a:ext>
                </a:extLst>
              </a:tr>
              <a:tr h="548604">
                <a:tc>
                  <a:txBody>
                    <a:bodyPr/>
                    <a:lstStyle/>
                    <a:p>
                      <a:pPr algn="just">
                        <a:lnSpc>
                          <a:spcPct val="130000"/>
                        </a:lnSpc>
                        <a:spcAft>
                          <a:spcPts val="600"/>
                        </a:spcAft>
                        <a:buNone/>
                      </a:pPr>
                      <a:r>
                        <a:rPr lang="en-US" sz="2400">
                          <a:effectLst/>
                        </a:rPr>
                        <a:t>Session Duration</a:t>
                      </a:r>
                      <a:endParaRPr lang="en-US" sz="240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a:effectLst/>
                        </a:rPr>
                        <a:t>Thời lượng phiên truy cập (giây)</a:t>
                      </a:r>
                      <a:endParaRPr lang="en-US" sz="24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20600939"/>
                  </a:ext>
                </a:extLst>
              </a:tr>
              <a:tr h="548604">
                <a:tc>
                  <a:txBody>
                    <a:bodyPr/>
                    <a:lstStyle/>
                    <a:p>
                      <a:pPr algn="just">
                        <a:lnSpc>
                          <a:spcPct val="130000"/>
                        </a:lnSpc>
                        <a:spcAft>
                          <a:spcPts val="600"/>
                        </a:spcAft>
                        <a:buNone/>
                      </a:pPr>
                      <a:r>
                        <a:rPr lang="en-US" sz="2400">
                          <a:effectLst/>
                        </a:rPr>
                        <a:t>Failed Attempts</a:t>
                      </a:r>
                      <a:endParaRPr lang="en-US" sz="240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a:effectLst/>
                        </a:rPr>
                        <a:t>Số lần thử sai trước đó</a:t>
                      </a:r>
                      <a:endParaRPr lang="en-US" sz="24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830503181"/>
                  </a:ext>
                </a:extLst>
              </a:tr>
              <a:tr h="563273">
                <a:tc>
                  <a:txBody>
                    <a:bodyPr/>
                    <a:lstStyle/>
                    <a:p>
                      <a:pPr algn="just">
                        <a:lnSpc>
                          <a:spcPct val="130000"/>
                        </a:lnSpc>
                        <a:spcAft>
                          <a:spcPts val="600"/>
                        </a:spcAft>
                        <a:buNone/>
                      </a:pPr>
                      <a:r>
                        <a:rPr lang="en-US" sz="2400" dirty="0">
                          <a:effectLst/>
                        </a:rPr>
                        <a:t>Behavioral Score</a:t>
                      </a:r>
                      <a:endParaRPr lang="en-US" sz="24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dirty="0" err="1">
                          <a:effectLst/>
                        </a:rPr>
                        <a:t>Điểm</a:t>
                      </a:r>
                      <a:r>
                        <a:rPr lang="en-US" sz="2400" dirty="0">
                          <a:effectLst/>
                        </a:rPr>
                        <a:t> </a:t>
                      </a:r>
                      <a:r>
                        <a:rPr lang="en-US" sz="2400" dirty="0" err="1">
                          <a:effectLst/>
                        </a:rPr>
                        <a:t>hành</a:t>
                      </a:r>
                      <a:r>
                        <a:rPr lang="en-US" sz="2400" dirty="0">
                          <a:effectLst/>
                        </a:rPr>
                        <a:t> vi</a:t>
                      </a:r>
                      <a:endParaRPr lang="en-US" sz="24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4270157867"/>
                  </a:ext>
                </a:extLst>
              </a:tr>
              <a:tr h="548604">
                <a:tc>
                  <a:txBody>
                    <a:bodyPr/>
                    <a:lstStyle/>
                    <a:p>
                      <a:pPr algn="just">
                        <a:lnSpc>
                          <a:spcPct val="130000"/>
                        </a:lnSpc>
                        <a:spcAft>
                          <a:spcPts val="600"/>
                        </a:spcAft>
                        <a:buNone/>
                      </a:pPr>
                      <a:r>
                        <a:rPr lang="en-US" sz="2400">
                          <a:effectLst/>
                        </a:rPr>
                        <a:t>Anomaly</a:t>
                      </a:r>
                      <a:endParaRPr lang="en-US" sz="240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30000"/>
                        </a:lnSpc>
                        <a:spcAft>
                          <a:spcPts val="600"/>
                        </a:spcAft>
                        <a:buNone/>
                      </a:pPr>
                      <a:r>
                        <a:rPr lang="en-US" sz="2400" dirty="0" err="1">
                          <a:effectLst/>
                        </a:rPr>
                        <a:t>Nhãn</a:t>
                      </a:r>
                      <a:r>
                        <a:rPr lang="en-US" sz="2400" dirty="0">
                          <a:effectLst/>
                        </a:rPr>
                        <a:t> (0: </a:t>
                      </a:r>
                      <a:r>
                        <a:rPr lang="en-US" sz="2400" dirty="0" err="1">
                          <a:effectLst/>
                        </a:rPr>
                        <a:t>bình</a:t>
                      </a:r>
                      <a:r>
                        <a:rPr lang="en-US" sz="2400" dirty="0">
                          <a:effectLst/>
                        </a:rPr>
                        <a:t> </a:t>
                      </a:r>
                      <a:r>
                        <a:rPr lang="en-US" sz="2400" dirty="0" err="1">
                          <a:effectLst/>
                        </a:rPr>
                        <a:t>thường</a:t>
                      </a:r>
                      <a:r>
                        <a:rPr lang="en-US" sz="2400" dirty="0">
                          <a:effectLst/>
                        </a:rPr>
                        <a:t>, 1: </a:t>
                      </a:r>
                      <a:r>
                        <a:rPr lang="en-US" sz="2400" dirty="0" err="1">
                          <a:effectLst/>
                        </a:rPr>
                        <a:t>bất</a:t>
                      </a:r>
                      <a:r>
                        <a:rPr lang="en-US" sz="2400" dirty="0">
                          <a:effectLst/>
                        </a:rPr>
                        <a:t> </a:t>
                      </a:r>
                      <a:r>
                        <a:rPr lang="en-US" sz="2400" dirty="0" err="1">
                          <a:effectLst/>
                        </a:rPr>
                        <a:t>thường</a:t>
                      </a:r>
                      <a:r>
                        <a:rPr lang="en-US" sz="2400" dirty="0">
                          <a:effectLst/>
                        </a:rPr>
                        <a:t>)</a:t>
                      </a:r>
                      <a:endParaRPr lang="en-US" sz="24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420357755"/>
                  </a:ext>
                </a:extLst>
              </a:tr>
            </a:tbl>
          </a:graphicData>
        </a:graphic>
      </p:graphicFrame>
      <p:sp>
        <p:nvSpPr>
          <p:cNvPr id="6" name="TextBox 5">
            <a:extLst>
              <a:ext uri="{FF2B5EF4-FFF2-40B4-BE49-F238E27FC236}">
                <a16:creationId xmlns:a16="http://schemas.microsoft.com/office/drawing/2014/main" id="{17863BB6-A849-E9A4-6ED6-A81894AEC3BC}"/>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14</a:t>
            </a:r>
          </a:p>
        </p:txBody>
      </p:sp>
      <p:sp>
        <p:nvSpPr>
          <p:cNvPr id="5" name="TextBox 4">
            <a:extLst>
              <a:ext uri="{FF2B5EF4-FFF2-40B4-BE49-F238E27FC236}">
                <a16:creationId xmlns:a16="http://schemas.microsoft.com/office/drawing/2014/main" id="{133B1287-FA0B-F414-B5C1-EBCD8065712E}"/>
              </a:ext>
            </a:extLst>
          </p:cNvPr>
          <p:cNvSpPr txBox="1"/>
          <p:nvPr/>
        </p:nvSpPr>
        <p:spPr>
          <a:xfrm>
            <a:off x="215152" y="3146377"/>
            <a:ext cx="3333940" cy="3539430"/>
          </a:xfrm>
          <a:prstGeom prst="rect">
            <a:avLst/>
          </a:prstGeom>
          <a:noFill/>
        </p:spPr>
        <p:txBody>
          <a:bodyPr wrap="square">
            <a:spAutoFit/>
          </a:bodyPr>
          <a:lstStyle/>
          <a:p>
            <a:r>
              <a:rPr lang="en-US" sz="2800" u="sng" dirty="0">
                <a:solidFill>
                  <a:srgbClr val="0563C1"/>
                </a:solidFill>
                <a:effectLst/>
                <a:latin typeface="Times New Roman" panose="02020603050405020304" pitchFamily="18" charset="0"/>
                <a:ea typeface="Times New Roman" panose="02020603050405020304" pitchFamily="18" charset="0"/>
              </a:rPr>
              <a:t>13. </a:t>
            </a:r>
            <a:r>
              <a:rPr lang="vi-VN" sz="2800" u="sng" dirty="0">
                <a:solidFill>
                  <a:srgbClr val="0563C1"/>
                </a:solidFill>
                <a:effectLst/>
                <a:latin typeface="Times New Roman" panose="02020603050405020304" pitchFamily="18" charset="0"/>
                <a:ea typeface="Times New Roman" panose="02020603050405020304" pitchFamily="18" charset="0"/>
              </a:rPr>
              <a:t>Gholamrezaei, H.</a:t>
            </a:r>
            <a:r>
              <a:rPr lang="vi-VN" sz="2800" dirty="0">
                <a:effectLst/>
                <a:latin typeface="Times New Roman" panose="02020603050405020304" pitchFamily="18" charset="0"/>
                <a:ea typeface="Times New Roman" panose="02020603050405020304" pitchFamily="18" charset="0"/>
              </a:rPr>
              <a:t> (2024). </a:t>
            </a:r>
            <a:r>
              <a:rPr lang="vi-VN" sz="2800" i="1" dirty="0">
                <a:effectLst/>
                <a:latin typeface="Times New Roman" panose="02020603050405020304" pitchFamily="18" charset="0"/>
                <a:ea typeface="Times New Roman" panose="02020603050405020304" pitchFamily="18" charset="0"/>
              </a:rPr>
              <a:t>Web_Auth_Anomaly_Detection</a:t>
            </a:r>
            <a:r>
              <a:rPr lang="en-US" sz="2800" i="1" dirty="0">
                <a:effectLst/>
                <a:latin typeface="Times New Roman" panose="02020603050405020304" pitchFamily="18" charset="0"/>
                <a:ea typeface="Times New Roman" panose="02020603050405020304" pitchFamily="18" charset="0"/>
              </a:rPr>
              <a:t> </a:t>
            </a:r>
            <a:r>
              <a:rPr lang="vi-VN" sz="2800" u="sng" dirty="0">
                <a:solidFill>
                  <a:srgbClr val="0563C1"/>
                </a:solidFill>
                <a:effectLst/>
                <a:latin typeface="Times New Roman" panose="02020603050405020304" pitchFamily="18" charset="0"/>
                <a:ea typeface="Times New Roman" panose="02020603050405020304" pitchFamily="18" charset="0"/>
                <a:hlinkClick r:id="rId3"/>
              </a:rPr>
              <a:t>https://github.com/HamidrezaGholamrezaei/Web_Auth_Anomaly_Detection</a:t>
            </a:r>
            <a:endParaRPr lang="en-US" sz="2800" dirty="0"/>
          </a:p>
        </p:txBody>
      </p:sp>
    </p:spTree>
    <p:extLst>
      <p:ext uri="{BB962C8B-B14F-4D97-AF65-F5344CB8AC3E}">
        <p14:creationId xmlns:p14="http://schemas.microsoft.com/office/powerpoint/2010/main" val="41911756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F15A5824-E974-BE01-DC60-E59F0F60CC7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F12866B-5AD3-1BDB-5E2D-BA114F617977}"/>
              </a:ext>
            </a:extLst>
          </p:cNvPr>
          <p:cNvPicPr>
            <a:picLocks noChangeAspect="1"/>
          </p:cNvPicPr>
          <p:nvPr/>
        </p:nvPicPr>
        <p:blipFill>
          <a:blip r:embed="rId3"/>
          <a:stretch>
            <a:fillRect/>
          </a:stretch>
        </p:blipFill>
        <p:spPr>
          <a:xfrm>
            <a:off x="0" y="1637413"/>
            <a:ext cx="12192000" cy="3583173"/>
          </a:xfrm>
          <a:prstGeom prst="rect">
            <a:avLst/>
          </a:prstGeom>
        </p:spPr>
      </p:pic>
      <p:sp>
        <p:nvSpPr>
          <p:cNvPr id="5" name="TextBox 4">
            <a:extLst>
              <a:ext uri="{FF2B5EF4-FFF2-40B4-BE49-F238E27FC236}">
                <a16:creationId xmlns:a16="http://schemas.microsoft.com/office/drawing/2014/main" id="{6C97A63A-54C4-347E-EDA9-BCF259860A90}"/>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15</a:t>
            </a:r>
          </a:p>
        </p:txBody>
      </p:sp>
    </p:spTree>
    <p:extLst>
      <p:ext uri="{BB962C8B-B14F-4D97-AF65-F5344CB8AC3E}">
        <p14:creationId xmlns:p14="http://schemas.microsoft.com/office/powerpoint/2010/main" val="32808496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2D31D-860B-C677-09AE-2E0FDDA2A7E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7561BE3-84F4-7123-7286-3368040122E6}"/>
              </a:ext>
            </a:extLst>
          </p:cNvPr>
          <p:cNvPicPr>
            <a:picLocks noChangeAspect="1"/>
          </p:cNvPicPr>
          <p:nvPr/>
        </p:nvPicPr>
        <p:blipFill>
          <a:blip r:embed="rId3"/>
          <a:stretch>
            <a:fillRect/>
          </a:stretch>
        </p:blipFill>
        <p:spPr>
          <a:xfrm>
            <a:off x="-1" y="0"/>
            <a:ext cx="12192001" cy="6858000"/>
          </a:xfrm>
          <a:prstGeom prst="rect">
            <a:avLst/>
          </a:prstGeom>
        </p:spPr>
      </p:pic>
      <p:sp>
        <p:nvSpPr>
          <p:cNvPr id="6" name="Rectangle 5">
            <a:extLst>
              <a:ext uri="{FF2B5EF4-FFF2-40B4-BE49-F238E27FC236}">
                <a16:creationId xmlns:a16="http://schemas.microsoft.com/office/drawing/2014/main" id="{86AF8D01-D080-3CF2-D7C2-7B52687B2DAE}"/>
              </a:ext>
            </a:extLst>
          </p:cNvPr>
          <p:cNvSpPr/>
          <p:nvPr/>
        </p:nvSpPr>
        <p:spPr>
          <a:xfrm>
            <a:off x="4550734" y="4497575"/>
            <a:ext cx="1467293" cy="1052623"/>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91C9D05-3AB8-4CC9-0098-076DC4615AD2}"/>
              </a:ext>
            </a:extLst>
          </p:cNvPr>
          <p:cNvSpPr/>
          <p:nvPr/>
        </p:nvSpPr>
        <p:spPr>
          <a:xfrm>
            <a:off x="8431619" y="1935125"/>
            <a:ext cx="1467293" cy="1052623"/>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BD41777C-37D5-1C99-6A49-935A88CA7DEA}"/>
              </a:ext>
            </a:extLst>
          </p:cNvPr>
          <p:cNvCxnSpPr>
            <a:cxnSpLocks/>
          </p:cNvCxnSpPr>
          <p:nvPr/>
        </p:nvCxnSpPr>
        <p:spPr>
          <a:xfrm>
            <a:off x="205563" y="2613836"/>
            <a:ext cx="157007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E6B3D766-1E70-FAF0-E759-6A00F5015D0E}"/>
              </a:ext>
            </a:extLst>
          </p:cNvPr>
          <p:cNvCxnSpPr>
            <a:cxnSpLocks/>
          </p:cNvCxnSpPr>
          <p:nvPr/>
        </p:nvCxnSpPr>
        <p:spPr>
          <a:xfrm>
            <a:off x="864782" y="5234762"/>
            <a:ext cx="98528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6369687-8090-7774-1729-0BA10370D9FB}"/>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16</a:t>
            </a:r>
          </a:p>
        </p:txBody>
      </p:sp>
    </p:spTree>
    <p:extLst>
      <p:ext uri="{BB962C8B-B14F-4D97-AF65-F5344CB8AC3E}">
        <p14:creationId xmlns:p14="http://schemas.microsoft.com/office/powerpoint/2010/main" val="36117706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FD173-48E6-A44E-CC74-9915AD259A3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61E9F44-8FCE-0F7B-E352-A4C6DB17F85F}"/>
              </a:ext>
            </a:extLst>
          </p:cNvPr>
          <p:cNvPicPr>
            <a:picLocks noChangeAspect="1"/>
          </p:cNvPicPr>
          <p:nvPr/>
        </p:nvPicPr>
        <p:blipFill>
          <a:blip r:embed="rId3"/>
          <a:stretch>
            <a:fillRect/>
          </a:stretch>
        </p:blipFill>
        <p:spPr>
          <a:xfrm>
            <a:off x="-1" y="0"/>
            <a:ext cx="12192001" cy="6858000"/>
          </a:xfrm>
          <a:prstGeom prst="rect">
            <a:avLst/>
          </a:prstGeom>
        </p:spPr>
      </p:pic>
      <p:sp>
        <p:nvSpPr>
          <p:cNvPr id="6" name="Rectangle 5">
            <a:extLst>
              <a:ext uri="{FF2B5EF4-FFF2-40B4-BE49-F238E27FC236}">
                <a16:creationId xmlns:a16="http://schemas.microsoft.com/office/drawing/2014/main" id="{BA3F7580-543D-07C5-9917-3008BDE6EB07}"/>
              </a:ext>
            </a:extLst>
          </p:cNvPr>
          <p:cNvSpPr/>
          <p:nvPr/>
        </p:nvSpPr>
        <p:spPr>
          <a:xfrm>
            <a:off x="5826641" y="4529472"/>
            <a:ext cx="1467293" cy="1052623"/>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4ADF799-A394-7005-A634-3CC9B19563F5}"/>
              </a:ext>
            </a:extLst>
          </p:cNvPr>
          <p:cNvSpPr/>
          <p:nvPr/>
        </p:nvSpPr>
        <p:spPr>
          <a:xfrm>
            <a:off x="8474149" y="2764465"/>
            <a:ext cx="1467293" cy="1052623"/>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34C0C9CD-EC2A-9DD1-359D-3DDCA9C3E54E}"/>
              </a:ext>
            </a:extLst>
          </p:cNvPr>
          <p:cNvCxnSpPr>
            <a:cxnSpLocks/>
          </p:cNvCxnSpPr>
          <p:nvPr/>
        </p:nvCxnSpPr>
        <p:spPr>
          <a:xfrm>
            <a:off x="279991" y="3443176"/>
            <a:ext cx="157007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0CA9A04E-37DF-9EFA-7DC4-F399EE64E819}"/>
              </a:ext>
            </a:extLst>
          </p:cNvPr>
          <p:cNvCxnSpPr>
            <a:cxnSpLocks/>
          </p:cNvCxnSpPr>
          <p:nvPr/>
        </p:nvCxnSpPr>
        <p:spPr>
          <a:xfrm>
            <a:off x="864782" y="5234762"/>
            <a:ext cx="98528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64B7463-B00C-F257-E034-8069B582DC27}"/>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17</a:t>
            </a:r>
          </a:p>
        </p:txBody>
      </p:sp>
    </p:spTree>
    <p:extLst>
      <p:ext uri="{BB962C8B-B14F-4D97-AF65-F5344CB8AC3E}">
        <p14:creationId xmlns:p14="http://schemas.microsoft.com/office/powerpoint/2010/main" val="1879124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2716C-009C-FC46-D5F9-0590FA5A0F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191C7EA-9BF5-CF58-E97B-8C6C5E806291}"/>
              </a:ext>
            </a:extLst>
          </p:cNvPr>
          <p:cNvPicPr>
            <a:picLocks noChangeAspect="1"/>
          </p:cNvPicPr>
          <p:nvPr/>
        </p:nvPicPr>
        <p:blipFill>
          <a:blip r:embed="rId3"/>
          <a:stretch>
            <a:fillRect/>
          </a:stretch>
        </p:blipFill>
        <p:spPr>
          <a:xfrm>
            <a:off x="-1" y="0"/>
            <a:ext cx="12192001" cy="6858000"/>
          </a:xfrm>
          <a:prstGeom prst="rect">
            <a:avLst/>
          </a:prstGeom>
        </p:spPr>
      </p:pic>
      <p:sp>
        <p:nvSpPr>
          <p:cNvPr id="6" name="Rectangle 5">
            <a:extLst>
              <a:ext uri="{FF2B5EF4-FFF2-40B4-BE49-F238E27FC236}">
                <a16:creationId xmlns:a16="http://schemas.microsoft.com/office/drawing/2014/main" id="{28AC4C99-9ED9-0526-A66C-D0ACAEB936D1}"/>
              </a:ext>
            </a:extLst>
          </p:cNvPr>
          <p:cNvSpPr/>
          <p:nvPr/>
        </p:nvSpPr>
        <p:spPr>
          <a:xfrm>
            <a:off x="7134446" y="4540104"/>
            <a:ext cx="1467293" cy="1052623"/>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E5D91BA-257C-2FF2-08FF-6C38BEC6515D}"/>
              </a:ext>
            </a:extLst>
          </p:cNvPr>
          <p:cNvSpPr/>
          <p:nvPr/>
        </p:nvSpPr>
        <p:spPr>
          <a:xfrm>
            <a:off x="8452884" y="3657600"/>
            <a:ext cx="1467293" cy="1052623"/>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756BA2D0-72BB-5924-1CE9-6CE9D3FDA11B}"/>
              </a:ext>
            </a:extLst>
          </p:cNvPr>
          <p:cNvCxnSpPr>
            <a:cxnSpLocks/>
          </p:cNvCxnSpPr>
          <p:nvPr/>
        </p:nvCxnSpPr>
        <p:spPr>
          <a:xfrm>
            <a:off x="279991" y="4336311"/>
            <a:ext cx="157007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D1E989D-EB22-3C68-4AED-FDC446D202EE}"/>
              </a:ext>
            </a:extLst>
          </p:cNvPr>
          <p:cNvCxnSpPr>
            <a:cxnSpLocks/>
          </p:cNvCxnSpPr>
          <p:nvPr/>
        </p:nvCxnSpPr>
        <p:spPr>
          <a:xfrm>
            <a:off x="864782" y="5234762"/>
            <a:ext cx="98528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6397102-E59B-F3D4-2523-57473C5C1267}"/>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18</a:t>
            </a:r>
          </a:p>
        </p:txBody>
      </p:sp>
    </p:spTree>
    <p:extLst>
      <p:ext uri="{BB962C8B-B14F-4D97-AF65-F5344CB8AC3E}">
        <p14:creationId xmlns:p14="http://schemas.microsoft.com/office/powerpoint/2010/main" val="14851675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3289C-9021-665D-9ED9-FD94A5839E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BD4E1C-A79E-F374-FED4-0C2C2BE50827}"/>
              </a:ext>
            </a:extLst>
          </p:cNvPr>
          <p:cNvSpPr txBox="1"/>
          <p:nvPr/>
        </p:nvSpPr>
        <p:spPr>
          <a:xfrm>
            <a:off x="407324" y="3022029"/>
            <a:ext cx="11377352" cy="813941"/>
          </a:xfrm>
          <a:prstGeom prst="rect">
            <a:avLst/>
          </a:prstGeom>
          <a:noFill/>
        </p:spPr>
        <p:txBody>
          <a:bodyPr wrap="square">
            <a:spAutoFit/>
          </a:bodyPr>
          <a:lstStyle/>
          <a:p>
            <a:pPr indent="450215" algn="ctr">
              <a:lnSpc>
                <a:spcPct val="150000"/>
              </a:lnSpc>
              <a:spcAft>
                <a:spcPts val="600"/>
              </a:spcAft>
              <a:buNone/>
            </a:pPr>
            <a:r>
              <a:rPr lang="en-US" sz="3500" b="1" dirty="0">
                <a:latin typeface="Times New Roman" panose="02020603050405020304" pitchFamily="18" charset="0"/>
                <a:ea typeface="Calibri" panose="020F0502020204030204" pitchFamily="34" charset="0"/>
              </a:rPr>
              <a:t>LOGISTIC REGRESSION</a:t>
            </a:r>
            <a:endParaRPr lang="en-US" sz="3500" b="1" dirty="0">
              <a:effectLst/>
              <a:latin typeface="Calibri" panose="020F0502020204030204" pitchFamily="34" charset="0"/>
              <a:ea typeface="Calibri" panose="020F0502020204030204" pitchFamily="34" charset="0"/>
            </a:endParaRPr>
          </a:p>
        </p:txBody>
      </p:sp>
      <p:sp>
        <p:nvSpPr>
          <p:cNvPr id="3" name="TextBox 2">
            <a:extLst>
              <a:ext uri="{FF2B5EF4-FFF2-40B4-BE49-F238E27FC236}">
                <a16:creationId xmlns:a16="http://schemas.microsoft.com/office/drawing/2014/main" id="{1E4A16E1-34CF-6378-72C3-AC7772120552}"/>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19</a:t>
            </a:r>
          </a:p>
        </p:txBody>
      </p:sp>
    </p:spTree>
    <p:extLst>
      <p:ext uri="{BB962C8B-B14F-4D97-AF65-F5344CB8AC3E}">
        <p14:creationId xmlns:p14="http://schemas.microsoft.com/office/powerpoint/2010/main" val="3858740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2BA0CB86-CBA3-F5EA-2045-E39699BF02F6}"/>
              </a:ext>
            </a:extLst>
          </p:cNvPr>
          <p:cNvGraphicFramePr>
            <a:graphicFrameLocks noGrp="1"/>
          </p:cNvGraphicFramePr>
          <p:nvPr>
            <p:extLst>
              <p:ext uri="{D42A27DB-BD31-4B8C-83A1-F6EECF244321}">
                <p14:modId xmlns:p14="http://schemas.microsoft.com/office/powerpoint/2010/main" val="532108545"/>
              </p:ext>
            </p:extLst>
          </p:nvPr>
        </p:nvGraphicFramePr>
        <p:xfrm>
          <a:off x="401783" y="1230284"/>
          <a:ext cx="11385662" cy="3674224"/>
        </p:xfrm>
        <a:graphic>
          <a:graphicData uri="http://schemas.openxmlformats.org/drawingml/2006/table">
            <a:tbl>
              <a:tblPr firstRow="1" firstCol="1" bandRow="1"/>
              <a:tblGrid>
                <a:gridCol w="1648054">
                  <a:extLst>
                    <a:ext uri="{9D8B030D-6E8A-4147-A177-3AD203B41FA5}">
                      <a16:colId xmlns:a16="http://schemas.microsoft.com/office/drawing/2014/main" val="1399383710"/>
                    </a:ext>
                  </a:extLst>
                </a:gridCol>
                <a:gridCol w="1622321">
                  <a:extLst>
                    <a:ext uri="{9D8B030D-6E8A-4147-A177-3AD203B41FA5}">
                      <a16:colId xmlns:a16="http://schemas.microsoft.com/office/drawing/2014/main" val="2271588135"/>
                    </a:ext>
                  </a:extLst>
                </a:gridCol>
                <a:gridCol w="1622321">
                  <a:extLst>
                    <a:ext uri="{9D8B030D-6E8A-4147-A177-3AD203B41FA5}">
                      <a16:colId xmlns:a16="http://schemas.microsoft.com/office/drawing/2014/main" val="813790634"/>
                    </a:ext>
                  </a:extLst>
                </a:gridCol>
                <a:gridCol w="1355202">
                  <a:extLst>
                    <a:ext uri="{9D8B030D-6E8A-4147-A177-3AD203B41FA5}">
                      <a16:colId xmlns:a16="http://schemas.microsoft.com/office/drawing/2014/main" val="168567364"/>
                    </a:ext>
                  </a:extLst>
                </a:gridCol>
                <a:gridCol w="1213067">
                  <a:extLst>
                    <a:ext uri="{9D8B030D-6E8A-4147-A177-3AD203B41FA5}">
                      <a16:colId xmlns:a16="http://schemas.microsoft.com/office/drawing/2014/main" val="422094220"/>
                    </a:ext>
                  </a:extLst>
                </a:gridCol>
                <a:gridCol w="1764460">
                  <a:extLst>
                    <a:ext uri="{9D8B030D-6E8A-4147-A177-3AD203B41FA5}">
                      <a16:colId xmlns:a16="http://schemas.microsoft.com/office/drawing/2014/main" val="1214895795"/>
                    </a:ext>
                  </a:extLst>
                </a:gridCol>
                <a:gridCol w="2160237">
                  <a:extLst>
                    <a:ext uri="{9D8B030D-6E8A-4147-A177-3AD203B41FA5}">
                      <a16:colId xmlns:a16="http://schemas.microsoft.com/office/drawing/2014/main" val="3157391111"/>
                    </a:ext>
                  </a:extLst>
                </a:gridCol>
              </a:tblGrid>
              <a:tr h="733274">
                <a:tc>
                  <a:txBody>
                    <a:bodyPr/>
                    <a:lstStyle/>
                    <a:p>
                      <a:pPr algn="ctr">
                        <a:lnSpc>
                          <a:spcPct val="100000"/>
                        </a:lnSpc>
                        <a:spcAft>
                          <a:spcPts val="600"/>
                        </a:spcAft>
                        <a:buNone/>
                      </a:pPr>
                      <a:r>
                        <a:rPr lang="vi-VN" sz="2800" b="1" dirty="0">
                          <a:effectLst/>
                          <a:latin typeface="+mj-lt"/>
                          <a:ea typeface="Calibri" panose="020F0502020204030204" pitchFamily="34" charset="0"/>
                        </a:rPr>
                        <a:t>Tham số</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b="1" dirty="0">
                          <a:effectLst/>
                          <a:latin typeface="+mj-lt"/>
                          <a:ea typeface="Calibri" panose="020F0502020204030204" pitchFamily="34" charset="0"/>
                        </a:rPr>
                        <a:t>Lớp</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b="1">
                          <a:effectLst/>
                          <a:latin typeface="+mj-lt"/>
                          <a:ea typeface="Calibri" panose="020F0502020204030204" pitchFamily="34" charset="0"/>
                        </a:rPr>
                        <a:t>Precision</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b="1">
                          <a:effectLst/>
                          <a:latin typeface="+mj-lt"/>
                          <a:ea typeface="Calibri" panose="020F0502020204030204" pitchFamily="34" charset="0"/>
                        </a:rPr>
                        <a:t>Recall</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b="1">
                          <a:effectLst/>
                          <a:latin typeface="+mj-lt"/>
                          <a:ea typeface="Calibri" panose="020F0502020204030204" pitchFamily="34" charset="0"/>
                        </a:rPr>
                        <a:t>F1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b="1">
                          <a:effectLst/>
                          <a:latin typeface="+mj-lt"/>
                          <a:ea typeface="Calibri" panose="020F0502020204030204" pitchFamily="34" charset="0"/>
                        </a:rPr>
                        <a:t>Accuracy</a:t>
                      </a:r>
                      <a:endParaRPr lang="en-US" sz="280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b="1">
                          <a:effectLst/>
                          <a:latin typeface="+mj-lt"/>
                          <a:ea typeface="Calibri" panose="020F0502020204030204" pitchFamily="34" charset="0"/>
                        </a:rPr>
                        <a:t>ROC area</a:t>
                      </a:r>
                      <a:endParaRPr lang="en-US" sz="280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9694618"/>
                  </a:ext>
                </a:extLst>
              </a:tr>
              <a:tr h="733274">
                <a:tc rowSpan="2">
                  <a:txBody>
                    <a:bodyPr/>
                    <a:lstStyle/>
                    <a:p>
                      <a:pPr algn="ctr">
                        <a:lnSpc>
                          <a:spcPct val="100000"/>
                        </a:lnSpc>
                        <a:spcAft>
                          <a:spcPts val="600"/>
                        </a:spcAft>
                        <a:buNone/>
                      </a:pPr>
                      <a:r>
                        <a:rPr lang="vi-VN" sz="2800" b="1" dirty="0">
                          <a:effectLst/>
                          <a:latin typeface="+mj-lt"/>
                          <a:ea typeface="Calibri" panose="020F0502020204030204" pitchFamily="34" charset="0"/>
                        </a:rPr>
                        <a:t>Mặc định</a:t>
                      </a:r>
                      <a:endParaRPr lang="en-US" sz="2800" b="1"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dirty="0">
                          <a:effectLst/>
                          <a:latin typeface="+mj-lt"/>
                          <a:ea typeface="Times New Roman" panose="02020603050405020304" pitchFamily="18" charset="0"/>
                        </a:rPr>
                        <a:t>0</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dirty="0">
                          <a:effectLst/>
                          <a:latin typeface="+mj-lt"/>
                          <a:ea typeface="Calibri" panose="020F0502020204030204" pitchFamily="34" charset="0"/>
                        </a:rPr>
                        <a:t>0.97</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a:effectLst/>
                          <a:latin typeface="+mj-lt"/>
                          <a:ea typeface="Calibri" panose="020F0502020204030204" pitchFamily="34" charset="0"/>
                        </a:rPr>
                        <a:t>1.00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0000"/>
                        </a:lnSpc>
                        <a:spcAft>
                          <a:spcPts val="600"/>
                        </a:spcAft>
                        <a:buNone/>
                      </a:pPr>
                      <a:r>
                        <a:rPr lang="vi-VN" sz="2800">
                          <a:effectLst/>
                          <a:latin typeface="+mj-lt"/>
                          <a:ea typeface="Calibri" panose="020F0502020204030204" pitchFamily="34" charset="0"/>
                        </a:rPr>
                        <a:t>0.97</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0000"/>
                        </a:lnSpc>
                        <a:spcAft>
                          <a:spcPts val="600"/>
                        </a:spcAft>
                        <a:buNone/>
                      </a:pPr>
                      <a:r>
                        <a:rPr lang="vi-VN" sz="2800">
                          <a:effectLst/>
                          <a:latin typeface="+mj-lt"/>
                          <a:ea typeface="Calibri" panose="020F0502020204030204" pitchFamily="34" charset="0"/>
                        </a:rPr>
                        <a:t>0.91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4092972"/>
                  </a:ext>
                </a:extLst>
              </a:tr>
              <a:tr h="737201">
                <a:tc vMerge="1">
                  <a:txBody>
                    <a:bodyPr/>
                    <a:lstStyle/>
                    <a:p>
                      <a:endParaRPr lang="en-US" dirty="0"/>
                    </a:p>
                  </a:txBody>
                  <a:tcPr/>
                </a:tc>
                <a:tc>
                  <a:txBody>
                    <a:bodyPr/>
                    <a:lstStyle/>
                    <a:p>
                      <a:pPr algn="ctr">
                        <a:lnSpc>
                          <a:spcPct val="100000"/>
                        </a:lnSpc>
                        <a:spcAft>
                          <a:spcPts val="600"/>
                        </a:spcAft>
                        <a:buNone/>
                      </a:pPr>
                      <a:r>
                        <a:rPr lang="vi-VN" sz="2800" dirty="0">
                          <a:effectLst/>
                          <a:latin typeface="+mj-lt"/>
                          <a:ea typeface="Calibri" panose="020F0502020204030204" pitchFamily="34" charset="0"/>
                        </a:rPr>
                        <a:t>1</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b="0" dirty="0">
                          <a:effectLst/>
                          <a:latin typeface="+mj-lt"/>
                          <a:ea typeface="Calibri" panose="020F0502020204030204" pitchFamily="34" charset="0"/>
                        </a:rPr>
                        <a:t>1.00</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dirty="0">
                          <a:effectLst/>
                          <a:latin typeface="+mj-lt"/>
                          <a:ea typeface="Calibri" panose="020F0502020204030204" pitchFamily="34" charset="0"/>
                        </a:rPr>
                        <a:t>0.84</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a:effectLst/>
                          <a:latin typeface="+mj-lt"/>
                          <a:ea typeface="Calibri" panose="020F0502020204030204" pitchFamily="34" charset="0"/>
                        </a:rPr>
                        <a:t>0.91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747065873"/>
                  </a:ext>
                </a:extLst>
              </a:tr>
              <a:tr h="733274">
                <a:tc rowSpan="2">
                  <a:txBody>
                    <a:bodyPr/>
                    <a:lstStyle/>
                    <a:p>
                      <a:pPr algn="ctr">
                        <a:lnSpc>
                          <a:spcPct val="100000"/>
                        </a:lnSpc>
                        <a:spcAft>
                          <a:spcPts val="600"/>
                        </a:spcAft>
                        <a:buNone/>
                      </a:pPr>
                      <a:r>
                        <a:rPr lang="vi-VN" sz="2800" b="1" dirty="0">
                          <a:effectLst/>
                          <a:latin typeface="+mj-lt"/>
                          <a:ea typeface="Calibri" panose="020F0502020204030204" pitchFamily="34" charset="0"/>
                        </a:rPr>
                        <a:t>Balanced</a:t>
                      </a:r>
                      <a:endParaRPr lang="en-US" sz="2800" b="1"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a:effectLst/>
                          <a:latin typeface="+mj-lt"/>
                          <a:ea typeface="Times New Roman" panose="02020603050405020304" pitchFamily="18" charset="0"/>
                        </a:rPr>
                        <a:t>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a:effectLst/>
                          <a:latin typeface="+mj-lt"/>
                          <a:ea typeface="Calibri" panose="020F0502020204030204" pitchFamily="34" charset="0"/>
                        </a:rPr>
                        <a:t>0.96</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dirty="0">
                          <a:effectLst/>
                          <a:latin typeface="+mj-lt"/>
                          <a:ea typeface="Calibri" panose="020F0502020204030204" pitchFamily="34" charset="0"/>
                        </a:rPr>
                        <a:t>0.97</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0000"/>
                        </a:lnSpc>
                        <a:spcAft>
                          <a:spcPts val="600"/>
                        </a:spcAft>
                        <a:buNone/>
                      </a:pPr>
                      <a:r>
                        <a:rPr lang="vi-VN" sz="2800" dirty="0">
                          <a:effectLst/>
                          <a:latin typeface="+mj-lt"/>
                          <a:ea typeface="Calibri" panose="020F0502020204030204" pitchFamily="34" charset="0"/>
                        </a:rPr>
                        <a:t>0.95</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0000"/>
                        </a:lnSpc>
                        <a:spcAft>
                          <a:spcPts val="600"/>
                        </a:spcAft>
                        <a:buNone/>
                      </a:pPr>
                      <a:r>
                        <a:rPr lang="vi-VN" sz="2800">
                          <a:effectLst/>
                          <a:latin typeface="+mj-lt"/>
                          <a:ea typeface="Calibri" panose="020F0502020204030204" pitchFamily="34" charset="0"/>
                        </a:rPr>
                        <a:t>0.91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8337207"/>
                  </a:ext>
                </a:extLst>
              </a:tr>
              <a:tr h="737201">
                <a:tc vMerge="1">
                  <a:txBody>
                    <a:bodyPr/>
                    <a:lstStyle/>
                    <a:p>
                      <a:endParaRPr lang="en-US"/>
                    </a:p>
                  </a:txBody>
                  <a:tcPr/>
                </a:tc>
                <a:tc>
                  <a:txBody>
                    <a:bodyPr/>
                    <a:lstStyle/>
                    <a:p>
                      <a:pPr algn="ctr">
                        <a:lnSpc>
                          <a:spcPct val="100000"/>
                        </a:lnSpc>
                        <a:spcAft>
                          <a:spcPts val="600"/>
                        </a:spcAft>
                        <a:buNone/>
                      </a:pPr>
                      <a:r>
                        <a:rPr lang="vi-VN" sz="2800">
                          <a:effectLst/>
                          <a:latin typeface="+mj-lt"/>
                          <a:ea typeface="Calibri" panose="020F0502020204030204" pitchFamily="34" charset="0"/>
                        </a:rPr>
                        <a:t>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a:effectLst/>
                          <a:latin typeface="+mj-lt"/>
                          <a:ea typeface="Calibri" panose="020F0502020204030204" pitchFamily="34" charset="0"/>
                        </a:rPr>
                        <a:t>0.84</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b="0" dirty="0">
                          <a:effectLst/>
                          <a:latin typeface="+mj-lt"/>
                          <a:ea typeface="Calibri" panose="020F0502020204030204" pitchFamily="34" charset="0"/>
                        </a:rPr>
                        <a:t>0.90</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600"/>
                        </a:spcAft>
                        <a:buNone/>
                      </a:pPr>
                      <a:r>
                        <a:rPr lang="vi-VN" sz="2800" dirty="0">
                          <a:effectLst/>
                          <a:latin typeface="+mj-lt"/>
                          <a:ea typeface="Calibri" panose="020F0502020204030204" pitchFamily="34" charset="0"/>
                        </a:rPr>
                        <a:t>0.87</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094117649"/>
                  </a:ext>
                </a:extLst>
              </a:tr>
            </a:tbl>
          </a:graphicData>
        </a:graphic>
      </p:graphicFrame>
      <p:sp>
        <p:nvSpPr>
          <p:cNvPr id="11" name="TextBox 10">
            <a:extLst>
              <a:ext uri="{FF2B5EF4-FFF2-40B4-BE49-F238E27FC236}">
                <a16:creationId xmlns:a16="http://schemas.microsoft.com/office/drawing/2014/main" id="{D226D796-A00C-7A16-3DD8-43DD8F0768E9}"/>
              </a:ext>
            </a:extLst>
          </p:cNvPr>
          <p:cNvSpPr txBox="1"/>
          <p:nvPr/>
        </p:nvSpPr>
        <p:spPr>
          <a:xfrm>
            <a:off x="1156855" y="5290683"/>
            <a:ext cx="9875519" cy="669542"/>
          </a:xfrm>
          <a:prstGeom prst="rect">
            <a:avLst/>
          </a:prstGeom>
          <a:noFill/>
        </p:spPr>
        <p:txBody>
          <a:bodyPr wrap="square">
            <a:spAutoFit/>
          </a:bodyPr>
          <a:lstStyle/>
          <a:p>
            <a:pPr indent="450215" algn="ctr">
              <a:lnSpc>
                <a:spcPct val="150000"/>
              </a:lnSpc>
              <a:spcAft>
                <a:spcPts val="600"/>
              </a:spcAft>
              <a:buNone/>
            </a:pPr>
            <a:r>
              <a:rPr lang="vi-VN" sz="2800" i="1" dirty="0">
                <a:effectLst/>
                <a:latin typeface="Times New Roman" panose="02020603050405020304" pitchFamily="18" charset="0"/>
                <a:ea typeface="Times New Roman" panose="02020603050405020304" pitchFamily="18" charset="0"/>
              </a:rPr>
              <a:t>Bảng 5.</a:t>
            </a:r>
            <a:r>
              <a:rPr lang="en-US" sz="2800" i="1" dirty="0">
                <a:effectLst/>
                <a:latin typeface="Times New Roman" panose="02020603050405020304" pitchFamily="18" charset="0"/>
                <a:ea typeface="Times New Roman" panose="02020603050405020304" pitchFamily="18" charset="0"/>
              </a:rPr>
              <a:t>1</a:t>
            </a:r>
            <a:r>
              <a:rPr lang="vi-VN" sz="2800" i="1" dirty="0">
                <a:effectLst/>
                <a:latin typeface="Times New Roman" panose="02020603050405020304" pitchFamily="18" charset="0"/>
                <a:ea typeface="Times New Roman" panose="02020603050405020304" pitchFamily="18" charset="0"/>
              </a:rPr>
              <a:t>: Kết quả thực nghiệm</a:t>
            </a:r>
            <a:r>
              <a:rPr lang="en-US" sz="2800" i="1" dirty="0">
                <a:effectLst/>
                <a:latin typeface="Times New Roman" panose="02020603050405020304" pitchFamily="18" charset="0"/>
                <a:ea typeface="Times New Roman" panose="02020603050405020304" pitchFamily="18" charset="0"/>
              </a:rPr>
              <a:t> LR</a:t>
            </a:r>
            <a:r>
              <a:rPr lang="vi-VN" sz="2800" i="1" dirty="0">
                <a:effectLst/>
                <a:latin typeface="Times New Roman" panose="02020603050405020304" pitchFamily="18" charset="0"/>
                <a:ea typeface="Times New Roman" panose="02020603050405020304" pitchFamily="18" charset="0"/>
              </a:rPr>
              <a:t> khi áp dụng cân bằng lớp</a:t>
            </a:r>
            <a:endParaRPr lang="en-US" sz="2800" dirty="0">
              <a:effectLst/>
              <a:latin typeface="Calibri" panose="020F050202020403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57CF185D-5103-CE8C-E970-0E7AD00C8F32}"/>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20</a:t>
            </a:r>
          </a:p>
        </p:txBody>
      </p:sp>
    </p:spTree>
    <p:extLst>
      <p:ext uri="{BB962C8B-B14F-4D97-AF65-F5344CB8AC3E}">
        <p14:creationId xmlns:p14="http://schemas.microsoft.com/office/powerpoint/2010/main" val="284240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78F0D96-0030-B7E8-4AEB-C5C43914FE26}"/>
              </a:ext>
            </a:extLst>
          </p:cNvPr>
          <p:cNvGraphicFramePr>
            <a:graphicFrameLocks noGrp="1"/>
          </p:cNvGraphicFramePr>
          <p:nvPr>
            <p:extLst>
              <p:ext uri="{D42A27DB-BD31-4B8C-83A1-F6EECF244321}">
                <p14:modId xmlns:p14="http://schemas.microsoft.com/office/powerpoint/2010/main" val="3382741698"/>
              </p:ext>
            </p:extLst>
          </p:nvPr>
        </p:nvGraphicFramePr>
        <p:xfrm>
          <a:off x="349135" y="889854"/>
          <a:ext cx="11621191" cy="4262951"/>
        </p:xfrm>
        <a:graphic>
          <a:graphicData uri="http://schemas.openxmlformats.org/drawingml/2006/table">
            <a:tbl>
              <a:tblPr firstRow="1" firstCol="1" bandRow="1"/>
              <a:tblGrid>
                <a:gridCol w="1596043">
                  <a:extLst>
                    <a:ext uri="{9D8B030D-6E8A-4147-A177-3AD203B41FA5}">
                      <a16:colId xmlns:a16="http://schemas.microsoft.com/office/drawing/2014/main" val="2257101766"/>
                    </a:ext>
                  </a:extLst>
                </a:gridCol>
                <a:gridCol w="1928553">
                  <a:extLst>
                    <a:ext uri="{9D8B030D-6E8A-4147-A177-3AD203B41FA5}">
                      <a16:colId xmlns:a16="http://schemas.microsoft.com/office/drawing/2014/main" val="393258261"/>
                    </a:ext>
                  </a:extLst>
                </a:gridCol>
                <a:gridCol w="2610196">
                  <a:extLst>
                    <a:ext uri="{9D8B030D-6E8A-4147-A177-3AD203B41FA5}">
                      <a16:colId xmlns:a16="http://schemas.microsoft.com/office/drawing/2014/main" val="3980727369"/>
                    </a:ext>
                  </a:extLst>
                </a:gridCol>
                <a:gridCol w="1995055">
                  <a:extLst>
                    <a:ext uri="{9D8B030D-6E8A-4147-A177-3AD203B41FA5}">
                      <a16:colId xmlns:a16="http://schemas.microsoft.com/office/drawing/2014/main" val="258739539"/>
                    </a:ext>
                  </a:extLst>
                </a:gridCol>
                <a:gridCol w="1878676">
                  <a:extLst>
                    <a:ext uri="{9D8B030D-6E8A-4147-A177-3AD203B41FA5}">
                      <a16:colId xmlns:a16="http://schemas.microsoft.com/office/drawing/2014/main" val="2083891714"/>
                    </a:ext>
                  </a:extLst>
                </a:gridCol>
                <a:gridCol w="1612668">
                  <a:extLst>
                    <a:ext uri="{9D8B030D-6E8A-4147-A177-3AD203B41FA5}">
                      <a16:colId xmlns:a16="http://schemas.microsoft.com/office/drawing/2014/main" val="3817596565"/>
                    </a:ext>
                  </a:extLst>
                </a:gridCol>
              </a:tblGrid>
              <a:tr h="201486">
                <a:tc>
                  <a:txBody>
                    <a:bodyPr/>
                    <a:lstStyle/>
                    <a:p>
                      <a:pPr algn="just">
                        <a:lnSpc>
                          <a:spcPct val="107000"/>
                        </a:lnSpc>
                        <a:spcAft>
                          <a:spcPts val="600"/>
                        </a:spcAft>
                        <a:buNone/>
                      </a:pPr>
                      <a:r>
                        <a:rPr lang="vi-VN" sz="2500" b="1">
                          <a:solidFill>
                            <a:srgbClr val="1F1F1F"/>
                          </a:solidFill>
                          <a:effectLst/>
                          <a:latin typeface="Times New Roman" panose="02020603050405020304" pitchFamily="18" charset="0"/>
                          <a:ea typeface="Times New Roman" panose="02020603050405020304" pitchFamily="18" charset="0"/>
                        </a:rPr>
                        <a:t>Cấu hình</a:t>
                      </a:r>
                      <a:endParaRPr lang="en-US" sz="25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500" b="1">
                          <a:solidFill>
                            <a:srgbClr val="1F1F1F"/>
                          </a:solidFill>
                          <a:effectLst/>
                          <a:latin typeface="Times New Roman" panose="02020603050405020304" pitchFamily="18" charset="0"/>
                          <a:ea typeface="Times New Roman" panose="02020603050405020304" pitchFamily="18" charset="0"/>
                        </a:rPr>
                        <a:t>Threshold</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500" b="1">
                          <a:solidFill>
                            <a:srgbClr val="1F1F1F"/>
                          </a:solidFill>
                          <a:effectLst/>
                          <a:latin typeface="Times New Roman" panose="02020603050405020304" pitchFamily="18" charset="0"/>
                          <a:ea typeface="Times New Roman" panose="02020603050405020304" pitchFamily="18" charset="0"/>
                        </a:rPr>
                        <a:t>Precision (0/1)</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500" b="1">
                          <a:solidFill>
                            <a:srgbClr val="1F1F1F"/>
                          </a:solidFill>
                          <a:effectLst/>
                          <a:latin typeface="Times New Roman" panose="02020603050405020304" pitchFamily="18" charset="0"/>
                          <a:ea typeface="Times New Roman" panose="02020603050405020304" pitchFamily="18" charset="0"/>
                        </a:rPr>
                        <a:t>Recall (0/1)</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500" b="1">
                          <a:solidFill>
                            <a:srgbClr val="1F1F1F"/>
                          </a:solidFill>
                          <a:effectLst/>
                          <a:latin typeface="Times New Roman" panose="02020603050405020304" pitchFamily="18" charset="0"/>
                          <a:ea typeface="Times New Roman" panose="02020603050405020304" pitchFamily="18" charset="0"/>
                        </a:rPr>
                        <a:t>F1(0/1)</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500" b="1">
                          <a:solidFill>
                            <a:srgbClr val="1F1F1F"/>
                          </a:solidFill>
                          <a:effectLst/>
                          <a:latin typeface="Times New Roman" panose="02020603050405020304" pitchFamily="18" charset="0"/>
                          <a:ea typeface="Times New Roman" panose="02020603050405020304" pitchFamily="18" charset="0"/>
                        </a:rPr>
                        <a:t>Accuracy</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4436006"/>
                  </a:ext>
                </a:extLst>
              </a:tr>
              <a:tr h="201486">
                <a:tc rowSpan="5">
                  <a:txBody>
                    <a:bodyPr/>
                    <a:lstStyle/>
                    <a:p>
                      <a:pPr algn="ctr">
                        <a:lnSpc>
                          <a:spcPct val="107000"/>
                        </a:lnSpc>
                        <a:spcAft>
                          <a:spcPts val="600"/>
                        </a:spcAft>
                        <a:buNone/>
                      </a:pPr>
                      <a:r>
                        <a:rPr lang="vi-VN" sz="2500" dirty="0">
                          <a:solidFill>
                            <a:srgbClr val="1F1F1F"/>
                          </a:solidFill>
                          <a:effectLst/>
                          <a:latin typeface="Times New Roman" panose="02020603050405020304" pitchFamily="18" charset="0"/>
                          <a:ea typeface="Times New Roman" panose="02020603050405020304" pitchFamily="18" charset="0"/>
                        </a:rPr>
                        <a:t>Original</a:t>
                      </a:r>
                      <a:endParaRPr lang="en-US" sz="25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0.3</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0.98/0.92</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0.98/0.90</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0.98/0.91</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0.97</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7836489"/>
                  </a:ext>
                </a:extLst>
              </a:tr>
              <a:tr h="201486">
                <a:tc vMerge="1">
                  <a:txBody>
                    <a:bodyPr/>
                    <a:lstStyle/>
                    <a:p>
                      <a:endParaRPr lang="en-US"/>
                    </a:p>
                  </a:txBody>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0.4</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0.97/0.99</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1.00/0.87</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0.99/0.92</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393990"/>
                  </a:ext>
                </a:extLst>
              </a:tr>
              <a:tr h="201486">
                <a:tc vMerge="1">
                  <a:txBody>
                    <a:bodyPr/>
                    <a:lstStyle/>
                    <a:p>
                      <a:endParaRPr lang="en-US"/>
                    </a:p>
                  </a:txBody>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0.5</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0.97/1.00</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1.00/0.84</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0.98/0.91</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0.97</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5986812"/>
                  </a:ext>
                </a:extLst>
              </a:tr>
              <a:tr h="201486">
                <a:tc vMerge="1">
                  <a:txBody>
                    <a:bodyPr/>
                    <a:lstStyle/>
                    <a:p>
                      <a:endParaRPr lang="en-US"/>
                    </a:p>
                  </a:txBody>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0.6</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0.96/1.00</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1.00/0.79</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0.98/0.88</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0.96</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3224106"/>
                  </a:ext>
                </a:extLst>
              </a:tr>
              <a:tr h="201486">
                <a:tc vMerge="1">
                  <a:txBody>
                    <a:bodyPr/>
                    <a:lstStyle/>
                    <a:p>
                      <a:endParaRPr lang="en-US"/>
                    </a:p>
                  </a:txBody>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0.7</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0.95/1.00</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1.00/0.74</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0.97/0.85</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0.95</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4968495"/>
                  </a:ext>
                </a:extLst>
              </a:tr>
              <a:tr h="201486">
                <a:tc rowSpan="5">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Balanced</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0.3</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0.98/0.60</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0.87/0.90</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0.92/0.72</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0.88</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2841668"/>
                  </a:ext>
                </a:extLst>
              </a:tr>
              <a:tr h="201486">
                <a:tc vMerge="1">
                  <a:txBody>
                    <a:bodyPr/>
                    <a:lstStyle/>
                    <a:p>
                      <a:endParaRPr lang="en-US"/>
                    </a:p>
                  </a:txBody>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0.4</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0.98/0.71</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0.92/0.90</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0.95/0.79</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0.92</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3579244"/>
                  </a:ext>
                </a:extLst>
              </a:tr>
              <a:tr h="201486">
                <a:tc vMerge="1">
                  <a:txBody>
                    <a:bodyPr/>
                    <a:lstStyle/>
                    <a:p>
                      <a:endParaRPr lang="en-US"/>
                    </a:p>
                  </a:txBody>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0.5</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0.98/0.84</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0.96/0.90</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0.97/0.87</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0.95</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5768406"/>
                  </a:ext>
                </a:extLst>
              </a:tr>
              <a:tr h="201486">
                <a:tc vMerge="1">
                  <a:txBody>
                    <a:bodyPr/>
                    <a:lstStyle/>
                    <a:p>
                      <a:endParaRPr lang="en-US"/>
                    </a:p>
                  </a:txBody>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0.6</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0.98/0.97</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0.99/0.88</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0.99/0.93</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8146380"/>
                  </a:ext>
                </a:extLst>
              </a:tr>
              <a:tr h="201486">
                <a:tc vMerge="1">
                  <a:txBody>
                    <a:bodyPr/>
                    <a:lstStyle/>
                    <a:p>
                      <a:endParaRPr lang="en-US"/>
                    </a:p>
                  </a:txBody>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0.7</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0.97/1.00</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effectLst/>
                          <a:latin typeface="Times New Roman" panose="02020603050405020304" pitchFamily="18" charset="0"/>
                          <a:ea typeface="Times New Roman" panose="02020603050405020304" pitchFamily="18" charset="0"/>
                        </a:rPr>
                        <a:t>1.00/0.85</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a:solidFill>
                            <a:srgbClr val="1F1F1F"/>
                          </a:solidFill>
                          <a:effectLst/>
                          <a:latin typeface="Times New Roman" panose="02020603050405020304" pitchFamily="18" charset="0"/>
                          <a:ea typeface="Times New Roman" panose="02020603050405020304" pitchFamily="18" charset="0"/>
                        </a:rPr>
                        <a:t>0.98/0.92</a:t>
                      </a:r>
                      <a:endParaRPr lang="en-US" sz="25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dirty="0">
                          <a:solidFill>
                            <a:srgbClr val="1F1F1F"/>
                          </a:solidFill>
                          <a:effectLst/>
                          <a:latin typeface="Times New Roman" panose="02020603050405020304" pitchFamily="18" charset="0"/>
                          <a:ea typeface="Times New Roman" panose="02020603050405020304" pitchFamily="18" charset="0"/>
                        </a:rPr>
                        <a:t>0.97</a:t>
                      </a:r>
                      <a:endParaRPr lang="en-US" sz="25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4140449"/>
                  </a:ext>
                </a:extLst>
              </a:tr>
            </a:tbl>
          </a:graphicData>
        </a:graphic>
      </p:graphicFrame>
      <p:sp>
        <p:nvSpPr>
          <p:cNvPr id="7" name="TextBox 6">
            <a:extLst>
              <a:ext uri="{FF2B5EF4-FFF2-40B4-BE49-F238E27FC236}">
                <a16:creationId xmlns:a16="http://schemas.microsoft.com/office/drawing/2014/main" id="{474CA850-0636-D0CC-8092-2DA437B91D8C}"/>
              </a:ext>
            </a:extLst>
          </p:cNvPr>
          <p:cNvSpPr txBox="1"/>
          <p:nvPr/>
        </p:nvSpPr>
        <p:spPr>
          <a:xfrm>
            <a:off x="897427" y="5454873"/>
            <a:ext cx="10524605" cy="669542"/>
          </a:xfrm>
          <a:prstGeom prst="rect">
            <a:avLst/>
          </a:prstGeom>
          <a:noFill/>
        </p:spPr>
        <p:txBody>
          <a:bodyPr wrap="square">
            <a:spAutoFit/>
          </a:bodyPr>
          <a:lstStyle/>
          <a:p>
            <a:pPr indent="450215" algn="ctr">
              <a:lnSpc>
                <a:spcPct val="150000"/>
              </a:lnSpc>
              <a:spcAft>
                <a:spcPts val="600"/>
              </a:spcAft>
              <a:buNone/>
            </a:pPr>
            <a:r>
              <a:rPr lang="vi-VN" sz="2800" i="1" dirty="0">
                <a:effectLst/>
                <a:latin typeface="Times New Roman" panose="02020603050405020304" pitchFamily="18" charset="0"/>
                <a:ea typeface="Times New Roman" panose="02020603050405020304" pitchFamily="18" charset="0"/>
              </a:rPr>
              <a:t>Bảng 5.</a:t>
            </a:r>
            <a:r>
              <a:rPr lang="en-US" sz="2800" i="1" dirty="0">
                <a:effectLst/>
                <a:latin typeface="Times New Roman" panose="02020603050405020304" pitchFamily="18" charset="0"/>
                <a:ea typeface="Times New Roman" panose="02020603050405020304" pitchFamily="18" charset="0"/>
              </a:rPr>
              <a:t>2</a:t>
            </a:r>
            <a:r>
              <a:rPr lang="vi-VN" sz="2800" i="1" dirty="0">
                <a:effectLst/>
                <a:latin typeface="Times New Roman" panose="02020603050405020304" pitchFamily="18" charset="0"/>
                <a:ea typeface="Times New Roman" panose="02020603050405020304" pitchFamily="18" charset="0"/>
              </a:rPr>
              <a:t>: Hiệu suất của mô hình LR với các ngưỡng phân loại</a:t>
            </a:r>
            <a:endParaRPr lang="en-US" sz="2800" dirty="0">
              <a:effectLst/>
              <a:latin typeface="Calibri" panose="020F050202020403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15333266-2F20-0B89-68B7-5BA33DE535B1}"/>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21</a:t>
            </a:r>
          </a:p>
        </p:txBody>
      </p:sp>
    </p:spTree>
    <p:extLst>
      <p:ext uri="{BB962C8B-B14F-4D97-AF65-F5344CB8AC3E}">
        <p14:creationId xmlns:p14="http://schemas.microsoft.com/office/powerpoint/2010/main" val="545404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4069-D57C-2545-5195-070B8B8AE179}"/>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C22C3BB-5E70-FB0B-86D1-FB1A96840E34}"/>
              </a:ext>
            </a:extLst>
          </p:cNvPr>
          <p:cNvGraphicFramePr>
            <a:graphicFrameLocks noGrp="1"/>
          </p:cNvGraphicFramePr>
          <p:nvPr>
            <p:extLst>
              <p:ext uri="{D42A27DB-BD31-4B8C-83A1-F6EECF244321}">
                <p14:modId xmlns:p14="http://schemas.microsoft.com/office/powerpoint/2010/main" val="2995496454"/>
              </p:ext>
            </p:extLst>
          </p:nvPr>
        </p:nvGraphicFramePr>
        <p:xfrm>
          <a:off x="834043" y="1263534"/>
          <a:ext cx="10523913" cy="3624348"/>
        </p:xfrm>
        <a:graphic>
          <a:graphicData uri="http://schemas.openxmlformats.org/drawingml/2006/table">
            <a:tbl>
              <a:tblPr firstRow="1" firstCol="1" bandRow="1"/>
              <a:tblGrid>
                <a:gridCol w="3507971">
                  <a:extLst>
                    <a:ext uri="{9D8B030D-6E8A-4147-A177-3AD203B41FA5}">
                      <a16:colId xmlns:a16="http://schemas.microsoft.com/office/drawing/2014/main" val="3308932222"/>
                    </a:ext>
                  </a:extLst>
                </a:gridCol>
                <a:gridCol w="3507971">
                  <a:extLst>
                    <a:ext uri="{9D8B030D-6E8A-4147-A177-3AD203B41FA5}">
                      <a16:colId xmlns:a16="http://schemas.microsoft.com/office/drawing/2014/main" val="2893663452"/>
                    </a:ext>
                  </a:extLst>
                </a:gridCol>
                <a:gridCol w="3507971">
                  <a:extLst>
                    <a:ext uri="{9D8B030D-6E8A-4147-A177-3AD203B41FA5}">
                      <a16:colId xmlns:a16="http://schemas.microsoft.com/office/drawing/2014/main" val="2335228034"/>
                    </a:ext>
                  </a:extLst>
                </a:gridCol>
              </a:tblGrid>
              <a:tr h="604058">
                <a:tc>
                  <a:txBody>
                    <a:bodyPr/>
                    <a:lstStyle/>
                    <a:p>
                      <a:pPr algn="ctr">
                        <a:lnSpc>
                          <a:spcPct val="107000"/>
                        </a:lnSpc>
                        <a:spcAft>
                          <a:spcPts val="600"/>
                        </a:spcAft>
                        <a:buNone/>
                      </a:pPr>
                      <a:r>
                        <a:rPr lang="vi-VN" sz="2800" b="1">
                          <a:effectLst/>
                          <a:latin typeface="Times New Roman" panose="02020603050405020304" pitchFamily="18" charset="0"/>
                          <a:ea typeface="Times New Roman" panose="02020603050405020304" pitchFamily="18" charset="0"/>
                        </a:rPr>
                        <a:t>Scoring</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dirty="0">
                          <a:effectLst/>
                          <a:latin typeface="Times New Roman" panose="02020603050405020304" pitchFamily="18" charset="0"/>
                          <a:ea typeface="Times New Roman" panose="02020603050405020304" pitchFamily="18" charset="0"/>
                        </a:rPr>
                        <a:t>Best C</a:t>
                      </a:r>
                      <a:endParaRPr lang="en-US" sz="2800" dirty="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a:effectLst/>
                          <a:latin typeface="Times New Roman" panose="02020603050405020304" pitchFamily="18" charset="0"/>
                          <a:ea typeface="Times New Roman" panose="02020603050405020304" pitchFamily="18" charset="0"/>
                        </a:rPr>
                        <a:t>Best CV Score</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8173934"/>
                  </a:ext>
                </a:extLst>
              </a:tr>
              <a:tr h="604058">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precision</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10</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0.89</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8648371"/>
                  </a:ext>
                </a:extLst>
              </a:tr>
              <a:tr h="604058">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recall</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0.1</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0.91</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1270089"/>
                  </a:ext>
                </a:extLst>
              </a:tr>
              <a:tr h="604058">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f1</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10</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0.90</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3750720"/>
                  </a:ext>
                </a:extLst>
              </a:tr>
              <a:tr h="604058">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accuracy</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10</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0.96</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9106798"/>
                  </a:ext>
                </a:extLst>
              </a:tr>
              <a:tr h="604058">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roc_auc</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10</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effectLst/>
                          <a:latin typeface="Times New Roman" panose="02020603050405020304" pitchFamily="18" charset="0"/>
                          <a:ea typeface="Times New Roman" panose="02020603050405020304" pitchFamily="18" charset="0"/>
                        </a:rPr>
                        <a:t>0.92</a:t>
                      </a:r>
                      <a:endParaRPr lang="en-US" sz="2800" dirty="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4588561"/>
                  </a:ext>
                </a:extLst>
              </a:tr>
            </a:tbl>
          </a:graphicData>
        </a:graphic>
      </p:graphicFrame>
      <p:sp>
        <p:nvSpPr>
          <p:cNvPr id="5" name="TextBox 4">
            <a:extLst>
              <a:ext uri="{FF2B5EF4-FFF2-40B4-BE49-F238E27FC236}">
                <a16:creationId xmlns:a16="http://schemas.microsoft.com/office/drawing/2014/main" id="{0F88EFF3-6705-2E49-CBEE-D5425B934EF2}"/>
              </a:ext>
            </a:extLst>
          </p:cNvPr>
          <p:cNvSpPr txBox="1"/>
          <p:nvPr/>
        </p:nvSpPr>
        <p:spPr>
          <a:xfrm>
            <a:off x="2250671" y="5379393"/>
            <a:ext cx="7690658" cy="669542"/>
          </a:xfrm>
          <a:prstGeom prst="rect">
            <a:avLst/>
          </a:prstGeom>
          <a:noFill/>
        </p:spPr>
        <p:txBody>
          <a:bodyPr wrap="square">
            <a:spAutoFit/>
          </a:bodyPr>
          <a:lstStyle/>
          <a:p>
            <a:pPr indent="450215" algn="ctr">
              <a:lnSpc>
                <a:spcPct val="150000"/>
              </a:lnSpc>
              <a:spcAft>
                <a:spcPts val="600"/>
              </a:spcAft>
              <a:buNone/>
            </a:pPr>
            <a:r>
              <a:rPr lang="vi-VN" sz="2800" i="1" dirty="0">
                <a:effectLst/>
                <a:latin typeface="Times New Roman" panose="02020603050405020304" pitchFamily="18" charset="0"/>
                <a:ea typeface="Times New Roman" panose="02020603050405020304" pitchFamily="18" charset="0"/>
              </a:rPr>
              <a:t>Bảng 5.</a:t>
            </a:r>
            <a:r>
              <a:rPr lang="en-US" sz="2800" i="1" dirty="0">
                <a:effectLst/>
                <a:latin typeface="Times New Roman" panose="02020603050405020304" pitchFamily="18" charset="0"/>
                <a:ea typeface="Times New Roman" panose="02020603050405020304" pitchFamily="18" charset="0"/>
              </a:rPr>
              <a:t>3</a:t>
            </a:r>
            <a:r>
              <a:rPr lang="vi-VN" sz="2800" i="1" dirty="0">
                <a:effectLst/>
                <a:latin typeface="Times New Roman" panose="02020603050405020304" pitchFamily="18" charset="0"/>
                <a:ea typeface="Times New Roman" panose="02020603050405020304" pitchFamily="18" charset="0"/>
              </a:rPr>
              <a:t>: Kết quả kiểm tra dải C</a:t>
            </a:r>
            <a:r>
              <a:rPr lang="en-US" sz="2800" i="1" dirty="0">
                <a:effectLst/>
                <a:latin typeface="Times New Roman" panose="02020603050405020304" pitchFamily="18" charset="0"/>
                <a:ea typeface="Times New Roman" panose="02020603050405020304" pitchFamily="18" charset="0"/>
              </a:rPr>
              <a:t> </a:t>
            </a:r>
            <a:r>
              <a:rPr lang="en-US" sz="2800" i="1" dirty="0" err="1">
                <a:effectLst/>
                <a:latin typeface="Times New Roman" panose="02020603050405020304" pitchFamily="18" charset="0"/>
                <a:ea typeface="Times New Roman" panose="02020603050405020304" pitchFamily="18" charset="0"/>
              </a:rPr>
              <a:t>của</a:t>
            </a:r>
            <a:r>
              <a:rPr lang="en-US" sz="2800" i="1" dirty="0">
                <a:effectLst/>
                <a:latin typeface="Times New Roman" panose="02020603050405020304" pitchFamily="18" charset="0"/>
                <a:ea typeface="Times New Roman" panose="02020603050405020304" pitchFamily="18" charset="0"/>
              </a:rPr>
              <a:t> LR</a:t>
            </a:r>
            <a:endParaRPr lang="en-US" sz="2800" dirty="0">
              <a:effectLst/>
              <a:latin typeface="Calibri" panose="020F050202020403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979B57BF-102C-4D6C-C5DC-644E14F415E0}"/>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22</a:t>
            </a:r>
          </a:p>
        </p:txBody>
      </p:sp>
    </p:spTree>
    <p:extLst>
      <p:ext uri="{BB962C8B-B14F-4D97-AF65-F5344CB8AC3E}">
        <p14:creationId xmlns:p14="http://schemas.microsoft.com/office/powerpoint/2010/main" val="27530339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4AD04-0C27-EC47-0365-62C367DE50BD}"/>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41D7AEA-2D78-1A80-74D8-7444081002BA}"/>
              </a:ext>
            </a:extLst>
          </p:cNvPr>
          <p:cNvGraphicFramePr>
            <a:graphicFrameLocks noGrp="1"/>
          </p:cNvGraphicFramePr>
          <p:nvPr>
            <p:extLst>
              <p:ext uri="{D42A27DB-BD31-4B8C-83A1-F6EECF244321}">
                <p14:modId xmlns:p14="http://schemas.microsoft.com/office/powerpoint/2010/main" val="2240214779"/>
              </p:ext>
            </p:extLst>
          </p:nvPr>
        </p:nvGraphicFramePr>
        <p:xfrm>
          <a:off x="451658" y="498763"/>
          <a:ext cx="11288683" cy="5137267"/>
        </p:xfrm>
        <a:graphic>
          <a:graphicData uri="http://schemas.openxmlformats.org/drawingml/2006/table">
            <a:tbl>
              <a:tblPr firstRow="1" firstCol="1" bandRow="1"/>
              <a:tblGrid>
                <a:gridCol w="1548023">
                  <a:extLst>
                    <a:ext uri="{9D8B030D-6E8A-4147-A177-3AD203B41FA5}">
                      <a16:colId xmlns:a16="http://schemas.microsoft.com/office/drawing/2014/main" val="1765808466"/>
                    </a:ext>
                  </a:extLst>
                </a:gridCol>
                <a:gridCol w="1608104">
                  <a:extLst>
                    <a:ext uri="{9D8B030D-6E8A-4147-A177-3AD203B41FA5}">
                      <a16:colId xmlns:a16="http://schemas.microsoft.com/office/drawing/2014/main" val="3782557137"/>
                    </a:ext>
                  </a:extLst>
                </a:gridCol>
                <a:gridCol w="1608104">
                  <a:extLst>
                    <a:ext uri="{9D8B030D-6E8A-4147-A177-3AD203B41FA5}">
                      <a16:colId xmlns:a16="http://schemas.microsoft.com/office/drawing/2014/main" val="3834327499"/>
                    </a:ext>
                  </a:extLst>
                </a:gridCol>
                <a:gridCol w="1577424">
                  <a:extLst>
                    <a:ext uri="{9D8B030D-6E8A-4147-A177-3AD203B41FA5}">
                      <a16:colId xmlns:a16="http://schemas.microsoft.com/office/drawing/2014/main" val="3962625813"/>
                    </a:ext>
                  </a:extLst>
                </a:gridCol>
                <a:gridCol w="1565920">
                  <a:extLst>
                    <a:ext uri="{9D8B030D-6E8A-4147-A177-3AD203B41FA5}">
                      <a16:colId xmlns:a16="http://schemas.microsoft.com/office/drawing/2014/main" val="583513494"/>
                    </a:ext>
                  </a:extLst>
                </a:gridCol>
                <a:gridCol w="1623443">
                  <a:extLst>
                    <a:ext uri="{9D8B030D-6E8A-4147-A177-3AD203B41FA5}">
                      <a16:colId xmlns:a16="http://schemas.microsoft.com/office/drawing/2014/main" val="1633224223"/>
                    </a:ext>
                  </a:extLst>
                </a:gridCol>
                <a:gridCol w="1757665">
                  <a:extLst>
                    <a:ext uri="{9D8B030D-6E8A-4147-A177-3AD203B41FA5}">
                      <a16:colId xmlns:a16="http://schemas.microsoft.com/office/drawing/2014/main" val="783969450"/>
                    </a:ext>
                  </a:extLst>
                </a:gridCol>
              </a:tblGrid>
              <a:tr h="733342">
                <a:tc>
                  <a:txBody>
                    <a:bodyPr/>
                    <a:lstStyle/>
                    <a:p>
                      <a:pPr algn="ctr">
                        <a:lnSpc>
                          <a:spcPct val="107000"/>
                        </a:lnSpc>
                        <a:spcAft>
                          <a:spcPts val="800"/>
                        </a:spcAft>
                        <a:buNone/>
                      </a:pPr>
                      <a:r>
                        <a:rPr lang="vi-VN" sz="2800" b="1">
                          <a:effectLst/>
                          <a:latin typeface="Times New Roman" panose="02020603050405020304" pitchFamily="18" charset="0"/>
                          <a:ea typeface="Calibri" panose="020F0502020204030204" pitchFamily="34" charset="0"/>
                        </a:rPr>
                        <a:t>C</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1">
                          <a:effectLst/>
                          <a:latin typeface="Times New Roman" panose="02020603050405020304" pitchFamily="18" charset="0"/>
                          <a:ea typeface="Calibri" panose="020F0502020204030204" pitchFamily="34" charset="0"/>
                        </a:rPr>
                        <a:t>Lớp</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1">
                          <a:effectLst/>
                          <a:latin typeface="Times New Roman" panose="02020603050405020304" pitchFamily="18" charset="0"/>
                          <a:ea typeface="Calibri" panose="020F0502020204030204" pitchFamily="34" charset="0"/>
                        </a:rPr>
                        <a:t>Precision</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1">
                          <a:effectLst/>
                          <a:latin typeface="Times New Roman" panose="02020603050405020304" pitchFamily="18" charset="0"/>
                          <a:ea typeface="Calibri" panose="020F0502020204030204" pitchFamily="34" charset="0"/>
                        </a:rPr>
                        <a:t>Recall</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1">
                          <a:effectLst/>
                          <a:latin typeface="Times New Roman" panose="02020603050405020304" pitchFamily="18" charset="0"/>
                          <a:ea typeface="Calibri" panose="020F0502020204030204" pitchFamily="34" charset="0"/>
                        </a:rPr>
                        <a:t>F1-score</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1">
                          <a:effectLst/>
                          <a:latin typeface="Times New Roman" panose="02020603050405020304" pitchFamily="18" charset="0"/>
                          <a:ea typeface="Times New Roman" panose="02020603050405020304" pitchFamily="18" charset="0"/>
                        </a:rPr>
                        <a:t>Accuracy</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1">
                          <a:effectLst/>
                          <a:latin typeface="Times New Roman" panose="02020603050405020304" pitchFamily="18" charset="0"/>
                          <a:ea typeface="Times New Roman" panose="02020603050405020304" pitchFamily="18" charset="0"/>
                        </a:rPr>
                        <a:t>ROC area</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6847963"/>
                  </a:ext>
                </a:extLst>
              </a:tr>
              <a:tr h="733342">
                <a:tc rowSpan="2">
                  <a:txBody>
                    <a:bodyPr/>
                    <a:lstStyle/>
                    <a:p>
                      <a:pPr algn="ctr">
                        <a:lnSpc>
                          <a:spcPct val="107000"/>
                        </a:lnSpc>
                        <a:spcAft>
                          <a:spcPts val="800"/>
                        </a:spcAft>
                        <a:buNone/>
                      </a:pPr>
                      <a:r>
                        <a:rPr lang="vi-VN" sz="2800" dirty="0">
                          <a:effectLst/>
                          <a:latin typeface="+mj-lt"/>
                          <a:ea typeface="Calibri" panose="020F0502020204030204" pitchFamily="34" charset="0"/>
                        </a:rPr>
                        <a:t>0.1</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Times New Roman" panose="02020603050405020304" pitchFamily="18" charset="0"/>
                        </a:rPr>
                        <a:t>0.96</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0.97</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800"/>
                        </a:spcAft>
                        <a:buNone/>
                      </a:pPr>
                      <a:r>
                        <a:rPr lang="vi-VN" sz="2800">
                          <a:effectLst/>
                          <a:latin typeface="+mj-lt"/>
                          <a:ea typeface="Calibri" panose="020F0502020204030204" pitchFamily="34" charset="0"/>
                        </a:rPr>
                        <a:t>0.95</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800"/>
                        </a:spcAft>
                        <a:buNone/>
                      </a:pPr>
                      <a:r>
                        <a:rPr lang="vi-VN" sz="2800">
                          <a:effectLst/>
                          <a:latin typeface="+mj-lt"/>
                          <a:ea typeface="Calibri" panose="020F0502020204030204" pitchFamily="34" charset="0"/>
                        </a:rPr>
                        <a:t>0.91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6234787"/>
                  </a:ext>
                </a:extLst>
              </a:tr>
              <a:tr h="734633">
                <a:tc vMerge="1">
                  <a:txBody>
                    <a:bodyPr/>
                    <a:lstStyle/>
                    <a:p>
                      <a:endParaRPr lang="en-US"/>
                    </a:p>
                  </a:txBody>
                  <a:tcPr/>
                </a:tc>
                <a:tc>
                  <a:txBody>
                    <a:bodyPr/>
                    <a:lstStyle/>
                    <a:p>
                      <a:pPr algn="ctr">
                        <a:lnSpc>
                          <a:spcPct val="107000"/>
                        </a:lnSpc>
                        <a:spcAft>
                          <a:spcPts val="800"/>
                        </a:spcAft>
                        <a:buNone/>
                      </a:pPr>
                      <a:r>
                        <a:rPr lang="vi-VN" sz="2800" dirty="0">
                          <a:effectLst/>
                          <a:latin typeface="+mj-lt"/>
                          <a:ea typeface="Calibri" panose="020F0502020204030204" pitchFamily="34" charset="0"/>
                        </a:rPr>
                        <a:t>1</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0.82</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0.90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0.86</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58276008"/>
                  </a:ext>
                </a:extLst>
              </a:tr>
              <a:tr h="733342">
                <a:tc rowSpan="2">
                  <a:txBody>
                    <a:bodyPr/>
                    <a:lstStyle/>
                    <a:p>
                      <a:pPr algn="ctr">
                        <a:lnSpc>
                          <a:spcPct val="107000"/>
                        </a:lnSpc>
                        <a:spcAft>
                          <a:spcPts val="800"/>
                        </a:spcAft>
                        <a:buNone/>
                      </a:pPr>
                      <a:r>
                        <a:rPr lang="vi-VN" sz="2800">
                          <a:effectLst/>
                          <a:latin typeface="+mj-lt"/>
                          <a:ea typeface="Calibri" panose="020F0502020204030204" pitchFamily="34" charset="0"/>
                        </a:rPr>
                        <a:t>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dirty="0">
                          <a:effectLst/>
                          <a:latin typeface="+mj-lt"/>
                          <a:ea typeface="Calibri" panose="020F0502020204030204" pitchFamily="34" charset="0"/>
                        </a:rPr>
                        <a:t>0.98</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0.97</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0.97</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800"/>
                        </a:spcAft>
                        <a:buNone/>
                      </a:pPr>
                      <a:r>
                        <a:rPr lang="vi-VN" sz="2800">
                          <a:effectLst/>
                          <a:latin typeface="+mj-lt"/>
                          <a:ea typeface="Calibri" panose="020F0502020204030204" pitchFamily="34" charset="0"/>
                        </a:rPr>
                        <a:t>0.95</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800"/>
                        </a:spcAft>
                        <a:buNone/>
                      </a:pPr>
                      <a:r>
                        <a:rPr lang="vi-VN" sz="2800">
                          <a:effectLst/>
                          <a:latin typeface="+mj-lt"/>
                          <a:ea typeface="Calibri" panose="020F0502020204030204" pitchFamily="34" charset="0"/>
                        </a:rPr>
                        <a:t>0.91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0942770"/>
                  </a:ext>
                </a:extLst>
              </a:tr>
              <a:tr h="734633">
                <a:tc vMerge="1">
                  <a:txBody>
                    <a:bodyPr/>
                    <a:lstStyle/>
                    <a:p>
                      <a:endParaRPr lang="en-US"/>
                    </a:p>
                  </a:txBody>
                  <a:tcPr/>
                </a:tc>
                <a:tc>
                  <a:txBody>
                    <a:bodyPr/>
                    <a:lstStyle/>
                    <a:p>
                      <a:pPr algn="ctr">
                        <a:lnSpc>
                          <a:spcPct val="107000"/>
                        </a:lnSpc>
                        <a:spcAft>
                          <a:spcPts val="800"/>
                        </a:spcAft>
                        <a:buNone/>
                      </a:pPr>
                      <a:r>
                        <a:rPr lang="vi-VN" sz="2800" b="0" dirty="0">
                          <a:effectLst/>
                          <a:latin typeface="+mj-lt"/>
                          <a:ea typeface="Calibri" panose="020F0502020204030204" pitchFamily="34" charset="0"/>
                        </a:rPr>
                        <a:t>1</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0">
                          <a:effectLst/>
                          <a:latin typeface="+mj-lt"/>
                          <a:ea typeface="Calibri" panose="020F0502020204030204" pitchFamily="34" charset="0"/>
                        </a:rPr>
                        <a:t>0.85</a:t>
                      </a:r>
                      <a:endParaRPr lang="en-US" sz="28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0" dirty="0">
                          <a:effectLst/>
                          <a:latin typeface="+mj-lt"/>
                          <a:ea typeface="Calibri" panose="020F0502020204030204" pitchFamily="34" charset="0"/>
                        </a:rPr>
                        <a:t>0.90</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a:effectLst/>
                          <a:latin typeface="+mj-lt"/>
                          <a:ea typeface="Calibri" panose="020F0502020204030204" pitchFamily="34" charset="0"/>
                        </a:rPr>
                        <a:t>0.87</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812283543"/>
                  </a:ext>
                </a:extLst>
              </a:tr>
              <a:tr h="733342">
                <a:tc rowSpan="2">
                  <a:txBody>
                    <a:bodyPr/>
                    <a:lstStyle/>
                    <a:p>
                      <a:pPr algn="ctr">
                        <a:lnSpc>
                          <a:spcPct val="107000"/>
                        </a:lnSpc>
                        <a:spcAft>
                          <a:spcPts val="800"/>
                        </a:spcAft>
                        <a:buNone/>
                      </a:pPr>
                      <a:r>
                        <a:rPr lang="vi-VN" sz="2800">
                          <a:effectLst/>
                          <a:latin typeface="+mj-lt"/>
                          <a:ea typeface="Calibri" panose="020F0502020204030204" pitchFamily="34" charset="0"/>
                        </a:rPr>
                        <a:t>10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0" dirty="0">
                          <a:effectLst/>
                          <a:latin typeface="+mj-lt"/>
                          <a:ea typeface="Calibri" panose="020F0502020204030204" pitchFamily="34" charset="0"/>
                        </a:rPr>
                        <a:t>0</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0" dirty="0">
                          <a:effectLst/>
                          <a:latin typeface="+mj-lt"/>
                          <a:ea typeface="Calibri" panose="020F0502020204030204" pitchFamily="34" charset="0"/>
                        </a:rPr>
                        <a:t>0.98</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0" dirty="0">
                          <a:effectLst/>
                          <a:latin typeface="+mj-lt"/>
                          <a:ea typeface="Calibri" panose="020F0502020204030204" pitchFamily="34" charset="0"/>
                        </a:rPr>
                        <a:t>0.97</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dirty="0">
                          <a:effectLst/>
                          <a:latin typeface="+mj-lt"/>
                          <a:ea typeface="Calibri" panose="020F0502020204030204" pitchFamily="34" charset="0"/>
                        </a:rPr>
                        <a:t>0.97</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800"/>
                        </a:spcAft>
                        <a:buNone/>
                      </a:pPr>
                      <a:r>
                        <a:rPr lang="vi-VN" sz="2800">
                          <a:effectLst/>
                          <a:latin typeface="+mj-lt"/>
                          <a:ea typeface="Calibri" panose="020F0502020204030204" pitchFamily="34" charset="0"/>
                        </a:rPr>
                        <a:t>0.95</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800"/>
                        </a:spcAft>
                        <a:buNone/>
                      </a:pPr>
                      <a:r>
                        <a:rPr lang="vi-VN" sz="2800">
                          <a:effectLst/>
                          <a:latin typeface="+mj-lt"/>
                          <a:ea typeface="Calibri" panose="020F0502020204030204" pitchFamily="34" charset="0"/>
                        </a:rPr>
                        <a:t>0.91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5743113"/>
                  </a:ext>
                </a:extLst>
              </a:tr>
              <a:tr h="734633">
                <a:tc vMerge="1">
                  <a:txBody>
                    <a:bodyPr/>
                    <a:lstStyle/>
                    <a:p>
                      <a:endParaRPr lang="en-US"/>
                    </a:p>
                  </a:txBody>
                  <a:tcPr/>
                </a:tc>
                <a:tc>
                  <a:txBody>
                    <a:bodyPr/>
                    <a:lstStyle/>
                    <a:p>
                      <a:pPr algn="ctr">
                        <a:lnSpc>
                          <a:spcPct val="107000"/>
                        </a:lnSpc>
                        <a:spcAft>
                          <a:spcPts val="800"/>
                        </a:spcAft>
                        <a:buNone/>
                      </a:pPr>
                      <a:r>
                        <a:rPr lang="vi-VN" sz="2800" b="0">
                          <a:effectLst/>
                          <a:latin typeface="+mj-lt"/>
                          <a:ea typeface="Calibri" panose="020F0502020204030204" pitchFamily="34" charset="0"/>
                        </a:rPr>
                        <a:t>1</a:t>
                      </a:r>
                      <a:endParaRPr lang="en-US" sz="28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0" dirty="0">
                          <a:effectLst/>
                          <a:latin typeface="+mj-lt"/>
                          <a:ea typeface="Calibri" panose="020F0502020204030204" pitchFamily="34" charset="0"/>
                        </a:rPr>
                        <a:t>0.85</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b="0" dirty="0">
                          <a:effectLst/>
                          <a:latin typeface="+mj-lt"/>
                          <a:ea typeface="Calibri" panose="020F0502020204030204" pitchFamily="34" charset="0"/>
                        </a:rPr>
                        <a:t>0.90</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vi-VN" sz="2800" dirty="0">
                          <a:effectLst/>
                          <a:latin typeface="+mj-lt"/>
                          <a:ea typeface="Calibri" panose="020F0502020204030204" pitchFamily="34" charset="0"/>
                        </a:rPr>
                        <a:t>0.87</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851430631"/>
                  </a:ext>
                </a:extLst>
              </a:tr>
            </a:tbl>
          </a:graphicData>
        </a:graphic>
      </p:graphicFrame>
      <p:sp>
        <p:nvSpPr>
          <p:cNvPr id="5" name="TextBox 4">
            <a:extLst>
              <a:ext uri="{FF2B5EF4-FFF2-40B4-BE49-F238E27FC236}">
                <a16:creationId xmlns:a16="http://schemas.microsoft.com/office/drawing/2014/main" id="{4ED4D9AA-471F-CC1F-8211-6208BD88D004}"/>
              </a:ext>
            </a:extLst>
          </p:cNvPr>
          <p:cNvSpPr txBox="1"/>
          <p:nvPr/>
        </p:nvSpPr>
        <p:spPr>
          <a:xfrm>
            <a:off x="451657" y="5689695"/>
            <a:ext cx="11288683" cy="669542"/>
          </a:xfrm>
          <a:prstGeom prst="rect">
            <a:avLst/>
          </a:prstGeom>
          <a:noFill/>
        </p:spPr>
        <p:txBody>
          <a:bodyPr wrap="square">
            <a:spAutoFit/>
          </a:bodyPr>
          <a:lstStyle/>
          <a:p>
            <a:pPr indent="450215" algn="ctr">
              <a:lnSpc>
                <a:spcPct val="150000"/>
              </a:lnSpc>
              <a:spcAft>
                <a:spcPts val="600"/>
              </a:spcAft>
              <a:buNone/>
            </a:pPr>
            <a:r>
              <a:rPr lang="vi-VN" sz="2800" i="1" dirty="0">
                <a:effectLst/>
                <a:latin typeface="Times New Roman" panose="02020603050405020304" pitchFamily="18" charset="0"/>
                <a:ea typeface="Times New Roman" panose="02020603050405020304" pitchFamily="18" charset="0"/>
              </a:rPr>
              <a:t>Bảng 5.</a:t>
            </a:r>
            <a:r>
              <a:rPr lang="en-US" sz="2800" i="1" dirty="0">
                <a:effectLst/>
                <a:latin typeface="Times New Roman" panose="02020603050405020304" pitchFamily="18" charset="0"/>
                <a:ea typeface="Times New Roman" panose="02020603050405020304" pitchFamily="18" charset="0"/>
              </a:rPr>
              <a:t>4</a:t>
            </a:r>
            <a:r>
              <a:rPr lang="vi-VN" sz="2800" i="1" dirty="0">
                <a:effectLst/>
                <a:latin typeface="Times New Roman" panose="02020603050405020304" pitchFamily="18" charset="0"/>
                <a:ea typeface="Times New Roman" panose="02020603050405020304" pitchFamily="18" charset="0"/>
              </a:rPr>
              <a:t>: Kết quả áp dụng C lần lượt là 0.1, 1 và 10</a:t>
            </a:r>
            <a:r>
              <a:rPr lang="en-US" sz="2800" i="1" dirty="0">
                <a:effectLst/>
                <a:latin typeface="Times New Roman" panose="02020603050405020304" pitchFamily="18" charset="0"/>
                <a:ea typeface="Times New Roman" panose="02020603050405020304" pitchFamily="18" charset="0"/>
              </a:rPr>
              <a:t> </a:t>
            </a:r>
            <a:r>
              <a:rPr lang="en-US" sz="2800" i="1" dirty="0" err="1">
                <a:effectLst/>
                <a:latin typeface="Times New Roman" panose="02020603050405020304" pitchFamily="18" charset="0"/>
                <a:ea typeface="Times New Roman" panose="02020603050405020304" pitchFamily="18" charset="0"/>
              </a:rPr>
              <a:t>đối</a:t>
            </a:r>
            <a:r>
              <a:rPr lang="en-US" sz="2800" i="1" dirty="0">
                <a:effectLst/>
                <a:latin typeface="Times New Roman" panose="02020603050405020304" pitchFamily="18" charset="0"/>
                <a:ea typeface="Times New Roman" panose="02020603050405020304" pitchFamily="18" charset="0"/>
              </a:rPr>
              <a:t> </a:t>
            </a:r>
            <a:r>
              <a:rPr lang="en-US" sz="2800" i="1" dirty="0" err="1">
                <a:effectLst/>
                <a:latin typeface="Times New Roman" panose="02020603050405020304" pitchFamily="18" charset="0"/>
                <a:ea typeface="Times New Roman" panose="02020603050405020304" pitchFamily="18" charset="0"/>
              </a:rPr>
              <a:t>với</a:t>
            </a:r>
            <a:r>
              <a:rPr lang="en-US" sz="2800" i="1" dirty="0">
                <a:effectLst/>
                <a:latin typeface="Times New Roman" panose="02020603050405020304" pitchFamily="18" charset="0"/>
                <a:ea typeface="Times New Roman" panose="02020603050405020304" pitchFamily="18" charset="0"/>
              </a:rPr>
              <a:t> LR</a:t>
            </a:r>
            <a:endParaRPr lang="en-US" sz="2800" dirty="0">
              <a:effectLst/>
              <a:latin typeface="Calibri" panose="020F050202020403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4FF87791-CC6A-B9E7-CECC-C791169FAC2A}"/>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23</a:t>
            </a:r>
          </a:p>
        </p:txBody>
      </p:sp>
    </p:spTree>
    <p:extLst>
      <p:ext uri="{BB962C8B-B14F-4D97-AF65-F5344CB8AC3E}">
        <p14:creationId xmlns:p14="http://schemas.microsoft.com/office/powerpoint/2010/main" val="2742922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CA47A-83D9-4549-3610-789DE29CE7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DF7C32-E78C-0330-432E-B3388ADDDDC2}"/>
              </a:ext>
            </a:extLst>
          </p:cNvPr>
          <p:cNvSpPr txBox="1"/>
          <p:nvPr/>
        </p:nvSpPr>
        <p:spPr>
          <a:xfrm>
            <a:off x="407324" y="3022029"/>
            <a:ext cx="11377352" cy="813941"/>
          </a:xfrm>
          <a:prstGeom prst="rect">
            <a:avLst/>
          </a:prstGeom>
          <a:noFill/>
        </p:spPr>
        <p:txBody>
          <a:bodyPr wrap="square">
            <a:spAutoFit/>
          </a:bodyPr>
          <a:lstStyle/>
          <a:p>
            <a:pPr indent="450215" algn="ctr">
              <a:lnSpc>
                <a:spcPct val="150000"/>
              </a:lnSpc>
              <a:spcAft>
                <a:spcPts val="600"/>
              </a:spcAft>
              <a:buNone/>
            </a:pPr>
            <a:r>
              <a:rPr lang="en-US" sz="3500" b="1" dirty="0">
                <a:latin typeface="Times New Roman" panose="02020603050405020304" pitchFamily="18" charset="0"/>
                <a:ea typeface="Calibri" panose="020F0502020204030204" pitchFamily="34" charset="0"/>
              </a:rPr>
              <a:t>SUPPORT VECTOR MACHINE</a:t>
            </a:r>
            <a:endParaRPr lang="en-US" sz="3500" b="1" dirty="0">
              <a:effectLst/>
              <a:latin typeface="Calibri" panose="020F0502020204030204" pitchFamily="34" charset="0"/>
              <a:ea typeface="Calibri" panose="020F0502020204030204" pitchFamily="34" charset="0"/>
            </a:endParaRPr>
          </a:p>
        </p:txBody>
      </p:sp>
      <p:sp>
        <p:nvSpPr>
          <p:cNvPr id="3" name="TextBox 2">
            <a:extLst>
              <a:ext uri="{FF2B5EF4-FFF2-40B4-BE49-F238E27FC236}">
                <a16:creationId xmlns:a16="http://schemas.microsoft.com/office/drawing/2014/main" id="{A4F1DB73-6320-5B27-D91D-CC28A97AA712}"/>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24</a:t>
            </a:r>
          </a:p>
        </p:txBody>
      </p:sp>
    </p:spTree>
    <p:extLst>
      <p:ext uri="{BB962C8B-B14F-4D97-AF65-F5344CB8AC3E}">
        <p14:creationId xmlns:p14="http://schemas.microsoft.com/office/powerpoint/2010/main" val="704879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5DB72-1478-CBEB-1962-1A974D412FEF}"/>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4CAAEEE-2373-D86B-DFFE-35EE13D1A734}"/>
              </a:ext>
            </a:extLst>
          </p:cNvPr>
          <p:cNvGraphicFramePr>
            <a:graphicFrameLocks noGrp="1"/>
          </p:cNvGraphicFramePr>
          <p:nvPr>
            <p:extLst>
              <p:ext uri="{D42A27DB-BD31-4B8C-83A1-F6EECF244321}">
                <p14:modId xmlns:p14="http://schemas.microsoft.com/office/powerpoint/2010/main" val="2813528018"/>
              </p:ext>
            </p:extLst>
          </p:nvPr>
        </p:nvGraphicFramePr>
        <p:xfrm>
          <a:off x="592974" y="847898"/>
          <a:ext cx="11006051" cy="4289368"/>
        </p:xfrm>
        <a:graphic>
          <a:graphicData uri="http://schemas.openxmlformats.org/drawingml/2006/table">
            <a:tbl>
              <a:tblPr firstRow="1" firstCol="1" bandRow="1"/>
              <a:tblGrid>
                <a:gridCol w="1593106">
                  <a:extLst>
                    <a:ext uri="{9D8B030D-6E8A-4147-A177-3AD203B41FA5}">
                      <a16:colId xmlns:a16="http://schemas.microsoft.com/office/drawing/2014/main" val="4196815752"/>
                    </a:ext>
                  </a:extLst>
                </a:gridCol>
                <a:gridCol w="1568232">
                  <a:extLst>
                    <a:ext uri="{9D8B030D-6E8A-4147-A177-3AD203B41FA5}">
                      <a16:colId xmlns:a16="http://schemas.microsoft.com/office/drawing/2014/main" val="14599177"/>
                    </a:ext>
                  </a:extLst>
                </a:gridCol>
                <a:gridCol w="1568232">
                  <a:extLst>
                    <a:ext uri="{9D8B030D-6E8A-4147-A177-3AD203B41FA5}">
                      <a16:colId xmlns:a16="http://schemas.microsoft.com/office/drawing/2014/main" val="543051044"/>
                    </a:ext>
                  </a:extLst>
                </a:gridCol>
                <a:gridCol w="1310019">
                  <a:extLst>
                    <a:ext uri="{9D8B030D-6E8A-4147-A177-3AD203B41FA5}">
                      <a16:colId xmlns:a16="http://schemas.microsoft.com/office/drawing/2014/main" val="239664285"/>
                    </a:ext>
                  </a:extLst>
                </a:gridCol>
                <a:gridCol w="1172620">
                  <a:extLst>
                    <a:ext uri="{9D8B030D-6E8A-4147-A177-3AD203B41FA5}">
                      <a16:colId xmlns:a16="http://schemas.microsoft.com/office/drawing/2014/main" val="4052284347"/>
                    </a:ext>
                  </a:extLst>
                </a:gridCol>
                <a:gridCol w="1705630">
                  <a:extLst>
                    <a:ext uri="{9D8B030D-6E8A-4147-A177-3AD203B41FA5}">
                      <a16:colId xmlns:a16="http://schemas.microsoft.com/office/drawing/2014/main" val="4040574660"/>
                    </a:ext>
                  </a:extLst>
                </a:gridCol>
                <a:gridCol w="2088212">
                  <a:extLst>
                    <a:ext uri="{9D8B030D-6E8A-4147-A177-3AD203B41FA5}">
                      <a16:colId xmlns:a16="http://schemas.microsoft.com/office/drawing/2014/main" val="3064919586"/>
                    </a:ext>
                  </a:extLst>
                </a:gridCol>
              </a:tblGrid>
              <a:tr h="856040">
                <a:tc>
                  <a:txBody>
                    <a:bodyPr/>
                    <a:lstStyle/>
                    <a:p>
                      <a:pPr algn="ctr">
                        <a:lnSpc>
                          <a:spcPct val="107000"/>
                        </a:lnSpc>
                        <a:spcAft>
                          <a:spcPts val="600"/>
                        </a:spcAft>
                        <a:buNone/>
                      </a:pPr>
                      <a:r>
                        <a:rPr lang="vi-VN" sz="2800" b="1">
                          <a:effectLst/>
                          <a:latin typeface="+mj-lt"/>
                          <a:ea typeface="Calibri" panose="020F0502020204030204" pitchFamily="34" charset="0"/>
                        </a:rPr>
                        <a:t>Tham số</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a:effectLst/>
                          <a:latin typeface="+mj-lt"/>
                          <a:ea typeface="Calibri" panose="020F0502020204030204" pitchFamily="34" charset="0"/>
                        </a:rPr>
                        <a:t>Lớp</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a:effectLst/>
                          <a:latin typeface="+mj-lt"/>
                          <a:ea typeface="Calibri" panose="020F0502020204030204" pitchFamily="34" charset="0"/>
                        </a:rPr>
                        <a:t>Precision</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a:effectLst/>
                          <a:latin typeface="+mj-lt"/>
                          <a:ea typeface="Calibri" panose="020F0502020204030204" pitchFamily="34" charset="0"/>
                        </a:rPr>
                        <a:t>Recall</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a:effectLst/>
                          <a:latin typeface="+mj-lt"/>
                          <a:ea typeface="Calibri" panose="020F0502020204030204" pitchFamily="34" charset="0"/>
                        </a:rPr>
                        <a:t>F1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a:effectLst/>
                          <a:latin typeface="+mj-lt"/>
                          <a:ea typeface="Calibri" panose="020F0502020204030204" pitchFamily="34" charset="0"/>
                        </a:rPr>
                        <a:t>Accuracy</a:t>
                      </a:r>
                      <a:endParaRPr lang="en-US" sz="280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a:effectLst/>
                          <a:latin typeface="+mj-lt"/>
                          <a:ea typeface="Calibri" panose="020F0502020204030204" pitchFamily="34" charset="0"/>
                        </a:rPr>
                        <a:t>ROC area</a:t>
                      </a:r>
                      <a:endParaRPr lang="en-US" sz="280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6330231"/>
                  </a:ext>
                </a:extLst>
              </a:tr>
              <a:tr h="856040">
                <a:tc rowSpan="2">
                  <a:txBody>
                    <a:bodyPr/>
                    <a:lstStyle/>
                    <a:p>
                      <a:pPr algn="ctr">
                        <a:lnSpc>
                          <a:spcPct val="107000"/>
                        </a:lnSpc>
                        <a:spcAft>
                          <a:spcPts val="600"/>
                        </a:spcAft>
                        <a:buNone/>
                      </a:pPr>
                      <a:r>
                        <a:rPr lang="vi-VN" sz="2800">
                          <a:effectLst/>
                          <a:latin typeface="+mj-lt"/>
                          <a:ea typeface="Calibri" panose="020F0502020204030204" pitchFamily="34" charset="0"/>
                        </a:rPr>
                        <a:t>Mặc định</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effectLst/>
                          <a:latin typeface="+mj-lt"/>
                          <a:ea typeface="Times New Roman" panose="02020603050405020304" pitchFamily="18" charset="0"/>
                        </a:rPr>
                        <a:t>0</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0.97</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1.00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0.99</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dirty="0">
                          <a:effectLst/>
                          <a:latin typeface="+mj-lt"/>
                          <a:ea typeface="Calibri" panose="020F0502020204030204" pitchFamily="34" charset="0"/>
                        </a:rPr>
                        <a:t>0.97</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a:effectLst/>
                          <a:latin typeface="+mj-lt"/>
                          <a:ea typeface="Calibri" panose="020F0502020204030204" pitchFamily="34" charset="0"/>
                        </a:rPr>
                        <a:t>0.99</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517651"/>
                  </a:ext>
                </a:extLst>
              </a:tr>
              <a:tr h="860624">
                <a:tc vMerge="1">
                  <a:txBody>
                    <a:bodyPr/>
                    <a:lstStyle/>
                    <a:p>
                      <a:endParaRPr lang="en-US"/>
                    </a:p>
                  </a:txBody>
                  <a:tcPr/>
                </a:tc>
                <a:tc>
                  <a:txBody>
                    <a:bodyPr/>
                    <a:lstStyle/>
                    <a:p>
                      <a:pPr algn="ctr">
                        <a:lnSpc>
                          <a:spcPct val="107000"/>
                        </a:lnSpc>
                        <a:spcAft>
                          <a:spcPts val="600"/>
                        </a:spcAft>
                        <a:buNone/>
                      </a:pPr>
                      <a:r>
                        <a:rPr lang="vi-VN" sz="2800" dirty="0">
                          <a:effectLst/>
                          <a:latin typeface="+mj-lt"/>
                          <a:ea typeface="Calibri" panose="020F0502020204030204" pitchFamily="34" charset="0"/>
                        </a:rPr>
                        <a:t>1</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dirty="0">
                          <a:effectLst/>
                          <a:latin typeface="+mj-lt"/>
                          <a:ea typeface="Calibri" panose="020F0502020204030204" pitchFamily="34" charset="0"/>
                        </a:rPr>
                        <a:t>0.99</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a:effectLst/>
                          <a:latin typeface="+mj-lt"/>
                          <a:ea typeface="Calibri" panose="020F0502020204030204" pitchFamily="34" charset="0"/>
                        </a:rPr>
                        <a:t>0.86</a:t>
                      </a:r>
                      <a:endParaRPr lang="en-US" sz="28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0.92</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759590487"/>
                  </a:ext>
                </a:extLst>
              </a:tr>
              <a:tr h="856040">
                <a:tc rowSpan="2">
                  <a:txBody>
                    <a:bodyPr/>
                    <a:lstStyle/>
                    <a:p>
                      <a:pPr algn="ctr">
                        <a:lnSpc>
                          <a:spcPct val="107000"/>
                        </a:lnSpc>
                        <a:spcAft>
                          <a:spcPts val="600"/>
                        </a:spcAft>
                        <a:buNone/>
                      </a:pPr>
                      <a:r>
                        <a:rPr lang="vi-VN" sz="2800">
                          <a:effectLst/>
                          <a:latin typeface="+mj-lt"/>
                          <a:ea typeface="Calibri" panose="020F0502020204030204" pitchFamily="34" charset="0"/>
                        </a:rPr>
                        <a:t>Balanced</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effectLst/>
                          <a:latin typeface="+mj-lt"/>
                          <a:ea typeface="Times New Roman" panose="02020603050405020304" pitchFamily="18" charset="0"/>
                        </a:rPr>
                        <a:t>0</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dirty="0">
                          <a:effectLst/>
                          <a:latin typeface="+mj-lt"/>
                          <a:ea typeface="Calibri" panose="020F0502020204030204" pitchFamily="34" charset="0"/>
                        </a:rPr>
                        <a:t>0.98</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dirty="0">
                          <a:effectLst/>
                          <a:latin typeface="+mj-lt"/>
                          <a:ea typeface="Calibri" panose="020F0502020204030204" pitchFamily="34" charset="0"/>
                        </a:rPr>
                        <a:t>0.99</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dirty="0">
                          <a:effectLst/>
                          <a:latin typeface="+mj-lt"/>
                          <a:ea typeface="Calibri" panose="020F0502020204030204" pitchFamily="34" charset="0"/>
                        </a:rPr>
                        <a:t>0.97</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dirty="0">
                          <a:effectLst/>
                          <a:latin typeface="+mj-lt"/>
                          <a:ea typeface="Calibri" panose="020F0502020204030204" pitchFamily="34" charset="0"/>
                        </a:rPr>
                        <a:t>0.99</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4717155"/>
                  </a:ext>
                </a:extLst>
              </a:tr>
              <a:tr h="860624">
                <a:tc vMerge="1">
                  <a:txBody>
                    <a:bodyPr/>
                    <a:lstStyle/>
                    <a:p>
                      <a:endParaRPr lang="en-US"/>
                    </a:p>
                  </a:txBody>
                  <a:tcPr/>
                </a:tc>
                <a:tc>
                  <a:txBody>
                    <a:bodyPr/>
                    <a:lstStyle/>
                    <a:p>
                      <a:pPr algn="ctr">
                        <a:lnSpc>
                          <a:spcPct val="107000"/>
                        </a:lnSpc>
                        <a:spcAft>
                          <a:spcPts val="600"/>
                        </a:spcAft>
                        <a:buNone/>
                      </a:pPr>
                      <a:r>
                        <a:rPr lang="vi-VN" sz="2800" dirty="0">
                          <a:effectLst/>
                          <a:latin typeface="+mj-lt"/>
                          <a:ea typeface="Calibri" panose="020F0502020204030204" pitchFamily="34" charset="0"/>
                        </a:rPr>
                        <a:t>1</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a:effectLst/>
                          <a:latin typeface="+mj-lt"/>
                          <a:ea typeface="Calibri" panose="020F0502020204030204" pitchFamily="34" charset="0"/>
                        </a:rPr>
                        <a:t>0.95</a:t>
                      </a:r>
                      <a:endParaRPr lang="en-US" sz="28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dirty="0">
                          <a:effectLst/>
                          <a:latin typeface="+mj-lt"/>
                          <a:ea typeface="Calibri" panose="020F0502020204030204" pitchFamily="34" charset="0"/>
                        </a:rPr>
                        <a:t>0.90</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effectLst/>
                          <a:latin typeface="+mj-lt"/>
                          <a:ea typeface="Calibri" panose="020F0502020204030204" pitchFamily="34" charset="0"/>
                        </a:rPr>
                        <a:t>0.92</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185253165"/>
                  </a:ext>
                </a:extLst>
              </a:tr>
            </a:tbl>
          </a:graphicData>
        </a:graphic>
      </p:graphicFrame>
      <p:sp>
        <p:nvSpPr>
          <p:cNvPr id="5" name="TextBox 4">
            <a:extLst>
              <a:ext uri="{FF2B5EF4-FFF2-40B4-BE49-F238E27FC236}">
                <a16:creationId xmlns:a16="http://schemas.microsoft.com/office/drawing/2014/main" id="{4BD835FA-573F-947C-79D2-3C94C4E4C3B1}"/>
              </a:ext>
            </a:extLst>
          </p:cNvPr>
          <p:cNvSpPr txBox="1"/>
          <p:nvPr/>
        </p:nvSpPr>
        <p:spPr>
          <a:xfrm>
            <a:off x="407323" y="5675331"/>
            <a:ext cx="11377352" cy="669542"/>
          </a:xfrm>
          <a:prstGeom prst="rect">
            <a:avLst/>
          </a:prstGeom>
          <a:noFill/>
        </p:spPr>
        <p:txBody>
          <a:bodyPr wrap="square">
            <a:spAutoFit/>
          </a:bodyPr>
          <a:lstStyle/>
          <a:p>
            <a:pPr indent="450215" algn="ctr">
              <a:lnSpc>
                <a:spcPct val="150000"/>
              </a:lnSpc>
              <a:spcAft>
                <a:spcPts val="600"/>
              </a:spcAft>
              <a:buNone/>
            </a:pPr>
            <a:r>
              <a:rPr lang="vi-VN" sz="2800" i="1" dirty="0">
                <a:effectLst/>
                <a:latin typeface="Times New Roman" panose="02020603050405020304" pitchFamily="18" charset="0"/>
                <a:ea typeface="Times New Roman" panose="02020603050405020304" pitchFamily="18" charset="0"/>
              </a:rPr>
              <a:t>Bảng 5.</a:t>
            </a:r>
            <a:r>
              <a:rPr lang="en-US" sz="2800" i="1" dirty="0">
                <a:effectLst/>
                <a:latin typeface="Times New Roman" panose="02020603050405020304" pitchFamily="18" charset="0"/>
                <a:ea typeface="Times New Roman" panose="02020603050405020304" pitchFamily="18" charset="0"/>
              </a:rPr>
              <a:t>5</a:t>
            </a:r>
            <a:r>
              <a:rPr lang="vi-VN" sz="2800" i="1" dirty="0">
                <a:effectLst/>
                <a:latin typeface="Times New Roman" panose="02020603050405020304" pitchFamily="18" charset="0"/>
                <a:ea typeface="Times New Roman" panose="02020603050405020304" pitchFamily="18" charset="0"/>
              </a:rPr>
              <a:t>: Kết quả thực nghiệm </a:t>
            </a:r>
            <a:r>
              <a:rPr lang="en-US" sz="2800" i="1" dirty="0">
                <a:effectLst/>
                <a:latin typeface="Times New Roman" panose="02020603050405020304" pitchFamily="18" charset="0"/>
                <a:ea typeface="Times New Roman" panose="02020603050405020304" pitchFamily="18" charset="0"/>
              </a:rPr>
              <a:t>SVM </a:t>
            </a:r>
            <a:r>
              <a:rPr lang="vi-VN" sz="2800" i="1" dirty="0">
                <a:effectLst/>
                <a:latin typeface="Times New Roman" panose="02020603050405020304" pitchFamily="18" charset="0"/>
                <a:ea typeface="Times New Roman" panose="02020603050405020304" pitchFamily="18" charset="0"/>
              </a:rPr>
              <a:t>khi áp dụng cân bằng lớp</a:t>
            </a:r>
            <a:endParaRPr lang="en-US" sz="2800" dirty="0">
              <a:effectLst/>
              <a:latin typeface="Calibri" panose="020F050202020403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EABDF8FD-366C-73AB-2D64-DC49001E3109}"/>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25</a:t>
            </a:r>
          </a:p>
        </p:txBody>
      </p:sp>
    </p:spTree>
    <p:extLst>
      <p:ext uri="{BB962C8B-B14F-4D97-AF65-F5344CB8AC3E}">
        <p14:creationId xmlns:p14="http://schemas.microsoft.com/office/powerpoint/2010/main" val="3774652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544FB-2E10-44E0-5270-ABFC18116EA1}"/>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5C36239-468A-A546-93B7-A613B208D6FE}"/>
              </a:ext>
            </a:extLst>
          </p:cNvPr>
          <p:cNvGraphicFramePr>
            <a:graphicFrameLocks noGrp="1"/>
          </p:cNvGraphicFramePr>
          <p:nvPr>
            <p:extLst>
              <p:ext uri="{D42A27DB-BD31-4B8C-83A1-F6EECF244321}">
                <p14:modId xmlns:p14="http://schemas.microsoft.com/office/powerpoint/2010/main" val="922157857"/>
              </p:ext>
            </p:extLst>
          </p:nvPr>
        </p:nvGraphicFramePr>
        <p:xfrm>
          <a:off x="360217" y="416760"/>
          <a:ext cx="11471566" cy="4954389"/>
        </p:xfrm>
        <a:graphic>
          <a:graphicData uri="http://schemas.openxmlformats.org/drawingml/2006/table">
            <a:tbl>
              <a:tblPr firstRow="1" firstCol="1" bandRow="1"/>
              <a:tblGrid>
                <a:gridCol w="1778093">
                  <a:extLst>
                    <a:ext uri="{9D8B030D-6E8A-4147-A177-3AD203B41FA5}">
                      <a16:colId xmlns:a16="http://schemas.microsoft.com/office/drawing/2014/main" val="2168684118"/>
                    </a:ext>
                  </a:extLst>
                </a:gridCol>
                <a:gridCol w="1696627">
                  <a:extLst>
                    <a:ext uri="{9D8B030D-6E8A-4147-A177-3AD203B41FA5}">
                      <a16:colId xmlns:a16="http://schemas.microsoft.com/office/drawing/2014/main" val="1516496561"/>
                    </a:ext>
                  </a:extLst>
                </a:gridCol>
                <a:gridCol w="2477193">
                  <a:extLst>
                    <a:ext uri="{9D8B030D-6E8A-4147-A177-3AD203B41FA5}">
                      <a16:colId xmlns:a16="http://schemas.microsoft.com/office/drawing/2014/main" val="2370678879"/>
                    </a:ext>
                  </a:extLst>
                </a:gridCol>
                <a:gridCol w="2194560">
                  <a:extLst>
                    <a:ext uri="{9D8B030D-6E8A-4147-A177-3AD203B41FA5}">
                      <a16:colId xmlns:a16="http://schemas.microsoft.com/office/drawing/2014/main" val="4214145278"/>
                    </a:ext>
                  </a:extLst>
                </a:gridCol>
                <a:gridCol w="1745673">
                  <a:extLst>
                    <a:ext uri="{9D8B030D-6E8A-4147-A177-3AD203B41FA5}">
                      <a16:colId xmlns:a16="http://schemas.microsoft.com/office/drawing/2014/main" val="1742645813"/>
                    </a:ext>
                  </a:extLst>
                </a:gridCol>
                <a:gridCol w="1579420">
                  <a:extLst>
                    <a:ext uri="{9D8B030D-6E8A-4147-A177-3AD203B41FA5}">
                      <a16:colId xmlns:a16="http://schemas.microsoft.com/office/drawing/2014/main" val="587367825"/>
                    </a:ext>
                  </a:extLst>
                </a:gridCol>
              </a:tblGrid>
              <a:tr h="450399">
                <a:tc>
                  <a:txBody>
                    <a:bodyPr/>
                    <a:lstStyle/>
                    <a:p>
                      <a:pPr algn="just">
                        <a:lnSpc>
                          <a:spcPct val="107000"/>
                        </a:lnSpc>
                        <a:spcAft>
                          <a:spcPts val="600"/>
                        </a:spcAft>
                        <a:buNone/>
                      </a:pPr>
                      <a:r>
                        <a:rPr lang="vi-VN" sz="2800" b="1">
                          <a:solidFill>
                            <a:srgbClr val="1F1F1F"/>
                          </a:solidFill>
                          <a:effectLst/>
                          <a:latin typeface="Times New Roman" panose="02020603050405020304" pitchFamily="18" charset="0"/>
                          <a:ea typeface="Times New Roman" panose="02020603050405020304" pitchFamily="18" charset="0"/>
                        </a:rPr>
                        <a:t>Cấu hình</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800" b="1">
                          <a:solidFill>
                            <a:srgbClr val="1F1F1F"/>
                          </a:solidFill>
                          <a:effectLst/>
                          <a:latin typeface="Times New Roman" panose="02020603050405020304" pitchFamily="18" charset="0"/>
                          <a:ea typeface="Times New Roman" panose="02020603050405020304" pitchFamily="18" charset="0"/>
                        </a:rPr>
                        <a:t>Threshold</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800" b="1">
                          <a:solidFill>
                            <a:srgbClr val="1F1F1F"/>
                          </a:solidFill>
                          <a:effectLst/>
                          <a:latin typeface="Times New Roman" panose="02020603050405020304" pitchFamily="18" charset="0"/>
                          <a:ea typeface="Times New Roman" panose="02020603050405020304" pitchFamily="18" charset="0"/>
                        </a:rPr>
                        <a:t>Precision (0/1)</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800" b="1">
                          <a:solidFill>
                            <a:srgbClr val="1F1F1F"/>
                          </a:solidFill>
                          <a:effectLst/>
                          <a:latin typeface="Times New Roman" panose="02020603050405020304" pitchFamily="18" charset="0"/>
                          <a:ea typeface="Times New Roman" panose="02020603050405020304" pitchFamily="18" charset="0"/>
                        </a:rPr>
                        <a:t>Recall (0/1)</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800" b="1">
                          <a:solidFill>
                            <a:srgbClr val="1F1F1F"/>
                          </a:solidFill>
                          <a:effectLst/>
                          <a:latin typeface="Times New Roman" panose="02020603050405020304" pitchFamily="18" charset="0"/>
                          <a:ea typeface="Times New Roman" panose="02020603050405020304" pitchFamily="18" charset="0"/>
                        </a:rPr>
                        <a:t>F1(0/1)</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800" b="1">
                          <a:solidFill>
                            <a:srgbClr val="1F1F1F"/>
                          </a:solidFill>
                          <a:effectLst/>
                          <a:latin typeface="Times New Roman" panose="02020603050405020304" pitchFamily="18" charset="0"/>
                          <a:ea typeface="Times New Roman" panose="02020603050405020304" pitchFamily="18" charset="0"/>
                        </a:rPr>
                        <a:t>Accuracy</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946756"/>
                  </a:ext>
                </a:extLst>
              </a:tr>
              <a:tr h="450399">
                <a:tc rowSpan="5">
                  <a:txBody>
                    <a:bodyPr/>
                    <a:lstStyle/>
                    <a:p>
                      <a:pPr algn="just">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Original</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solidFill>
                            <a:srgbClr val="1F1F1F"/>
                          </a:solidFill>
                          <a:effectLst/>
                          <a:latin typeface="Times New Roman" panose="02020603050405020304" pitchFamily="18" charset="0"/>
                          <a:ea typeface="Times New Roman" panose="02020603050405020304" pitchFamily="18" charset="0"/>
                        </a:rPr>
                        <a:t>0.3</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solidFill>
                            <a:srgbClr val="1F1F1F"/>
                          </a:solidFill>
                          <a:effectLst/>
                          <a:latin typeface="Times New Roman" panose="02020603050405020304" pitchFamily="18" charset="0"/>
                          <a:ea typeface="Times New Roman" panose="02020603050405020304" pitchFamily="18" charset="0"/>
                        </a:rPr>
                        <a:t>0.98/0.95</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0.99/0.90</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0.98/0.92</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0.97</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1525047"/>
                  </a:ext>
                </a:extLst>
              </a:tr>
              <a:tr h="450399">
                <a:tc vMerge="1">
                  <a:txBody>
                    <a:bodyPr/>
                    <a:lstStyle/>
                    <a:p>
                      <a:endParaRPr lang="en-US"/>
                    </a:p>
                  </a:txBody>
                  <a:tcPr/>
                </a:tc>
                <a:tc>
                  <a:txBody>
                    <a:bodyPr/>
                    <a:lstStyle/>
                    <a:p>
                      <a:pPr algn="ctr">
                        <a:lnSpc>
                          <a:spcPct val="107000"/>
                        </a:lnSpc>
                        <a:spcAft>
                          <a:spcPts val="600"/>
                        </a:spcAft>
                        <a:buNone/>
                      </a:pPr>
                      <a:r>
                        <a:rPr lang="vi-VN" sz="2800" dirty="0">
                          <a:solidFill>
                            <a:srgbClr val="1F1F1F"/>
                          </a:solidFill>
                          <a:effectLst/>
                          <a:latin typeface="Times New Roman" panose="02020603050405020304" pitchFamily="18" charset="0"/>
                          <a:ea typeface="Times New Roman" panose="02020603050405020304" pitchFamily="18" charset="0"/>
                        </a:rPr>
                        <a:t>0.4</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0.98/0.96</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0.99/0.90</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0.99/0.93</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1987753"/>
                  </a:ext>
                </a:extLst>
              </a:tr>
              <a:tr h="450399">
                <a:tc vMerge="1">
                  <a:txBody>
                    <a:bodyPr/>
                    <a:lstStyle/>
                    <a:p>
                      <a:endParaRPr lang="en-US"/>
                    </a:p>
                  </a:txBody>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0.5</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solidFill>
                            <a:srgbClr val="1F1F1F"/>
                          </a:solidFill>
                          <a:effectLst/>
                          <a:latin typeface="Times New Roman" panose="02020603050405020304" pitchFamily="18" charset="0"/>
                          <a:ea typeface="Times New Roman" panose="02020603050405020304" pitchFamily="18" charset="0"/>
                        </a:rPr>
                        <a:t>0.98/0.97</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0.99/0.89</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0.99/0.93</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6863819"/>
                  </a:ext>
                </a:extLst>
              </a:tr>
              <a:tr h="450399">
                <a:tc vMerge="1">
                  <a:txBody>
                    <a:bodyPr/>
                    <a:lstStyle/>
                    <a:p>
                      <a:endParaRPr lang="en-US"/>
                    </a:p>
                  </a:txBody>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0.6</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0.98/0.98</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1.00/0.89</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0.99/0.93</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5893504"/>
                  </a:ext>
                </a:extLst>
              </a:tr>
              <a:tr h="450399">
                <a:tc vMerge="1">
                  <a:txBody>
                    <a:bodyPr/>
                    <a:lstStyle/>
                    <a:p>
                      <a:endParaRPr lang="en-US"/>
                    </a:p>
                  </a:txBody>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0.7</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solidFill>
                            <a:srgbClr val="1F1F1F"/>
                          </a:solidFill>
                          <a:effectLst/>
                          <a:latin typeface="Times New Roman" panose="02020603050405020304" pitchFamily="18" charset="0"/>
                          <a:ea typeface="Times New Roman" panose="02020603050405020304" pitchFamily="18" charset="0"/>
                        </a:rPr>
                        <a:t>0.98/0.98</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1.00/0.88</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0.99/0.93</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6522843"/>
                  </a:ext>
                </a:extLst>
              </a:tr>
              <a:tr h="450399">
                <a:tc rowSpan="5">
                  <a:txBody>
                    <a:bodyPr/>
                    <a:lstStyle/>
                    <a:p>
                      <a:pPr algn="just">
                        <a:lnSpc>
                          <a:spcPct val="107000"/>
                        </a:lnSpc>
                        <a:spcAft>
                          <a:spcPts val="600"/>
                        </a:spcAft>
                        <a:buNone/>
                      </a:pPr>
                      <a:r>
                        <a:rPr lang="vi-VN" sz="2800" dirty="0">
                          <a:solidFill>
                            <a:srgbClr val="1F1F1F"/>
                          </a:solidFill>
                          <a:effectLst/>
                          <a:latin typeface="Times New Roman" panose="02020603050405020304" pitchFamily="18" charset="0"/>
                          <a:ea typeface="Times New Roman" panose="02020603050405020304" pitchFamily="18" charset="0"/>
                        </a:rPr>
                        <a:t>Balanced</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0.3</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0.98/0.90</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solidFill>
                            <a:srgbClr val="1F1F1F"/>
                          </a:solidFill>
                          <a:effectLst/>
                          <a:latin typeface="Times New Roman" panose="02020603050405020304" pitchFamily="18" charset="0"/>
                          <a:ea typeface="Times New Roman" panose="02020603050405020304" pitchFamily="18" charset="0"/>
                        </a:rPr>
                        <a:t>0.98/0.90</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0.98/0.90</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0.97</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4488523"/>
                  </a:ext>
                </a:extLst>
              </a:tr>
              <a:tr h="450399">
                <a:tc vMerge="1">
                  <a:txBody>
                    <a:bodyPr/>
                    <a:lstStyle/>
                    <a:p>
                      <a:endParaRPr lang="en-US"/>
                    </a:p>
                  </a:txBody>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0.4</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0.98/0.93</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effectLst/>
                          <a:latin typeface="Times New Roman" panose="02020603050405020304" pitchFamily="18" charset="0"/>
                          <a:ea typeface="Times New Roman" panose="02020603050405020304" pitchFamily="18" charset="0"/>
                        </a:rPr>
                        <a:t>0.99/0.90</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0.98/0.92</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0.97</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0639576"/>
                  </a:ext>
                </a:extLst>
              </a:tr>
              <a:tr h="450399">
                <a:tc vMerge="1">
                  <a:txBody>
                    <a:bodyPr/>
                    <a:lstStyle/>
                    <a:p>
                      <a:endParaRPr lang="en-US"/>
                    </a:p>
                  </a:txBody>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0.5</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0.98/0.95</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0.99/0.90</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0.99/0.93</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6086628"/>
                  </a:ext>
                </a:extLst>
              </a:tr>
              <a:tr h="450399">
                <a:tc vMerge="1">
                  <a:txBody>
                    <a:bodyPr/>
                    <a:lstStyle/>
                    <a:p>
                      <a:endParaRPr lang="en-US"/>
                    </a:p>
                  </a:txBody>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0.6</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0.98/0.96</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0.99/0.90</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solidFill>
                            <a:srgbClr val="1F1F1F"/>
                          </a:solidFill>
                          <a:effectLst/>
                          <a:latin typeface="Times New Roman" panose="02020603050405020304" pitchFamily="18" charset="0"/>
                          <a:ea typeface="Times New Roman" panose="02020603050405020304" pitchFamily="18" charset="0"/>
                        </a:rPr>
                        <a:t>0.99/0.93</a:t>
                      </a:r>
                      <a:endParaRPr lang="en-US" sz="2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4915937"/>
                  </a:ext>
                </a:extLst>
              </a:tr>
              <a:tr h="450399">
                <a:tc vMerge="1">
                  <a:txBody>
                    <a:bodyPr/>
                    <a:lstStyle/>
                    <a:p>
                      <a:endParaRPr lang="en-US"/>
                    </a:p>
                  </a:txBody>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0.7</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0.98/0.98</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1.00/0.90</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solidFill>
                            <a:srgbClr val="1F1F1F"/>
                          </a:solidFill>
                          <a:effectLst/>
                          <a:latin typeface="Times New Roman" panose="02020603050405020304" pitchFamily="18" charset="0"/>
                          <a:ea typeface="Times New Roman" panose="02020603050405020304" pitchFamily="18" charset="0"/>
                        </a:rPr>
                        <a:t>0.99/0.94</a:t>
                      </a:r>
                      <a:endParaRPr lang="en-US" sz="2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solidFill>
                            <a:srgbClr val="1F1F1F"/>
                          </a:solidFill>
                          <a:effectLst/>
                          <a:latin typeface="Times New Roman" panose="02020603050405020304" pitchFamily="18" charset="0"/>
                          <a:ea typeface="Times New Roman" panose="02020603050405020304" pitchFamily="18" charset="0"/>
                        </a:rPr>
                        <a:t>0.98</a:t>
                      </a:r>
                      <a:endParaRPr lang="en-US" sz="2800" dirty="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5274602"/>
                  </a:ext>
                </a:extLst>
              </a:tr>
            </a:tbl>
          </a:graphicData>
        </a:graphic>
      </p:graphicFrame>
      <p:sp>
        <p:nvSpPr>
          <p:cNvPr id="5" name="TextBox 4">
            <a:extLst>
              <a:ext uri="{FF2B5EF4-FFF2-40B4-BE49-F238E27FC236}">
                <a16:creationId xmlns:a16="http://schemas.microsoft.com/office/drawing/2014/main" id="{EFC125DC-9927-56FF-3E7B-6BBDB5E8BA24}"/>
              </a:ext>
            </a:extLst>
          </p:cNvPr>
          <p:cNvSpPr txBox="1"/>
          <p:nvPr/>
        </p:nvSpPr>
        <p:spPr>
          <a:xfrm>
            <a:off x="684414" y="5620531"/>
            <a:ext cx="10823171" cy="669542"/>
          </a:xfrm>
          <a:prstGeom prst="rect">
            <a:avLst/>
          </a:prstGeom>
          <a:noFill/>
        </p:spPr>
        <p:txBody>
          <a:bodyPr wrap="square">
            <a:spAutoFit/>
          </a:bodyPr>
          <a:lstStyle/>
          <a:p>
            <a:pPr indent="450215" algn="ctr">
              <a:lnSpc>
                <a:spcPct val="150000"/>
              </a:lnSpc>
              <a:spcAft>
                <a:spcPts val="600"/>
              </a:spcAft>
              <a:buNone/>
            </a:pPr>
            <a:r>
              <a:rPr lang="vi-VN" sz="2800" i="1" dirty="0">
                <a:effectLst/>
                <a:latin typeface="Times New Roman" panose="02020603050405020304" pitchFamily="18" charset="0"/>
                <a:ea typeface="Times New Roman" panose="02020603050405020304" pitchFamily="18" charset="0"/>
              </a:rPr>
              <a:t>Bảng 5.</a:t>
            </a:r>
            <a:r>
              <a:rPr lang="en-US" sz="2800" i="1" dirty="0">
                <a:effectLst/>
                <a:latin typeface="Times New Roman" panose="02020603050405020304" pitchFamily="18" charset="0"/>
                <a:ea typeface="Times New Roman" panose="02020603050405020304" pitchFamily="18" charset="0"/>
              </a:rPr>
              <a:t>6</a:t>
            </a:r>
            <a:r>
              <a:rPr lang="vi-VN" sz="2800" i="1" dirty="0">
                <a:effectLst/>
                <a:latin typeface="Times New Roman" panose="02020603050405020304" pitchFamily="18" charset="0"/>
                <a:ea typeface="Times New Roman" panose="02020603050405020304" pitchFamily="18" charset="0"/>
              </a:rPr>
              <a:t>: Hiệu suất của mô hình SVM với ngưỡng phân loại </a:t>
            </a:r>
            <a:endParaRPr lang="en-US" sz="2800" dirty="0">
              <a:effectLst/>
              <a:latin typeface="Calibri" panose="020F050202020403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9F5BE948-27AB-DAE5-6B3D-5C7560C52AF9}"/>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26</a:t>
            </a:r>
          </a:p>
        </p:txBody>
      </p:sp>
    </p:spTree>
    <p:extLst>
      <p:ext uri="{BB962C8B-B14F-4D97-AF65-F5344CB8AC3E}">
        <p14:creationId xmlns:p14="http://schemas.microsoft.com/office/powerpoint/2010/main" val="3396662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78665-8621-C993-0893-37736404D565}"/>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8C251E6-5778-B891-A4EA-E8AB23329811}"/>
              </a:ext>
            </a:extLst>
          </p:cNvPr>
          <p:cNvGraphicFramePr>
            <a:graphicFrameLocks noGrp="1"/>
          </p:cNvGraphicFramePr>
          <p:nvPr>
            <p:extLst>
              <p:ext uri="{D42A27DB-BD31-4B8C-83A1-F6EECF244321}">
                <p14:modId xmlns:p14="http://schemas.microsoft.com/office/powerpoint/2010/main" val="1378426581"/>
              </p:ext>
            </p:extLst>
          </p:nvPr>
        </p:nvGraphicFramePr>
        <p:xfrm>
          <a:off x="1266306" y="648392"/>
          <a:ext cx="9659388" cy="4189614"/>
        </p:xfrm>
        <a:graphic>
          <a:graphicData uri="http://schemas.openxmlformats.org/drawingml/2006/table">
            <a:tbl>
              <a:tblPr firstRow="1" firstCol="1" bandRow="1"/>
              <a:tblGrid>
                <a:gridCol w="3219796">
                  <a:extLst>
                    <a:ext uri="{9D8B030D-6E8A-4147-A177-3AD203B41FA5}">
                      <a16:colId xmlns:a16="http://schemas.microsoft.com/office/drawing/2014/main" val="2743740622"/>
                    </a:ext>
                  </a:extLst>
                </a:gridCol>
                <a:gridCol w="3219796">
                  <a:extLst>
                    <a:ext uri="{9D8B030D-6E8A-4147-A177-3AD203B41FA5}">
                      <a16:colId xmlns:a16="http://schemas.microsoft.com/office/drawing/2014/main" val="2676425382"/>
                    </a:ext>
                  </a:extLst>
                </a:gridCol>
                <a:gridCol w="3219796">
                  <a:extLst>
                    <a:ext uri="{9D8B030D-6E8A-4147-A177-3AD203B41FA5}">
                      <a16:colId xmlns:a16="http://schemas.microsoft.com/office/drawing/2014/main" val="4061801270"/>
                    </a:ext>
                  </a:extLst>
                </a:gridCol>
              </a:tblGrid>
              <a:tr h="698269">
                <a:tc>
                  <a:txBody>
                    <a:bodyPr/>
                    <a:lstStyle/>
                    <a:p>
                      <a:pPr algn="ctr">
                        <a:lnSpc>
                          <a:spcPct val="107000"/>
                        </a:lnSpc>
                        <a:spcAft>
                          <a:spcPts val="600"/>
                        </a:spcAft>
                        <a:buNone/>
                      </a:pPr>
                      <a:r>
                        <a:rPr lang="vi-VN" sz="2800" b="1">
                          <a:effectLst/>
                          <a:latin typeface="Times New Roman" panose="02020603050405020304" pitchFamily="18" charset="0"/>
                          <a:ea typeface="Times New Roman" panose="02020603050405020304" pitchFamily="18" charset="0"/>
                        </a:rPr>
                        <a:t>Scoring</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a:effectLst/>
                          <a:latin typeface="Times New Roman" panose="02020603050405020304" pitchFamily="18" charset="0"/>
                          <a:ea typeface="Times New Roman" panose="02020603050405020304" pitchFamily="18" charset="0"/>
                        </a:rPr>
                        <a:t>Best C</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1">
                          <a:effectLst/>
                          <a:latin typeface="Times New Roman" panose="02020603050405020304" pitchFamily="18" charset="0"/>
                          <a:ea typeface="Times New Roman" panose="02020603050405020304" pitchFamily="18" charset="0"/>
                        </a:rPr>
                        <a:t>Best CV Score</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262052"/>
                  </a:ext>
                </a:extLst>
              </a:tr>
              <a:tr h="698269">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precision</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effectLst/>
                          <a:latin typeface="Times New Roman" panose="02020603050405020304" pitchFamily="18" charset="0"/>
                          <a:ea typeface="Times New Roman" panose="02020603050405020304" pitchFamily="18" charset="0"/>
                        </a:rPr>
                        <a:t>1</a:t>
                      </a:r>
                      <a:endParaRPr lang="en-US" sz="2800" dirty="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0.96</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6304371"/>
                  </a:ext>
                </a:extLst>
              </a:tr>
              <a:tr h="698269">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recall</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10</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0.91</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8386020"/>
                  </a:ext>
                </a:extLst>
              </a:tr>
              <a:tr h="698269">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f1</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0.93</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573950"/>
                  </a:ext>
                </a:extLst>
              </a:tr>
              <a:tr h="698269">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accuracy</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0.98</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4831380"/>
                  </a:ext>
                </a:extLst>
              </a:tr>
              <a:tr h="698269">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roc_auc</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Times New Roman" panose="02020603050405020304" pitchFamily="18" charset="0"/>
                          <a:ea typeface="Times New Roman" panose="02020603050405020304" pitchFamily="18" charset="0"/>
                        </a:rPr>
                        <a:t>100</a:t>
                      </a:r>
                      <a:endParaRPr lang="en-US" sz="280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effectLst/>
                          <a:latin typeface="Times New Roman" panose="02020603050405020304" pitchFamily="18" charset="0"/>
                          <a:ea typeface="Times New Roman" panose="02020603050405020304" pitchFamily="18" charset="0"/>
                        </a:rPr>
                        <a:t>0.99</a:t>
                      </a:r>
                      <a:endParaRPr lang="en-US" sz="2800" dirty="0">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6743733"/>
                  </a:ext>
                </a:extLst>
              </a:tr>
            </a:tbl>
          </a:graphicData>
        </a:graphic>
      </p:graphicFrame>
      <p:sp>
        <p:nvSpPr>
          <p:cNvPr id="5" name="TextBox 4">
            <a:extLst>
              <a:ext uri="{FF2B5EF4-FFF2-40B4-BE49-F238E27FC236}">
                <a16:creationId xmlns:a16="http://schemas.microsoft.com/office/drawing/2014/main" id="{332928DA-CCA8-C82A-B2F8-0962677620DA}"/>
              </a:ext>
            </a:extLst>
          </p:cNvPr>
          <p:cNvSpPr txBox="1"/>
          <p:nvPr/>
        </p:nvSpPr>
        <p:spPr>
          <a:xfrm>
            <a:off x="2315787" y="5263014"/>
            <a:ext cx="7560425" cy="669542"/>
          </a:xfrm>
          <a:prstGeom prst="rect">
            <a:avLst/>
          </a:prstGeom>
          <a:noFill/>
        </p:spPr>
        <p:txBody>
          <a:bodyPr wrap="square">
            <a:spAutoFit/>
          </a:bodyPr>
          <a:lstStyle/>
          <a:p>
            <a:pPr indent="450215" algn="ctr">
              <a:lnSpc>
                <a:spcPct val="150000"/>
              </a:lnSpc>
              <a:spcAft>
                <a:spcPts val="600"/>
              </a:spcAft>
              <a:buNone/>
            </a:pPr>
            <a:r>
              <a:rPr lang="vi-VN" sz="2800" i="1" dirty="0">
                <a:effectLst/>
                <a:latin typeface="Times New Roman" panose="02020603050405020304" pitchFamily="18" charset="0"/>
                <a:ea typeface="Times New Roman" panose="02020603050405020304" pitchFamily="18" charset="0"/>
              </a:rPr>
              <a:t>Bảng 5.</a:t>
            </a:r>
            <a:r>
              <a:rPr lang="en-US" sz="2800" i="1" dirty="0">
                <a:effectLst/>
                <a:latin typeface="Times New Roman" panose="02020603050405020304" pitchFamily="18" charset="0"/>
                <a:ea typeface="Times New Roman" panose="02020603050405020304" pitchFamily="18" charset="0"/>
              </a:rPr>
              <a:t>7</a:t>
            </a:r>
            <a:r>
              <a:rPr lang="vi-VN" sz="2800" i="1" dirty="0">
                <a:effectLst/>
                <a:latin typeface="Times New Roman" panose="02020603050405020304" pitchFamily="18" charset="0"/>
                <a:ea typeface="Times New Roman" panose="02020603050405020304" pitchFamily="18" charset="0"/>
              </a:rPr>
              <a:t>: Kết quả kiểm tra dải C</a:t>
            </a:r>
            <a:r>
              <a:rPr lang="en-US" sz="2800" i="1" dirty="0">
                <a:effectLst/>
                <a:latin typeface="Times New Roman" panose="02020603050405020304" pitchFamily="18" charset="0"/>
                <a:ea typeface="Times New Roman" panose="02020603050405020304" pitchFamily="18" charset="0"/>
              </a:rPr>
              <a:t> </a:t>
            </a:r>
            <a:r>
              <a:rPr lang="en-US" sz="2800" i="1" dirty="0" err="1">
                <a:effectLst/>
                <a:latin typeface="Times New Roman" panose="02020603050405020304" pitchFamily="18" charset="0"/>
                <a:ea typeface="Times New Roman" panose="02020603050405020304" pitchFamily="18" charset="0"/>
              </a:rPr>
              <a:t>của</a:t>
            </a:r>
            <a:r>
              <a:rPr lang="en-US" sz="2800" i="1" dirty="0">
                <a:effectLst/>
                <a:latin typeface="Times New Roman" panose="02020603050405020304" pitchFamily="18" charset="0"/>
                <a:ea typeface="Times New Roman" panose="02020603050405020304" pitchFamily="18" charset="0"/>
              </a:rPr>
              <a:t> SVM</a:t>
            </a:r>
            <a:endParaRPr lang="en-US" sz="2800" dirty="0">
              <a:effectLst/>
              <a:latin typeface="Calibri" panose="020F050202020403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17AC38F1-7FCA-F98F-D45F-ECAF2C9B15EA}"/>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27</a:t>
            </a:r>
          </a:p>
        </p:txBody>
      </p:sp>
    </p:spTree>
    <p:extLst>
      <p:ext uri="{BB962C8B-B14F-4D97-AF65-F5344CB8AC3E}">
        <p14:creationId xmlns:p14="http://schemas.microsoft.com/office/powerpoint/2010/main" val="2284211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99BE3-840F-84E3-0830-835AF7342096}"/>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B8387A3-A346-22EB-FE32-2A49A4FE36F4}"/>
              </a:ext>
            </a:extLst>
          </p:cNvPr>
          <p:cNvGraphicFramePr>
            <a:graphicFrameLocks noGrp="1"/>
          </p:cNvGraphicFramePr>
          <p:nvPr>
            <p:extLst>
              <p:ext uri="{D42A27DB-BD31-4B8C-83A1-F6EECF244321}">
                <p14:modId xmlns:p14="http://schemas.microsoft.com/office/powerpoint/2010/main" val="1784773245"/>
              </p:ext>
            </p:extLst>
          </p:nvPr>
        </p:nvGraphicFramePr>
        <p:xfrm>
          <a:off x="831273" y="382384"/>
          <a:ext cx="10789920" cy="5629882"/>
        </p:xfrm>
        <a:graphic>
          <a:graphicData uri="http://schemas.openxmlformats.org/drawingml/2006/table">
            <a:tbl>
              <a:tblPr firstRow="1" firstCol="1" bandRow="1"/>
              <a:tblGrid>
                <a:gridCol w="1534403">
                  <a:extLst>
                    <a:ext uri="{9D8B030D-6E8A-4147-A177-3AD203B41FA5}">
                      <a16:colId xmlns:a16="http://schemas.microsoft.com/office/drawing/2014/main" val="115500801"/>
                    </a:ext>
                  </a:extLst>
                </a:gridCol>
                <a:gridCol w="1545450">
                  <a:extLst>
                    <a:ext uri="{9D8B030D-6E8A-4147-A177-3AD203B41FA5}">
                      <a16:colId xmlns:a16="http://schemas.microsoft.com/office/drawing/2014/main" val="3158672005"/>
                    </a:ext>
                  </a:extLst>
                </a:gridCol>
                <a:gridCol w="1545450">
                  <a:extLst>
                    <a:ext uri="{9D8B030D-6E8A-4147-A177-3AD203B41FA5}">
                      <a16:colId xmlns:a16="http://schemas.microsoft.com/office/drawing/2014/main" val="1131488197"/>
                    </a:ext>
                  </a:extLst>
                </a:gridCol>
                <a:gridCol w="1541768">
                  <a:extLst>
                    <a:ext uri="{9D8B030D-6E8A-4147-A177-3AD203B41FA5}">
                      <a16:colId xmlns:a16="http://schemas.microsoft.com/office/drawing/2014/main" val="3009962625"/>
                    </a:ext>
                  </a:extLst>
                </a:gridCol>
                <a:gridCol w="1539313">
                  <a:extLst>
                    <a:ext uri="{9D8B030D-6E8A-4147-A177-3AD203B41FA5}">
                      <a16:colId xmlns:a16="http://schemas.microsoft.com/office/drawing/2014/main" val="4166853096"/>
                    </a:ext>
                  </a:extLst>
                </a:gridCol>
                <a:gridCol w="1544223">
                  <a:extLst>
                    <a:ext uri="{9D8B030D-6E8A-4147-A177-3AD203B41FA5}">
                      <a16:colId xmlns:a16="http://schemas.microsoft.com/office/drawing/2014/main" val="2318004265"/>
                    </a:ext>
                  </a:extLst>
                </a:gridCol>
                <a:gridCol w="1539313">
                  <a:extLst>
                    <a:ext uri="{9D8B030D-6E8A-4147-A177-3AD203B41FA5}">
                      <a16:colId xmlns:a16="http://schemas.microsoft.com/office/drawing/2014/main" val="1318166578"/>
                    </a:ext>
                  </a:extLst>
                </a:gridCol>
              </a:tblGrid>
              <a:tr h="735715">
                <a:tc>
                  <a:txBody>
                    <a:bodyPr/>
                    <a:lstStyle/>
                    <a:p>
                      <a:pPr algn="ctr">
                        <a:lnSpc>
                          <a:spcPct val="150000"/>
                        </a:lnSpc>
                        <a:spcAft>
                          <a:spcPts val="600"/>
                        </a:spcAft>
                        <a:buNone/>
                      </a:pPr>
                      <a:r>
                        <a:rPr lang="vi-VN" sz="2800" b="1" dirty="0">
                          <a:effectLst/>
                          <a:latin typeface="+mj-lt"/>
                          <a:ea typeface="Calibri" panose="020F0502020204030204" pitchFamily="34" charset="0"/>
                        </a:rPr>
                        <a:t>C</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600"/>
                        </a:spcAft>
                        <a:buNone/>
                      </a:pPr>
                      <a:r>
                        <a:rPr lang="vi-VN" sz="2800" b="1" dirty="0">
                          <a:effectLst/>
                          <a:latin typeface="+mj-lt"/>
                          <a:ea typeface="Calibri" panose="020F0502020204030204" pitchFamily="34" charset="0"/>
                        </a:rPr>
                        <a:t>Lớp</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600"/>
                        </a:spcAft>
                        <a:buNone/>
                      </a:pPr>
                      <a:r>
                        <a:rPr lang="vi-VN" sz="2800" b="1" dirty="0">
                          <a:effectLst/>
                          <a:latin typeface="+mj-lt"/>
                          <a:ea typeface="Calibri" panose="020F0502020204030204" pitchFamily="34" charset="0"/>
                        </a:rPr>
                        <a:t>Precision</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600"/>
                        </a:spcAft>
                        <a:buNone/>
                      </a:pPr>
                      <a:r>
                        <a:rPr lang="vi-VN" sz="2800" b="1" dirty="0">
                          <a:effectLst/>
                          <a:latin typeface="+mj-lt"/>
                          <a:ea typeface="Calibri" panose="020F0502020204030204" pitchFamily="34" charset="0"/>
                        </a:rPr>
                        <a:t>Recall</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600"/>
                        </a:spcAft>
                        <a:buNone/>
                      </a:pPr>
                      <a:r>
                        <a:rPr lang="vi-VN" sz="2800" b="1" dirty="0">
                          <a:effectLst/>
                          <a:latin typeface="+mj-lt"/>
                          <a:ea typeface="Calibri" panose="020F0502020204030204" pitchFamily="34" charset="0"/>
                        </a:rPr>
                        <a:t>F1-score</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600"/>
                        </a:spcAft>
                        <a:buNone/>
                      </a:pPr>
                      <a:r>
                        <a:rPr lang="vi-VN" sz="2800" dirty="0">
                          <a:effectLst/>
                          <a:latin typeface="+mj-lt"/>
                          <a:ea typeface="Times New Roman" panose="02020603050405020304" pitchFamily="18" charset="0"/>
                        </a:rPr>
                        <a:t>Accuracy</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600"/>
                        </a:spcAft>
                        <a:buNone/>
                      </a:pPr>
                      <a:r>
                        <a:rPr lang="vi-VN" sz="2800" dirty="0">
                          <a:effectLst/>
                          <a:latin typeface="+mj-lt"/>
                          <a:ea typeface="Times New Roman" panose="02020603050405020304" pitchFamily="18" charset="0"/>
                        </a:rPr>
                        <a:t>ROC area</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4294582"/>
                  </a:ext>
                </a:extLst>
              </a:tr>
              <a:tr h="735715">
                <a:tc rowSpan="2">
                  <a:txBody>
                    <a:bodyPr/>
                    <a:lstStyle/>
                    <a:p>
                      <a:pPr algn="ctr">
                        <a:lnSpc>
                          <a:spcPct val="107000"/>
                        </a:lnSpc>
                        <a:spcAft>
                          <a:spcPts val="600"/>
                        </a:spcAft>
                        <a:buNone/>
                      </a:pPr>
                      <a:r>
                        <a:rPr lang="vi-VN" sz="2800">
                          <a:effectLst/>
                          <a:latin typeface="+mj-lt"/>
                          <a:ea typeface="Times New Roman" panose="02020603050405020304" pitchFamily="18" charset="0"/>
                        </a:rPr>
                        <a:t>1</a:t>
                      </a:r>
                      <a:endParaRPr lang="en-US" sz="2800">
                        <a:effectLst/>
                        <a:latin typeface="+mj-lt"/>
                        <a:ea typeface="Calibri" panose="020F0502020204030204" pitchFamily="34" charset="0"/>
                      </a:endParaRPr>
                    </a:p>
                    <a:p>
                      <a:pPr algn="ctr">
                        <a:lnSpc>
                          <a:spcPct val="107000"/>
                        </a:lnSpc>
                        <a:spcAft>
                          <a:spcPts val="600"/>
                        </a:spcAft>
                        <a:buNone/>
                      </a:pPr>
                      <a:r>
                        <a:rPr lang="vi-VN" sz="2800">
                          <a:effectLst/>
                          <a:latin typeface="+mj-lt"/>
                          <a:ea typeface="Times New Roman" panose="02020603050405020304" pitchFamily="18" charset="0"/>
                        </a:rPr>
                        <a:t>(defaut)</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Times New Roman" panose="02020603050405020304" pitchFamily="18" charset="0"/>
                        </a:rPr>
                        <a:t>0.99</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a:effectLst/>
                          <a:latin typeface="+mj-lt"/>
                          <a:ea typeface="Calibri" panose="020F0502020204030204" pitchFamily="34" charset="0"/>
                        </a:rPr>
                        <a:t>0.97</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a:effectLst/>
                          <a:latin typeface="+mj-lt"/>
                          <a:ea typeface="Calibri" panose="020F0502020204030204" pitchFamily="34" charset="0"/>
                        </a:rPr>
                        <a:t>0.99</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0764003"/>
                  </a:ext>
                </a:extLst>
              </a:tr>
              <a:tr h="737010">
                <a:tc vMerge="1">
                  <a:txBody>
                    <a:bodyPr/>
                    <a:lstStyle/>
                    <a:p>
                      <a:endParaRPr lang="en-US"/>
                    </a:p>
                  </a:txBody>
                  <a:tcPr/>
                </a:tc>
                <a:tc>
                  <a:txBody>
                    <a:bodyPr/>
                    <a:lstStyle/>
                    <a:p>
                      <a:pPr algn="ctr">
                        <a:lnSpc>
                          <a:spcPct val="107000"/>
                        </a:lnSpc>
                        <a:spcAft>
                          <a:spcPts val="600"/>
                        </a:spcAft>
                        <a:buNone/>
                      </a:pPr>
                      <a:r>
                        <a:rPr lang="vi-VN" sz="2800">
                          <a:effectLst/>
                          <a:latin typeface="+mj-lt"/>
                          <a:ea typeface="Calibri" panose="020F0502020204030204" pitchFamily="34" charset="0"/>
                        </a:rPr>
                        <a:t>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0.95</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0.92</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670586737"/>
                  </a:ext>
                </a:extLst>
              </a:tr>
              <a:tr h="735715">
                <a:tc rowSpan="2">
                  <a:txBody>
                    <a:bodyPr/>
                    <a:lstStyle/>
                    <a:p>
                      <a:pPr algn="ctr">
                        <a:lnSpc>
                          <a:spcPct val="107000"/>
                        </a:lnSpc>
                        <a:spcAft>
                          <a:spcPts val="600"/>
                        </a:spcAft>
                        <a:buNone/>
                      </a:pPr>
                      <a:r>
                        <a:rPr lang="vi-VN" sz="2800">
                          <a:effectLst/>
                          <a:latin typeface="+mj-lt"/>
                          <a:ea typeface="Calibri" panose="020F0502020204030204" pitchFamily="34" charset="0"/>
                        </a:rPr>
                        <a:t>10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a:effectLst/>
                          <a:latin typeface="+mj-lt"/>
                          <a:ea typeface="Calibri" panose="020F0502020204030204" pitchFamily="34" charset="0"/>
                        </a:rPr>
                        <a:t>0.97</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a:effectLst/>
                          <a:latin typeface="+mj-lt"/>
                          <a:ea typeface="Calibri" panose="020F0502020204030204" pitchFamily="34" charset="0"/>
                        </a:rPr>
                        <a:t>0.99</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3569243"/>
                  </a:ext>
                </a:extLst>
              </a:tr>
              <a:tr h="737010">
                <a:tc vMerge="1">
                  <a:txBody>
                    <a:bodyPr/>
                    <a:lstStyle/>
                    <a:p>
                      <a:endParaRPr lang="en-US"/>
                    </a:p>
                  </a:txBody>
                  <a:tcPr/>
                </a:tc>
                <a:tc>
                  <a:txBody>
                    <a:bodyPr/>
                    <a:lstStyle/>
                    <a:p>
                      <a:pPr algn="ctr">
                        <a:lnSpc>
                          <a:spcPct val="107000"/>
                        </a:lnSpc>
                        <a:spcAft>
                          <a:spcPts val="600"/>
                        </a:spcAft>
                        <a:buNone/>
                      </a:pPr>
                      <a:r>
                        <a:rPr lang="vi-VN" sz="2800" b="0" dirty="0">
                          <a:effectLst/>
                          <a:latin typeface="+mj-lt"/>
                          <a:ea typeface="Calibri" panose="020F0502020204030204" pitchFamily="34" charset="0"/>
                        </a:rPr>
                        <a:t>1</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a:effectLst/>
                          <a:latin typeface="+mj-lt"/>
                          <a:ea typeface="Calibri" panose="020F0502020204030204" pitchFamily="34" charset="0"/>
                        </a:rPr>
                        <a:t>0.90</a:t>
                      </a:r>
                      <a:endParaRPr lang="en-US" sz="28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a:effectLst/>
                          <a:latin typeface="+mj-lt"/>
                          <a:ea typeface="Calibri" panose="020F0502020204030204" pitchFamily="34" charset="0"/>
                        </a:rPr>
                        <a:t>0.92</a:t>
                      </a:r>
                      <a:endParaRPr lang="en-US" sz="28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0.91</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3291646"/>
                  </a:ext>
                </a:extLst>
              </a:tr>
              <a:tr h="735715">
                <a:tc rowSpan="2">
                  <a:txBody>
                    <a:bodyPr/>
                    <a:lstStyle/>
                    <a:p>
                      <a:pPr algn="ctr">
                        <a:lnSpc>
                          <a:spcPct val="107000"/>
                        </a:lnSpc>
                        <a:spcAft>
                          <a:spcPts val="600"/>
                        </a:spcAft>
                        <a:buNone/>
                      </a:pPr>
                      <a:r>
                        <a:rPr lang="vi-VN" sz="2800">
                          <a:effectLst/>
                          <a:latin typeface="+mj-lt"/>
                          <a:ea typeface="Calibri" panose="020F0502020204030204" pitchFamily="34" charset="0"/>
                        </a:rPr>
                        <a:t>100</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a:effectLst/>
                          <a:latin typeface="+mj-lt"/>
                          <a:ea typeface="Calibri" panose="020F0502020204030204" pitchFamily="34" charset="0"/>
                        </a:rPr>
                        <a:t>0</a:t>
                      </a:r>
                      <a:endParaRPr lang="en-US" sz="28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dirty="0">
                          <a:effectLst/>
                          <a:latin typeface="+mj-lt"/>
                          <a:ea typeface="Calibri" panose="020F0502020204030204" pitchFamily="34" charset="0"/>
                        </a:rPr>
                        <a:t>0.98</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dirty="0">
                          <a:effectLst/>
                          <a:latin typeface="+mj-lt"/>
                          <a:ea typeface="Calibri" panose="020F0502020204030204" pitchFamily="34" charset="0"/>
                        </a:rPr>
                        <a:t>0.98</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a:effectLst/>
                          <a:latin typeface="+mj-lt"/>
                          <a:ea typeface="Calibri" panose="020F0502020204030204" pitchFamily="34" charset="0"/>
                        </a:rPr>
                        <a:t>0.98</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a:effectLst/>
                          <a:latin typeface="+mj-lt"/>
                          <a:ea typeface="Calibri" panose="020F0502020204030204" pitchFamily="34" charset="0"/>
                        </a:rPr>
                        <a:t>0.97</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800">
                          <a:effectLst/>
                          <a:latin typeface="+mj-lt"/>
                          <a:ea typeface="Calibri" panose="020F0502020204030204" pitchFamily="34" charset="0"/>
                        </a:rPr>
                        <a:t>0.99</a:t>
                      </a:r>
                      <a:endParaRPr lang="en-US" sz="28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8163418"/>
                  </a:ext>
                </a:extLst>
              </a:tr>
              <a:tr h="737010">
                <a:tc vMerge="1">
                  <a:txBody>
                    <a:bodyPr/>
                    <a:lstStyle/>
                    <a:p>
                      <a:endParaRPr lang="en-US"/>
                    </a:p>
                  </a:txBody>
                  <a:tcPr/>
                </a:tc>
                <a:tc>
                  <a:txBody>
                    <a:bodyPr/>
                    <a:lstStyle/>
                    <a:p>
                      <a:pPr algn="ctr">
                        <a:lnSpc>
                          <a:spcPct val="107000"/>
                        </a:lnSpc>
                        <a:spcAft>
                          <a:spcPts val="600"/>
                        </a:spcAft>
                        <a:buNone/>
                      </a:pPr>
                      <a:r>
                        <a:rPr lang="vi-VN" sz="2800" b="0">
                          <a:effectLst/>
                          <a:latin typeface="+mj-lt"/>
                          <a:ea typeface="Calibri" panose="020F0502020204030204" pitchFamily="34" charset="0"/>
                        </a:rPr>
                        <a:t>1</a:t>
                      </a:r>
                      <a:endParaRPr lang="en-US" sz="28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a:effectLst/>
                          <a:latin typeface="+mj-lt"/>
                          <a:ea typeface="Calibri" panose="020F0502020204030204" pitchFamily="34" charset="0"/>
                        </a:rPr>
                        <a:t>0.93</a:t>
                      </a:r>
                      <a:endParaRPr lang="en-US" sz="28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b="0" dirty="0">
                          <a:effectLst/>
                          <a:latin typeface="+mj-lt"/>
                          <a:ea typeface="Calibri" panose="020F0502020204030204" pitchFamily="34" charset="0"/>
                        </a:rPr>
                        <a:t>0.91</a:t>
                      </a:r>
                      <a:endParaRPr lang="en-US" sz="28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800" dirty="0">
                          <a:effectLst/>
                          <a:latin typeface="+mj-lt"/>
                          <a:ea typeface="Calibri" panose="020F0502020204030204" pitchFamily="34" charset="0"/>
                        </a:rPr>
                        <a:t>0.92</a:t>
                      </a:r>
                      <a:endParaRPr lang="en-US" sz="28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243158518"/>
                  </a:ext>
                </a:extLst>
              </a:tr>
            </a:tbl>
          </a:graphicData>
        </a:graphic>
      </p:graphicFrame>
      <p:sp>
        <p:nvSpPr>
          <p:cNvPr id="5" name="TextBox 4">
            <a:extLst>
              <a:ext uri="{FF2B5EF4-FFF2-40B4-BE49-F238E27FC236}">
                <a16:creationId xmlns:a16="http://schemas.microsoft.com/office/drawing/2014/main" id="{C0FEDE99-7D1D-43CE-700F-63E4E8129FD0}"/>
              </a:ext>
            </a:extLst>
          </p:cNvPr>
          <p:cNvSpPr txBox="1"/>
          <p:nvPr/>
        </p:nvSpPr>
        <p:spPr>
          <a:xfrm>
            <a:off x="285403" y="6012266"/>
            <a:ext cx="11621193" cy="669542"/>
          </a:xfrm>
          <a:prstGeom prst="rect">
            <a:avLst/>
          </a:prstGeom>
          <a:noFill/>
        </p:spPr>
        <p:txBody>
          <a:bodyPr wrap="square">
            <a:spAutoFit/>
          </a:bodyPr>
          <a:lstStyle/>
          <a:p>
            <a:pPr indent="450215" algn="ctr">
              <a:lnSpc>
                <a:spcPct val="150000"/>
              </a:lnSpc>
              <a:spcAft>
                <a:spcPts val="600"/>
              </a:spcAft>
              <a:buNone/>
            </a:pPr>
            <a:r>
              <a:rPr lang="vi-VN" sz="2800" i="1" dirty="0">
                <a:effectLst/>
                <a:latin typeface="Times New Roman" panose="02020603050405020304" pitchFamily="18" charset="0"/>
                <a:ea typeface="Times New Roman" panose="02020603050405020304" pitchFamily="18" charset="0"/>
              </a:rPr>
              <a:t>Bảng 5.8: Kết quả áp dụng C lần lượt là 0.1, 1 và 10 đối với SVM</a:t>
            </a:r>
            <a:endParaRPr lang="en-US" sz="2800" dirty="0">
              <a:effectLst/>
              <a:latin typeface="Calibri" panose="020F050202020403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48AD7CBE-927F-8B14-7855-1E6A638A31FB}"/>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28</a:t>
            </a:r>
          </a:p>
        </p:txBody>
      </p:sp>
    </p:spTree>
    <p:extLst>
      <p:ext uri="{BB962C8B-B14F-4D97-AF65-F5344CB8AC3E}">
        <p14:creationId xmlns:p14="http://schemas.microsoft.com/office/powerpoint/2010/main" val="32263458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D6A7-0937-3BF4-0922-E2818A98953E}"/>
            </a:ext>
          </a:extLst>
        </p:cNvPr>
        <p:cNvGrpSpPr/>
        <p:nvPr/>
      </p:nvGrpSpPr>
      <p:grpSpPr>
        <a:xfrm>
          <a:off x="0" y="0"/>
          <a:ext cx="0" cy="0"/>
          <a:chOff x="0" y="0"/>
          <a:chExt cx="0" cy="0"/>
        </a:xfrm>
      </p:grpSpPr>
      <p:pic>
        <p:nvPicPr>
          <p:cNvPr id="1026" name="Picture 2" descr="User (computing) - Wikipedia">
            <a:extLst>
              <a:ext uri="{FF2B5EF4-FFF2-40B4-BE49-F238E27FC236}">
                <a16:creationId xmlns:a16="http://schemas.microsoft.com/office/drawing/2014/main" id="{BFCC60EF-FE89-644C-29B6-C274076C34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979" y="0"/>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ckend Development | Software ...">
            <a:extLst>
              <a:ext uri="{FF2B5EF4-FFF2-40B4-BE49-F238E27FC236}">
                <a16:creationId xmlns:a16="http://schemas.microsoft.com/office/drawing/2014/main" id="{37348B8C-5249-671D-6553-59152C745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4632" y="2817160"/>
            <a:ext cx="1141256" cy="11412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279127E-DDFF-42D1-2732-6A675AAE2B70}"/>
              </a:ext>
            </a:extLst>
          </p:cNvPr>
          <p:cNvPicPr>
            <a:picLocks noChangeAspect="1"/>
          </p:cNvPicPr>
          <p:nvPr/>
        </p:nvPicPr>
        <p:blipFill>
          <a:blip r:embed="rId4"/>
          <a:stretch>
            <a:fillRect/>
          </a:stretch>
        </p:blipFill>
        <p:spPr>
          <a:xfrm>
            <a:off x="2710671" y="4714875"/>
            <a:ext cx="2019300" cy="2066925"/>
          </a:xfrm>
          <a:prstGeom prst="rect">
            <a:avLst/>
          </a:prstGeom>
        </p:spPr>
      </p:pic>
      <p:cxnSp>
        <p:nvCxnSpPr>
          <p:cNvPr id="10" name="Straight Arrow Connector 9">
            <a:extLst>
              <a:ext uri="{FF2B5EF4-FFF2-40B4-BE49-F238E27FC236}">
                <a16:creationId xmlns:a16="http://schemas.microsoft.com/office/drawing/2014/main" id="{FB5D6F36-D333-8E0A-4698-A028A56BF488}"/>
              </a:ext>
            </a:extLst>
          </p:cNvPr>
          <p:cNvCxnSpPr>
            <a:cxnSpLocks/>
          </p:cNvCxnSpPr>
          <p:nvPr/>
        </p:nvCxnSpPr>
        <p:spPr>
          <a:xfrm flipH="1">
            <a:off x="3635260" y="1949953"/>
            <a:ext cx="1" cy="812726"/>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7BDBC4A-802C-ACE3-D46C-D467AEF1361B}"/>
              </a:ext>
            </a:extLst>
          </p:cNvPr>
          <p:cNvCxnSpPr>
            <a:cxnSpLocks/>
          </p:cNvCxnSpPr>
          <p:nvPr/>
        </p:nvCxnSpPr>
        <p:spPr>
          <a:xfrm flipH="1">
            <a:off x="3635260" y="4012898"/>
            <a:ext cx="1" cy="699734"/>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Học máy - thuật toán AI học như thế nào - Nguyễn Nam Phong">
            <a:extLst>
              <a:ext uri="{FF2B5EF4-FFF2-40B4-BE49-F238E27FC236}">
                <a16:creationId xmlns:a16="http://schemas.microsoft.com/office/drawing/2014/main" id="{98856FF0-8347-E3C4-70AD-E00AB1D832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289675"/>
            <a:ext cx="3955991" cy="227865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A3FBFA25-65A9-62C9-67E3-717F8FDC14D5}"/>
              </a:ext>
            </a:extLst>
          </p:cNvPr>
          <p:cNvCxnSpPr>
            <a:cxnSpLocks/>
          </p:cNvCxnSpPr>
          <p:nvPr/>
        </p:nvCxnSpPr>
        <p:spPr>
          <a:xfrm>
            <a:off x="4296166" y="3387788"/>
            <a:ext cx="1562979" cy="0"/>
          </a:xfrm>
          <a:prstGeom prst="straightConnector1">
            <a:avLst/>
          </a:prstGeom>
          <a:ln w="76200">
            <a:solidFill>
              <a:srgbClr val="FF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1865DCA-C3E9-79C3-6F3A-CD67942C1A0E}"/>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29</a:t>
            </a:r>
          </a:p>
        </p:txBody>
      </p:sp>
    </p:spTree>
    <p:extLst>
      <p:ext uri="{BB962C8B-B14F-4D97-AF65-F5344CB8AC3E}">
        <p14:creationId xmlns:p14="http://schemas.microsoft.com/office/powerpoint/2010/main" val="5637489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repeatCount="indefinite" fill="hold" nodeType="afterEffect">
                                  <p:stCondLst>
                                    <p:cond delay="0"/>
                                  </p:stCondLst>
                                  <p:endCondLst>
                                    <p:cond evt="onNext" delay="0">
                                      <p:tgtEl>
                                        <p:sldTgt/>
                                      </p:tgtEl>
                                    </p:cond>
                                  </p:end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8C822-1B1F-5A49-21DD-781061823F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236954-CE6C-0138-8075-AA47D251397C}"/>
              </a:ext>
            </a:extLst>
          </p:cNvPr>
          <p:cNvSpPr txBox="1"/>
          <p:nvPr/>
        </p:nvSpPr>
        <p:spPr>
          <a:xfrm>
            <a:off x="407324" y="181914"/>
            <a:ext cx="11377352" cy="813941"/>
          </a:xfrm>
          <a:prstGeom prst="rect">
            <a:avLst/>
          </a:prstGeom>
          <a:noFill/>
        </p:spPr>
        <p:txBody>
          <a:bodyPr wrap="square">
            <a:spAutoFit/>
          </a:bodyPr>
          <a:lstStyle/>
          <a:p>
            <a:pPr indent="450215" algn="ctr">
              <a:lnSpc>
                <a:spcPct val="150000"/>
              </a:lnSpc>
              <a:spcAft>
                <a:spcPts val="600"/>
              </a:spcAft>
              <a:buNone/>
            </a:pPr>
            <a:r>
              <a:rPr lang="en-US" sz="3500" b="1" dirty="0">
                <a:latin typeface="Times New Roman" panose="02020603050405020304" pitchFamily="18" charset="0"/>
                <a:ea typeface="Calibri" panose="020F0502020204030204" pitchFamily="34" charset="0"/>
              </a:rPr>
              <a:t>LOGISTIC REGRESSION</a:t>
            </a:r>
            <a:endParaRPr lang="en-US" sz="3500" b="1" dirty="0">
              <a:effectLst/>
              <a:latin typeface="Calibri" panose="020F0502020204030204" pitchFamily="34" charset="0"/>
              <a:ea typeface="Calibri" panose="020F0502020204030204" pitchFamily="34" charset="0"/>
            </a:endParaRPr>
          </a:p>
        </p:txBody>
      </p:sp>
      <p:sp>
        <p:nvSpPr>
          <p:cNvPr id="3" name="TextBox 2">
            <a:extLst>
              <a:ext uri="{FF2B5EF4-FFF2-40B4-BE49-F238E27FC236}">
                <a16:creationId xmlns:a16="http://schemas.microsoft.com/office/drawing/2014/main" id="{3C79EEB0-4849-78B4-659A-15F91E43F166}"/>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30</a:t>
            </a:r>
          </a:p>
        </p:txBody>
      </p:sp>
      <p:graphicFrame>
        <p:nvGraphicFramePr>
          <p:cNvPr id="5" name="Table 4">
            <a:extLst>
              <a:ext uri="{FF2B5EF4-FFF2-40B4-BE49-F238E27FC236}">
                <a16:creationId xmlns:a16="http://schemas.microsoft.com/office/drawing/2014/main" id="{12AC7083-39F2-C3E8-4217-A4AC7A549D9F}"/>
              </a:ext>
            </a:extLst>
          </p:cNvPr>
          <p:cNvGraphicFramePr>
            <a:graphicFrameLocks noGrp="1"/>
          </p:cNvGraphicFramePr>
          <p:nvPr>
            <p:extLst>
              <p:ext uri="{D42A27DB-BD31-4B8C-83A1-F6EECF244321}">
                <p14:modId xmlns:p14="http://schemas.microsoft.com/office/powerpoint/2010/main" val="2878206400"/>
              </p:ext>
            </p:extLst>
          </p:nvPr>
        </p:nvGraphicFramePr>
        <p:xfrm>
          <a:off x="581144" y="3289052"/>
          <a:ext cx="11029712" cy="2438402"/>
        </p:xfrm>
        <a:graphic>
          <a:graphicData uri="http://schemas.openxmlformats.org/drawingml/2006/table">
            <a:tbl>
              <a:tblPr firstRow="1" firstCol="1" bandRow="1"/>
              <a:tblGrid>
                <a:gridCol w="1596529">
                  <a:extLst>
                    <a:ext uri="{9D8B030D-6E8A-4147-A177-3AD203B41FA5}">
                      <a16:colId xmlns:a16="http://schemas.microsoft.com/office/drawing/2014/main" val="4040893462"/>
                    </a:ext>
                  </a:extLst>
                </a:gridCol>
                <a:gridCol w="1571604">
                  <a:extLst>
                    <a:ext uri="{9D8B030D-6E8A-4147-A177-3AD203B41FA5}">
                      <a16:colId xmlns:a16="http://schemas.microsoft.com/office/drawing/2014/main" val="2117655285"/>
                    </a:ext>
                  </a:extLst>
                </a:gridCol>
                <a:gridCol w="1571604">
                  <a:extLst>
                    <a:ext uri="{9D8B030D-6E8A-4147-A177-3AD203B41FA5}">
                      <a16:colId xmlns:a16="http://schemas.microsoft.com/office/drawing/2014/main" val="1058617303"/>
                    </a:ext>
                  </a:extLst>
                </a:gridCol>
                <a:gridCol w="1312835">
                  <a:extLst>
                    <a:ext uri="{9D8B030D-6E8A-4147-A177-3AD203B41FA5}">
                      <a16:colId xmlns:a16="http://schemas.microsoft.com/office/drawing/2014/main" val="2793754491"/>
                    </a:ext>
                  </a:extLst>
                </a:gridCol>
                <a:gridCol w="1175142">
                  <a:extLst>
                    <a:ext uri="{9D8B030D-6E8A-4147-A177-3AD203B41FA5}">
                      <a16:colId xmlns:a16="http://schemas.microsoft.com/office/drawing/2014/main" val="934158226"/>
                    </a:ext>
                  </a:extLst>
                </a:gridCol>
                <a:gridCol w="1709297">
                  <a:extLst>
                    <a:ext uri="{9D8B030D-6E8A-4147-A177-3AD203B41FA5}">
                      <a16:colId xmlns:a16="http://schemas.microsoft.com/office/drawing/2014/main" val="1384147514"/>
                    </a:ext>
                  </a:extLst>
                </a:gridCol>
                <a:gridCol w="2092701">
                  <a:extLst>
                    <a:ext uri="{9D8B030D-6E8A-4147-A177-3AD203B41FA5}">
                      <a16:colId xmlns:a16="http://schemas.microsoft.com/office/drawing/2014/main" val="3730023342"/>
                    </a:ext>
                  </a:extLst>
                </a:gridCol>
              </a:tblGrid>
              <a:tr h="486638">
                <a:tc>
                  <a:txBody>
                    <a:bodyPr/>
                    <a:lstStyle/>
                    <a:p>
                      <a:pPr algn="ctr">
                        <a:lnSpc>
                          <a:spcPct val="107000"/>
                        </a:lnSpc>
                        <a:spcAft>
                          <a:spcPts val="600"/>
                        </a:spcAft>
                        <a:buNone/>
                      </a:pPr>
                      <a:r>
                        <a:rPr lang="vi-VN" sz="2500" b="1" dirty="0">
                          <a:effectLst/>
                          <a:latin typeface="+mj-lt"/>
                          <a:ea typeface="Calibri" panose="020F0502020204030204" pitchFamily="34" charset="0"/>
                        </a:rPr>
                        <a:t>Tham số</a:t>
                      </a:r>
                      <a:endParaRPr lang="en-US" sz="25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a:effectLst/>
                          <a:latin typeface="+mj-lt"/>
                          <a:ea typeface="Calibri" panose="020F0502020204030204" pitchFamily="34" charset="0"/>
                        </a:rPr>
                        <a:t>Lớp</a:t>
                      </a:r>
                      <a:endParaRPr lang="en-US" sz="25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a:effectLst/>
                          <a:latin typeface="+mj-lt"/>
                          <a:ea typeface="Calibri" panose="020F0502020204030204" pitchFamily="34" charset="0"/>
                        </a:rPr>
                        <a:t>Precision</a:t>
                      </a:r>
                      <a:endParaRPr lang="en-US" sz="25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a:effectLst/>
                          <a:latin typeface="+mj-lt"/>
                          <a:ea typeface="Calibri" panose="020F0502020204030204" pitchFamily="34" charset="0"/>
                        </a:rPr>
                        <a:t>Recall</a:t>
                      </a:r>
                      <a:endParaRPr lang="en-US" sz="25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a:effectLst/>
                          <a:latin typeface="+mj-lt"/>
                          <a:ea typeface="Calibri" panose="020F0502020204030204" pitchFamily="34" charset="0"/>
                        </a:rPr>
                        <a:t>F1</a:t>
                      </a:r>
                      <a:endParaRPr lang="en-US" sz="25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dirty="0">
                          <a:effectLst/>
                          <a:latin typeface="+mj-lt"/>
                          <a:ea typeface="Calibri" panose="020F0502020204030204" pitchFamily="34" charset="0"/>
                        </a:rPr>
                        <a:t>Accuracy</a:t>
                      </a:r>
                      <a:endParaRPr lang="en-US" sz="2500" dirty="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a:effectLst/>
                          <a:latin typeface="+mj-lt"/>
                          <a:ea typeface="Calibri" panose="020F0502020204030204" pitchFamily="34" charset="0"/>
                        </a:rPr>
                        <a:t>ROC area</a:t>
                      </a:r>
                      <a:endParaRPr lang="en-US" sz="250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7689770"/>
                  </a:ext>
                </a:extLst>
              </a:tr>
              <a:tr h="486638">
                <a:tc rowSpan="2">
                  <a:txBody>
                    <a:bodyPr/>
                    <a:lstStyle/>
                    <a:p>
                      <a:pPr algn="ctr">
                        <a:lnSpc>
                          <a:spcPct val="107000"/>
                        </a:lnSpc>
                        <a:spcAft>
                          <a:spcPts val="600"/>
                        </a:spcAft>
                        <a:buNone/>
                      </a:pPr>
                      <a:r>
                        <a:rPr lang="vi-VN" sz="2500" b="0" dirty="0">
                          <a:effectLst/>
                          <a:latin typeface="+mj-lt"/>
                          <a:ea typeface="Calibri" panose="020F0502020204030204" pitchFamily="34" charset="0"/>
                        </a:rPr>
                        <a:t>Mặc định</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mj-lt"/>
                          <a:ea typeface="Times New Roman" panose="02020603050405020304" pitchFamily="18" charset="0"/>
                        </a:rPr>
                        <a:t>0</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a:effectLst/>
                          <a:latin typeface="+mj-lt"/>
                          <a:ea typeface="Calibri" panose="020F0502020204030204" pitchFamily="34" charset="0"/>
                        </a:rPr>
                        <a:t>0.97</a:t>
                      </a:r>
                      <a:endParaRPr lang="en-US" sz="25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a:effectLst/>
                          <a:latin typeface="+mj-lt"/>
                          <a:ea typeface="Calibri" panose="020F0502020204030204" pitchFamily="34" charset="0"/>
                        </a:rPr>
                        <a:t>1.00</a:t>
                      </a:r>
                      <a:endParaRPr lang="en-US" sz="25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a:effectLst/>
                          <a:latin typeface="+mj-lt"/>
                          <a:ea typeface="Calibri" panose="020F0502020204030204" pitchFamily="34" charset="0"/>
                        </a:rPr>
                        <a:t>0.98</a:t>
                      </a:r>
                      <a:endParaRPr lang="en-US" sz="25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500" b="0">
                          <a:effectLst/>
                          <a:latin typeface="+mj-lt"/>
                          <a:ea typeface="Calibri" panose="020F0502020204030204" pitchFamily="34" charset="0"/>
                        </a:rPr>
                        <a:t>0.97</a:t>
                      </a:r>
                      <a:endParaRPr lang="en-US" sz="25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500" b="0">
                          <a:effectLst/>
                          <a:latin typeface="+mj-lt"/>
                          <a:ea typeface="Calibri" panose="020F0502020204030204" pitchFamily="34" charset="0"/>
                        </a:rPr>
                        <a:t>0.91</a:t>
                      </a:r>
                      <a:endParaRPr lang="en-US" sz="25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512310"/>
                  </a:ext>
                </a:extLst>
              </a:tr>
              <a:tr h="489244">
                <a:tc vMerge="1">
                  <a:txBody>
                    <a:bodyPr/>
                    <a:lstStyle/>
                    <a:p>
                      <a:endParaRPr lang="en-US"/>
                    </a:p>
                  </a:txBody>
                  <a:tcPr/>
                </a:tc>
                <a:tc>
                  <a:txBody>
                    <a:bodyPr/>
                    <a:lstStyle/>
                    <a:p>
                      <a:pPr algn="ctr">
                        <a:lnSpc>
                          <a:spcPct val="107000"/>
                        </a:lnSpc>
                        <a:spcAft>
                          <a:spcPts val="600"/>
                        </a:spcAft>
                        <a:buNone/>
                      </a:pPr>
                      <a:r>
                        <a:rPr lang="vi-VN" sz="2500" b="0" dirty="0">
                          <a:effectLst/>
                          <a:latin typeface="+mj-lt"/>
                          <a:ea typeface="Calibri" panose="020F0502020204030204" pitchFamily="34" charset="0"/>
                        </a:rPr>
                        <a:t>1</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mj-lt"/>
                          <a:ea typeface="Calibri" panose="020F0502020204030204" pitchFamily="34" charset="0"/>
                        </a:rPr>
                        <a:t>1.00</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mj-lt"/>
                          <a:ea typeface="Calibri" panose="020F0502020204030204" pitchFamily="34" charset="0"/>
                        </a:rPr>
                        <a:t>0.84</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mj-lt"/>
                          <a:ea typeface="Calibri" panose="020F0502020204030204" pitchFamily="34" charset="0"/>
                        </a:rPr>
                        <a:t>0.91</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51570140"/>
                  </a:ext>
                </a:extLst>
              </a:tr>
              <a:tr h="486638">
                <a:tc rowSpan="2">
                  <a:txBody>
                    <a:bodyPr/>
                    <a:lstStyle/>
                    <a:p>
                      <a:pPr algn="ctr">
                        <a:lnSpc>
                          <a:spcPct val="107000"/>
                        </a:lnSpc>
                        <a:spcAft>
                          <a:spcPts val="600"/>
                        </a:spcAft>
                        <a:buNone/>
                      </a:pPr>
                      <a:r>
                        <a:rPr lang="en-US" sz="2500" b="0" dirty="0" err="1">
                          <a:effectLst/>
                          <a:latin typeface="Times New Roman" panose="02020603050405020304" pitchFamily="18" charset="0"/>
                          <a:ea typeface="Calibri" panose="020F0502020204030204" pitchFamily="34" charset="0"/>
                          <a:cs typeface="Times New Roman" panose="02020603050405020304" pitchFamily="18" charset="0"/>
                        </a:rPr>
                        <a:t>Cải</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b="0" dirty="0" err="1">
                          <a:effectLst/>
                          <a:latin typeface="Times New Roman" panose="02020603050405020304" pitchFamily="18" charset="0"/>
                          <a:ea typeface="Calibri" panose="020F0502020204030204" pitchFamily="34" charset="0"/>
                          <a:cs typeface="Times New Roman" panose="02020603050405020304" pitchFamily="18" charset="0"/>
                        </a:rPr>
                        <a:t>tiến</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US" sz="2500" b="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a:effectLst/>
                          <a:latin typeface="Times New Roman" panose="02020603050405020304" pitchFamily="18" charset="0"/>
                          <a:ea typeface="Calibri" panose="020F0502020204030204" pitchFamily="34" charset="0"/>
                          <a:cs typeface="Times New Roman" panose="02020603050405020304" pitchFamily="18" charset="0"/>
                        </a:rPr>
                        <a:t>0.98</a:t>
                      </a:r>
                      <a:endParaRPr lang="en-US" sz="2500" b="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1.00</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0.99</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0.9</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0.91</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8025263"/>
                  </a:ext>
                </a:extLst>
              </a:tr>
              <a:tr h="489244">
                <a:tc vMerge="1">
                  <a:txBody>
                    <a:bodyPr/>
                    <a:lstStyle/>
                    <a:p>
                      <a:endParaRPr lang="en-US"/>
                    </a:p>
                  </a:txBody>
                  <a:tcPr/>
                </a:tc>
                <a:tc>
                  <a:txBody>
                    <a:bodyPr/>
                    <a:lstStyle/>
                    <a:p>
                      <a:pPr algn="ctr">
                        <a:lnSpc>
                          <a:spcPct val="107000"/>
                        </a:lnSpc>
                        <a:spcAft>
                          <a:spcPts val="600"/>
                        </a:spcAft>
                        <a:buNone/>
                      </a:pPr>
                      <a:r>
                        <a:rPr lang="vi-VN" sz="2500" b="0">
                          <a:effectLst/>
                          <a:latin typeface="Times New Roman" panose="02020603050405020304" pitchFamily="18" charset="0"/>
                          <a:ea typeface="Calibri" panose="020F0502020204030204" pitchFamily="34" charset="0"/>
                          <a:cs typeface="Times New Roman" panose="02020603050405020304" pitchFamily="18" charset="0"/>
                        </a:rPr>
                        <a:t>1</a:t>
                      </a:r>
                      <a:endParaRPr lang="en-US" sz="2500" b="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97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88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93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267619948"/>
                  </a:ext>
                </a:extLst>
              </a:tr>
            </a:tbl>
          </a:graphicData>
        </a:graphic>
      </p:graphicFrame>
      <p:sp>
        <p:nvSpPr>
          <p:cNvPr id="7" name="TextBox 6">
            <a:extLst>
              <a:ext uri="{FF2B5EF4-FFF2-40B4-BE49-F238E27FC236}">
                <a16:creationId xmlns:a16="http://schemas.microsoft.com/office/drawing/2014/main" id="{84738731-37CF-3BDA-ABC2-F4D2F9B84682}"/>
              </a:ext>
            </a:extLst>
          </p:cNvPr>
          <p:cNvSpPr txBox="1"/>
          <p:nvPr/>
        </p:nvSpPr>
        <p:spPr>
          <a:xfrm>
            <a:off x="581144" y="1130546"/>
            <a:ext cx="4589167" cy="1384995"/>
          </a:xfrm>
          <a:prstGeom prst="rect">
            <a:avLst/>
          </a:prstGeom>
          <a:noFill/>
        </p:spPr>
        <p:txBody>
          <a:bodyPr wrap="square">
            <a:spAutoFit/>
          </a:bodyPr>
          <a:lstStyle/>
          <a:p>
            <a:r>
              <a:rPr lang="en-US" sz="2800" dirty="0" err="1">
                <a:solidFill>
                  <a:srgbClr val="FF0000"/>
                </a:solidFill>
                <a:effectLst/>
                <a:latin typeface="Times New Roman" panose="02020603050405020304" pitchFamily="18" charset="0"/>
                <a:ea typeface="Times New Roman" panose="02020603050405020304" pitchFamily="18" charset="0"/>
              </a:rPr>
              <a:t>class_weight</a:t>
            </a:r>
            <a:r>
              <a:rPr lang="en-US" sz="2800" dirty="0">
                <a:solidFill>
                  <a:srgbClr val="FF0000"/>
                </a:solidFill>
                <a:effectLst/>
                <a:latin typeface="Times New Roman" panose="02020603050405020304" pitchFamily="18" charset="0"/>
                <a:ea typeface="Times New Roman" panose="02020603050405020304" pitchFamily="18" charset="0"/>
              </a:rPr>
              <a:t> = ‘balanced’</a:t>
            </a:r>
          </a:p>
          <a:p>
            <a:r>
              <a:rPr lang="en-US" sz="2800" dirty="0">
                <a:solidFill>
                  <a:srgbClr val="FF0000"/>
                </a:solidFill>
                <a:effectLst/>
                <a:latin typeface="Times New Roman" panose="02020603050405020304" pitchFamily="18" charset="0"/>
                <a:ea typeface="Times New Roman" panose="02020603050405020304" pitchFamily="18" charset="0"/>
              </a:rPr>
              <a:t>threshold = 0.6 </a:t>
            </a:r>
          </a:p>
          <a:p>
            <a:r>
              <a:rPr lang="en-US" sz="2800" dirty="0">
                <a:solidFill>
                  <a:srgbClr val="FF0000"/>
                </a:solidFill>
                <a:effectLst/>
                <a:latin typeface="Times New Roman" panose="02020603050405020304" pitchFamily="18" charset="0"/>
                <a:ea typeface="Times New Roman" panose="02020603050405020304" pitchFamily="18" charset="0"/>
              </a:rPr>
              <a:t>C = 10</a:t>
            </a:r>
            <a:endParaRPr lang="en-US" sz="2800" dirty="0">
              <a:solidFill>
                <a:srgbClr val="FF0000"/>
              </a:solidFill>
            </a:endParaRPr>
          </a:p>
        </p:txBody>
      </p:sp>
    </p:spTree>
    <p:extLst>
      <p:ext uri="{BB962C8B-B14F-4D97-AF65-F5344CB8AC3E}">
        <p14:creationId xmlns:p14="http://schemas.microsoft.com/office/powerpoint/2010/main" val="3384641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DBEC7-89DE-8467-4EFC-D105352FDD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F7B23B-70EE-E179-AC44-1DE110318247}"/>
              </a:ext>
            </a:extLst>
          </p:cNvPr>
          <p:cNvSpPr txBox="1"/>
          <p:nvPr/>
        </p:nvSpPr>
        <p:spPr>
          <a:xfrm>
            <a:off x="407324" y="0"/>
            <a:ext cx="11377352" cy="813941"/>
          </a:xfrm>
          <a:prstGeom prst="rect">
            <a:avLst/>
          </a:prstGeom>
          <a:noFill/>
        </p:spPr>
        <p:txBody>
          <a:bodyPr wrap="square">
            <a:spAutoFit/>
          </a:bodyPr>
          <a:lstStyle/>
          <a:p>
            <a:pPr indent="450215" algn="ctr">
              <a:lnSpc>
                <a:spcPct val="150000"/>
              </a:lnSpc>
              <a:spcAft>
                <a:spcPts val="600"/>
              </a:spcAft>
              <a:buNone/>
            </a:pPr>
            <a:r>
              <a:rPr lang="en-US" sz="3500" b="1" dirty="0">
                <a:latin typeface="Times New Roman" panose="02020603050405020304" pitchFamily="18" charset="0"/>
                <a:ea typeface="Calibri" panose="020F0502020204030204" pitchFamily="34" charset="0"/>
              </a:rPr>
              <a:t>SUPPORT VECTOR MACHINE</a:t>
            </a:r>
            <a:endParaRPr lang="en-US" sz="3500" b="1" dirty="0">
              <a:effectLst/>
              <a:latin typeface="Calibri" panose="020F0502020204030204" pitchFamily="34" charset="0"/>
              <a:ea typeface="Calibri" panose="020F0502020204030204" pitchFamily="34" charset="0"/>
            </a:endParaRPr>
          </a:p>
        </p:txBody>
      </p:sp>
      <p:sp>
        <p:nvSpPr>
          <p:cNvPr id="3" name="TextBox 2">
            <a:extLst>
              <a:ext uri="{FF2B5EF4-FFF2-40B4-BE49-F238E27FC236}">
                <a16:creationId xmlns:a16="http://schemas.microsoft.com/office/drawing/2014/main" id="{53668DE1-50E1-7836-5D4F-9F9069C1C30B}"/>
              </a:ext>
            </a:extLst>
          </p:cNvPr>
          <p:cNvSpPr txBox="1"/>
          <p:nvPr/>
        </p:nvSpPr>
        <p:spPr>
          <a:xfrm>
            <a:off x="11437034" y="6091311"/>
            <a:ext cx="647114" cy="1077218"/>
          </a:xfrm>
          <a:prstGeom prst="rect">
            <a:avLst/>
          </a:prstGeom>
          <a:noFill/>
        </p:spPr>
        <p:txBody>
          <a:bodyPr wrap="square" rtlCol="0">
            <a:spAutoFit/>
          </a:bodyPr>
          <a:lstStyle/>
          <a:p>
            <a:r>
              <a:rPr lang="en-US" sz="3200" dirty="0">
                <a:solidFill>
                  <a:srgbClr val="FF0000"/>
                </a:solidFill>
              </a:rPr>
              <a:t>31</a:t>
            </a:r>
          </a:p>
          <a:p>
            <a:endParaRPr lang="en-US" sz="3200" dirty="0">
              <a:solidFill>
                <a:srgbClr val="FF0000"/>
              </a:solidFill>
            </a:endParaRPr>
          </a:p>
        </p:txBody>
      </p:sp>
      <p:sp>
        <p:nvSpPr>
          <p:cNvPr id="4" name="TextBox 3">
            <a:extLst>
              <a:ext uri="{FF2B5EF4-FFF2-40B4-BE49-F238E27FC236}">
                <a16:creationId xmlns:a16="http://schemas.microsoft.com/office/drawing/2014/main" id="{AB75D620-B644-93FE-8584-D1A42A79DDF5}"/>
              </a:ext>
            </a:extLst>
          </p:cNvPr>
          <p:cNvSpPr txBox="1"/>
          <p:nvPr/>
        </p:nvSpPr>
        <p:spPr>
          <a:xfrm>
            <a:off x="581144" y="1130546"/>
            <a:ext cx="4589167" cy="1384995"/>
          </a:xfrm>
          <a:prstGeom prst="rect">
            <a:avLst/>
          </a:prstGeom>
          <a:noFill/>
        </p:spPr>
        <p:txBody>
          <a:bodyPr wrap="square">
            <a:spAutoFit/>
          </a:bodyPr>
          <a:lstStyle/>
          <a:p>
            <a:r>
              <a:rPr lang="en-US" sz="2800" dirty="0" err="1">
                <a:solidFill>
                  <a:srgbClr val="FF0000"/>
                </a:solidFill>
                <a:effectLst/>
                <a:latin typeface="Times New Roman" panose="02020603050405020304" pitchFamily="18" charset="0"/>
                <a:ea typeface="Times New Roman" panose="02020603050405020304" pitchFamily="18" charset="0"/>
              </a:rPr>
              <a:t>class_weight</a:t>
            </a:r>
            <a:r>
              <a:rPr lang="en-US" sz="2800" dirty="0">
                <a:solidFill>
                  <a:srgbClr val="FF0000"/>
                </a:solidFill>
                <a:effectLst/>
                <a:latin typeface="Times New Roman" panose="02020603050405020304" pitchFamily="18" charset="0"/>
                <a:ea typeface="Times New Roman" panose="02020603050405020304" pitchFamily="18" charset="0"/>
              </a:rPr>
              <a:t> = ‘balanced’</a:t>
            </a:r>
          </a:p>
          <a:p>
            <a:r>
              <a:rPr lang="en-US" sz="2800" dirty="0">
                <a:solidFill>
                  <a:srgbClr val="FF0000"/>
                </a:solidFill>
                <a:effectLst/>
                <a:latin typeface="Times New Roman" panose="02020603050405020304" pitchFamily="18" charset="0"/>
                <a:ea typeface="Times New Roman" panose="02020603050405020304" pitchFamily="18" charset="0"/>
              </a:rPr>
              <a:t>threshold = 0.7</a:t>
            </a:r>
          </a:p>
          <a:p>
            <a:r>
              <a:rPr lang="en-US" sz="2800" dirty="0">
                <a:solidFill>
                  <a:srgbClr val="FF0000"/>
                </a:solidFill>
                <a:effectLst/>
                <a:latin typeface="Times New Roman" panose="02020603050405020304" pitchFamily="18" charset="0"/>
                <a:ea typeface="Times New Roman" panose="02020603050405020304" pitchFamily="18" charset="0"/>
              </a:rPr>
              <a:t>C = 10</a:t>
            </a:r>
            <a:endParaRPr lang="en-US" sz="2800" dirty="0">
              <a:solidFill>
                <a:srgbClr val="FF0000"/>
              </a:solidFill>
            </a:endParaRPr>
          </a:p>
        </p:txBody>
      </p:sp>
      <p:graphicFrame>
        <p:nvGraphicFramePr>
          <p:cNvPr id="6" name="Table 5">
            <a:extLst>
              <a:ext uri="{FF2B5EF4-FFF2-40B4-BE49-F238E27FC236}">
                <a16:creationId xmlns:a16="http://schemas.microsoft.com/office/drawing/2014/main" id="{D97EC5E4-A166-B284-6D22-CB4EF37E3C3B}"/>
              </a:ext>
            </a:extLst>
          </p:cNvPr>
          <p:cNvGraphicFramePr>
            <a:graphicFrameLocks noGrp="1"/>
          </p:cNvGraphicFramePr>
          <p:nvPr>
            <p:extLst>
              <p:ext uri="{D42A27DB-BD31-4B8C-83A1-F6EECF244321}">
                <p14:modId xmlns:p14="http://schemas.microsoft.com/office/powerpoint/2010/main" val="2205617807"/>
              </p:ext>
            </p:extLst>
          </p:nvPr>
        </p:nvGraphicFramePr>
        <p:xfrm>
          <a:off x="581144" y="3145837"/>
          <a:ext cx="11203532" cy="2393246"/>
        </p:xfrm>
        <a:graphic>
          <a:graphicData uri="http://schemas.openxmlformats.org/drawingml/2006/table">
            <a:tbl>
              <a:tblPr firstRow="1" firstCol="1" bandRow="1"/>
              <a:tblGrid>
                <a:gridCol w="1621691">
                  <a:extLst>
                    <a:ext uri="{9D8B030D-6E8A-4147-A177-3AD203B41FA5}">
                      <a16:colId xmlns:a16="http://schemas.microsoft.com/office/drawing/2014/main" val="3641292725"/>
                    </a:ext>
                  </a:extLst>
                </a:gridCol>
                <a:gridCol w="1596371">
                  <a:extLst>
                    <a:ext uri="{9D8B030D-6E8A-4147-A177-3AD203B41FA5}">
                      <a16:colId xmlns:a16="http://schemas.microsoft.com/office/drawing/2014/main" val="2103101563"/>
                    </a:ext>
                  </a:extLst>
                </a:gridCol>
                <a:gridCol w="1596371">
                  <a:extLst>
                    <a:ext uri="{9D8B030D-6E8A-4147-A177-3AD203B41FA5}">
                      <a16:colId xmlns:a16="http://schemas.microsoft.com/office/drawing/2014/main" val="1321320989"/>
                    </a:ext>
                  </a:extLst>
                </a:gridCol>
                <a:gridCol w="1333524">
                  <a:extLst>
                    <a:ext uri="{9D8B030D-6E8A-4147-A177-3AD203B41FA5}">
                      <a16:colId xmlns:a16="http://schemas.microsoft.com/office/drawing/2014/main" val="10975517"/>
                    </a:ext>
                  </a:extLst>
                </a:gridCol>
                <a:gridCol w="1193661">
                  <a:extLst>
                    <a:ext uri="{9D8B030D-6E8A-4147-A177-3AD203B41FA5}">
                      <a16:colId xmlns:a16="http://schemas.microsoft.com/office/drawing/2014/main" val="1545319820"/>
                    </a:ext>
                  </a:extLst>
                </a:gridCol>
                <a:gridCol w="1736233">
                  <a:extLst>
                    <a:ext uri="{9D8B030D-6E8A-4147-A177-3AD203B41FA5}">
                      <a16:colId xmlns:a16="http://schemas.microsoft.com/office/drawing/2014/main" val="3805651037"/>
                    </a:ext>
                  </a:extLst>
                </a:gridCol>
                <a:gridCol w="2125681">
                  <a:extLst>
                    <a:ext uri="{9D8B030D-6E8A-4147-A177-3AD203B41FA5}">
                      <a16:colId xmlns:a16="http://schemas.microsoft.com/office/drawing/2014/main" val="3457593311"/>
                    </a:ext>
                  </a:extLst>
                </a:gridCol>
              </a:tblGrid>
              <a:tr h="477626">
                <a:tc>
                  <a:txBody>
                    <a:bodyPr/>
                    <a:lstStyle/>
                    <a:p>
                      <a:pPr algn="ctr">
                        <a:lnSpc>
                          <a:spcPct val="107000"/>
                        </a:lnSpc>
                        <a:spcAft>
                          <a:spcPts val="600"/>
                        </a:spcAft>
                        <a:buNone/>
                      </a:pPr>
                      <a:r>
                        <a:rPr lang="vi-VN" sz="2500" b="1" dirty="0">
                          <a:effectLst/>
                          <a:latin typeface="+mj-lt"/>
                          <a:ea typeface="Calibri" panose="020F0502020204030204" pitchFamily="34" charset="0"/>
                        </a:rPr>
                        <a:t>Tham số</a:t>
                      </a:r>
                      <a:endParaRPr lang="en-US" sz="25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dirty="0">
                          <a:effectLst/>
                          <a:latin typeface="+mj-lt"/>
                          <a:ea typeface="Calibri" panose="020F0502020204030204" pitchFamily="34" charset="0"/>
                        </a:rPr>
                        <a:t>Lớp</a:t>
                      </a:r>
                      <a:endParaRPr lang="en-US" sz="25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a:effectLst/>
                          <a:latin typeface="+mj-lt"/>
                          <a:ea typeface="Calibri" panose="020F0502020204030204" pitchFamily="34" charset="0"/>
                        </a:rPr>
                        <a:t>Precision</a:t>
                      </a:r>
                      <a:endParaRPr lang="en-US" sz="25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a:effectLst/>
                          <a:latin typeface="+mj-lt"/>
                          <a:ea typeface="Calibri" panose="020F0502020204030204" pitchFamily="34" charset="0"/>
                        </a:rPr>
                        <a:t>Recall</a:t>
                      </a:r>
                      <a:endParaRPr lang="en-US" sz="250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dirty="0">
                          <a:effectLst/>
                          <a:latin typeface="+mj-lt"/>
                          <a:ea typeface="Calibri" panose="020F0502020204030204" pitchFamily="34" charset="0"/>
                        </a:rPr>
                        <a:t>F1</a:t>
                      </a:r>
                      <a:endParaRPr lang="en-US" sz="250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a:effectLst/>
                          <a:latin typeface="+mj-lt"/>
                          <a:ea typeface="Calibri" panose="020F0502020204030204" pitchFamily="34" charset="0"/>
                        </a:rPr>
                        <a:t>Accuracy</a:t>
                      </a:r>
                      <a:endParaRPr lang="en-US" sz="250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1">
                          <a:effectLst/>
                          <a:latin typeface="+mj-lt"/>
                          <a:ea typeface="Calibri" panose="020F0502020204030204" pitchFamily="34" charset="0"/>
                        </a:rPr>
                        <a:t>ROC area</a:t>
                      </a:r>
                      <a:endParaRPr lang="en-US" sz="250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4000185"/>
                  </a:ext>
                </a:extLst>
              </a:tr>
              <a:tr h="477626">
                <a:tc rowSpan="2">
                  <a:txBody>
                    <a:bodyPr/>
                    <a:lstStyle/>
                    <a:p>
                      <a:pPr algn="ctr">
                        <a:lnSpc>
                          <a:spcPct val="107000"/>
                        </a:lnSpc>
                        <a:spcAft>
                          <a:spcPts val="600"/>
                        </a:spcAft>
                        <a:buNone/>
                      </a:pPr>
                      <a:r>
                        <a:rPr lang="vi-VN" sz="2500" b="0" dirty="0">
                          <a:effectLst/>
                          <a:latin typeface="+mj-lt"/>
                          <a:ea typeface="Calibri" panose="020F0502020204030204" pitchFamily="34" charset="0"/>
                        </a:rPr>
                        <a:t>Mặc định</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500" b="0" dirty="0">
                          <a:effectLst/>
                          <a:latin typeface="+mj-lt"/>
                          <a:ea typeface="Times New Roman" panose="02020603050405020304" pitchFamily="18" charset="0"/>
                        </a:rPr>
                        <a:t>0</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mj-lt"/>
                          <a:ea typeface="Calibri" panose="020F0502020204030204" pitchFamily="34" charset="0"/>
                        </a:rPr>
                        <a:t>0.97</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a:effectLst/>
                          <a:latin typeface="+mj-lt"/>
                          <a:ea typeface="Calibri" panose="020F0502020204030204" pitchFamily="34" charset="0"/>
                        </a:rPr>
                        <a:t>1.00</a:t>
                      </a:r>
                      <a:endParaRPr lang="en-US" sz="25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a:effectLst/>
                          <a:latin typeface="+mj-lt"/>
                          <a:ea typeface="Calibri" panose="020F0502020204030204" pitchFamily="34" charset="0"/>
                        </a:rPr>
                        <a:t>0.99</a:t>
                      </a:r>
                      <a:endParaRPr lang="en-US" sz="25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500" b="0" dirty="0">
                          <a:effectLst/>
                          <a:latin typeface="+mj-lt"/>
                          <a:ea typeface="Calibri" panose="020F0502020204030204" pitchFamily="34" charset="0"/>
                        </a:rPr>
                        <a:t>0.97</a:t>
                      </a:r>
                      <a:endParaRPr lang="en-US" sz="2500" b="0" dirty="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500" b="0">
                          <a:effectLst/>
                          <a:latin typeface="+mj-lt"/>
                          <a:ea typeface="Calibri" panose="020F0502020204030204" pitchFamily="34" charset="0"/>
                        </a:rPr>
                        <a:t>0.99</a:t>
                      </a:r>
                      <a:endParaRPr lang="en-US" sz="2500" b="0">
                        <a:effectLst/>
                        <a:latin typeface="+mj-lt"/>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3069906"/>
                  </a:ext>
                </a:extLst>
              </a:tr>
              <a:tr h="480184">
                <a:tc vMerge="1">
                  <a:txBody>
                    <a:bodyPr/>
                    <a:lstStyle/>
                    <a:p>
                      <a:endParaRPr lang="en-US"/>
                    </a:p>
                  </a:txBody>
                  <a:tcPr/>
                </a:tc>
                <a:tc>
                  <a:txBody>
                    <a:bodyPr/>
                    <a:lstStyle/>
                    <a:p>
                      <a:pPr algn="just">
                        <a:lnSpc>
                          <a:spcPct val="107000"/>
                        </a:lnSpc>
                        <a:spcAft>
                          <a:spcPts val="600"/>
                        </a:spcAft>
                        <a:buNone/>
                      </a:pPr>
                      <a:r>
                        <a:rPr lang="vi-VN" sz="2500" b="0" dirty="0">
                          <a:effectLst/>
                          <a:latin typeface="+mj-lt"/>
                          <a:ea typeface="Calibri" panose="020F0502020204030204" pitchFamily="34" charset="0"/>
                        </a:rPr>
                        <a:t>1</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mj-lt"/>
                          <a:ea typeface="Calibri" panose="020F0502020204030204" pitchFamily="34" charset="0"/>
                        </a:rPr>
                        <a:t>0.99</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mj-lt"/>
                          <a:ea typeface="Calibri" panose="020F0502020204030204" pitchFamily="34" charset="0"/>
                        </a:rPr>
                        <a:t>0.86</a:t>
                      </a:r>
                      <a:endParaRPr lang="en-US" sz="2500" b="0" dirty="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a:effectLst/>
                          <a:latin typeface="+mj-lt"/>
                          <a:ea typeface="Calibri" panose="020F0502020204030204" pitchFamily="34" charset="0"/>
                        </a:rPr>
                        <a:t>0.92</a:t>
                      </a:r>
                      <a:endParaRPr lang="en-US" sz="2500" b="0">
                        <a:effectLst/>
                        <a:latin typeface="+mj-lt"/>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27824805"/>
                  </a:ext>
                </a:extLst>
              </a:tr>
              <a:tr h="477626">
                <a:tc rowSpan="2">
                  <a:txBody>
                    <a:bodyPr/>
                    <a:lstStyle/>
                    <a:p>
                      <a:pPr algn="ctr">
                        <a:lnSpc>
                          <a:spcPct val="107000"/>
                        </a:lnSpc>
                        <a:spcAft>
                          <a:spcPts val="600"/>
                        </a:spcAft>
                        <a:buNone/>
                      </a:pPr>
                      <a:r>
                        <a:rPr lang="en-US" sz="2500" b="0" dirty="0" err="1">
                          <a:effectLst/>
                          <a:latin typeface="Times New Roman" panose="02020603050405020304" pitchFamily="18" charset="0"/>
                          <a:ea typeface="Calibri" panose="020F0502020204030204" pitchFamily="34" charset="0"/>
                          <a:cs typeface="Times New Roman" panose="02020603050405020304" pitchFamily="18" charset="0"/>
                        </a:rPr>
                        <a:t>Cải</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b="0" dirty="0" err="1">
                          <a:effectLst/>
                          <a:latin typeface="Times New Roman" panose="02020603050405020304" pitchFamily="18" charset="0"/>
                          <a:ea typeface="Calibri" panose="020F0502020204030204" pitchFamily="34" charset="0"/>
                          <a:cs typeface="Times New Roman" panose="02020603050405020304" pitchFamily="18" charset="0"/>
                        </a:rPr>
                        <a:t>tiến</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600"/>
                        </a:spcAft>
                        <a:buNone/>
                      </a:pPr>
                      <a:r>
                        <a:rPr lang="vi-VN" sz="2500" b="0" dirty="0">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0.9</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1.00</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0.9</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0.97</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0.99</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6751429"/>
                  </a:ext>
                </a:extLst>
              </a:tr>
              <a:tr h="480184">
                <a:tc vMerge="1">
                  <a:txBody>
                    <a:bodyPr/>
                    <a:lstStyle/>
                    <a:p>
                      <a:endParaRPr lang="en-US"/>
                    </a:p>
                  </a:txBody>
                  <a:tcPr/>
                </a:tc>
                <a:tc>
                  <a:txBody>
                    <a:bodyPr/>
                    <a:lstStyle/>
                    <a:p>
                      <a:pPr algn="just">
                        <a:lnSpc>
                          <a:spcPct val="107000"/>
                        </a:lnSpc>
                        <a:spcAft>
                          <a:spcPts val="600"/>
                        </a:spcAft>
                        <a:buNone/>
                      </a:pPr>
                      <a:r>
                        <a:rPr lang="vi-VN" sz="2500" b="0">
                          <a:effectLst/>
                          <a:latin typeface="Times New Roman" panose="02020603050405020304" pitchFamily="18" charset="0"/>
                          <a:ea typeface="Calibri" panose="020F0502020204030204" pitchFamily="34" charset="0"/>
                          <a:cs typeface="Times New Roman" panose="02020603050405020304" pitchFamily="18" charset="0"/>
                        </a:rPr>
                        <a:t>1</a:t>
                      </a:r>
                      <a:endParaRPr lang="en-US" sz="2500" b="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0.9</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2500" b="0" dirty="0">
                          <a:effectLst/>
                          <a:latin typeface="Times New Roman" panose="02020603050405020304" pitchFamily="18" charset="0"/>
                          <a:ea typeface="Calibri" panose="020F0502020204030204" pitchFamily="34" charset="0"/>
                          <a:cs typeface="Times New Roman" panose="02020603050405020304" pitchFamily="18" charset="0"/>
                        </a:rPr>
                        <a:t>88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600"/>
                        </a:spcAft>
                        <a:buNone/>
                      </a:pPr>
                      <a:r>
                        <a:rPr lang="vi-VN" sz="2500" b="0" dirty="0">
                          <a:effectLst/>
                          <a:latin typeface="Times New Roman" panose="02020603050405020304" pitchFamily="18" charset="0"/>
                          <a:ea typeface="Calibri" panose="020F0502020204030204" pitchFamily="34" charset="0"/>
                          <a:cs typeface="Times New Roman" panose="02020603050405020304" pitchFamily="18" charset="0"/>
                        </a:rPr>
                        <a:t>0.92</a:t>
                      </a:r>
                      <a:endParaRPr lang="en-US" sz="25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792317448"/>
                  </a:ext>
                </a:extLst>
              </a:tr>
            </a:tbl>
          </a:graphicData>
        </a:graphic>
      </p:graphicFrame>
    </p:spTree>
    <p:extLst>
      <p:ext uri="{BB962C8B-B14F-4D97-AF65-F5344CB8AC3E}">
        <p14:creationId xmlns:p14="http://schemas.microsoft.com/office/powerpoint/2010/main" val="4793853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CAA6-0774-86F5-3144-FB58D5CF2DA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00AAF14-DD26-27A4-5DBD-1412442416CD}"/>
              </a:ext>
            </a:extLst>
          </p:cNvPr>
          <p:cNvPicPr>
            <a:picLocks noChangeAspect="1"/>
          </p:cNvPicPr>
          <p:nvPr/>
        </p:nvPicPr>
        <p:blipFill>
          <a:blip r:embed="rId2"/>
          <a:stretch>
            <a:fillRect/>
          </a:stretch>
        </p:blipFill>
        <p:spPr>
          <a:xfrm>
            <a:off x="0" y="-1"/>
            <a:ext cx="6096000" cy="6803913"/>
          </a:xfrm>
          <a:prstGeom prst="rect">
            <a:avLst/>
          </a:prstGeom>
        </p:spPr>
      </p:pic>
      <p:pic>
        <p:nvPicPr>
          <p:cNvPr id="3" name="Picture 2">
            <a:extLst>
              <a:ext uri="{FF2B5EF4-FFF2-40B4-BE49-F238E27FC236}">
                <a16:creationId xmlns:a16="http://schemas.microsoft.com/office/drawing/2014/main" id="{13EEA63B-3B0D-7DE3-1D6D-FC7A7D2D36E8}"/>
              </a:ext>
            </a:extLst>
          </p:cNvPr>
          <p:cNvPicPr>
            <a:picLocks noChangeAspect="1"/>
          </p:cNvPicPr>
          <p:nvPr/>
        </p:nvPicPr>
        <p:blipFill>
          <a:blip r:embed="rId3"/>
          <a:stretch>
            <a:fillRect/>
          </a:stretch>
        </p:blipFill>
        <p:spPr>
          <a:xfrm>
            <a:off x="6260159" y="0"/>
            <a:ext cx="5931842" cy="6803912"/>
          </a:xfrm>
          <a:prstGeom prst="rect">
            <a:avLst/>
          </a:prstGeom>
        </p:spPr>
      </p:pic>
      <p:sp>
        <p:nvSpPr>
          <p:cNvPr id="4" name="TextBox 3">
            <a:extLst>
              <a:ext uri="{FF2B5EF4-FFF2-40B4-BE49-F238E27FC236}">
                <a16:creationId xmlns:a16="http://schemas.microsoft.com/office/drawing/2014/main" id="{48CEC12B-593B-B247-A9CE-3F0709EDF404}"/>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32</a:t>
            </a:r>
          </a:p>
        </p:txBody>
      </p:sp>
    </p:spTree>
    <p:extLst>
      <p:ext uri="{BB962C8B-B14F-4D97-AF65-F5344CB8AC3E}">
        <p14:creationId xmlns:p14="http://schemas.microsoft.com/office/powerpoint/2010/main" val="40345141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64F26-0DFF-0D26-7562-02744DFE33A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ABC315F-7A50-6792-A3C0-B2683141F6DB}"/>
              </a:ext>
            </a:extLst>
          </p:cNvPr>
          <p:cNvPicPr>
            <a:picLocks noChangeAspect="1"/>
          </p:cNvPicPr>
          <p:nvPr/>
        </p:nvPicPr>
        <p:blipFill>
          <a:blip r:embed="rId2"/>
          <a:stretch>
            <a:fillRect/>
          </a:stretch>
        </p:blipFill>
        <p:spPr>
          <a:xfrm>
            <a:off x="0" y="758932"/>
            <a:ext cx="12192000" cy="5340135"/>
          </a:xfrm>
          <a:prstGeom prst="rect">
            <a:avLst/>
          </a:prstGeom>
        </p:spPr>
      </p:pic>
      <p:sp>
        <p:nvSpPr>
          <p:cNvPr id="3" name="TextBox 2">
            <a:extLst>
              <a:ext uri="{FF2B5EF4-FFF2-40B4-BE49-F238E27FC236}">
                <a16:creationId xmlns:a16="http://schemas.microsoft.com/office/drawing/2014/main" id="{6A1BDB4E-7C03-C834-052D-8AF487885E5F}"/>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33</a:t>
            </a:r>
          </a:p>
        </p:txBody>
      </p:sp>
    </p:spTree>
    <p:extLst>
      <p:ext uri="{BB962C8B-B14F-4D97-AF65-F5344CB8AC3E}">
        <p14:creationId xmlns:p14="http://schemas.microsoft.com/office/powerpoint/2010/main" val="2065935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959C-0CCE-8D95-A323-97078A20913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364706A-C7C7-5028-9026-C245E9501D3B}"/>
              </a:ext>
            </a:extLst>
          </p:cNvPr>
          <p:cNvPicPr>
            <a:picLocks noChangeAspect="1"/>
          </p:cNvPicPr>
          <p:nvPr/>
        </p:nvPicPr>
        <p:blipFill>
          <a:blip r:embed="rId3"/>
          <a:stretch>
            <a:fillRect/>
          </a:stretch>
        </p:blipFill>
        <p:spPr>
          <a:xfrm>
            <a:off x="2028306" y="0"/>
            <a:ext cx="7859246" cy="6858000"/>
          </a:xfrm>
          <a:prstGeom prst="rect">
            <a:avLst/>
          </a:prstGeom>
        </p:spPr>
      </p:pic>
      <p:sp>
        <p:nvSpPr>
          <p:cNvPr id="3" name="TextBox 2">
            <a:extLst>
              <a:ext uri="{FF2B5EF4-FFF2-40B4-BE49-F238E27FC236}">
                <a16:creationId xmlns:a16="http://schemas.microsoft.com/office/drawing/2014/main" id="{BAD798C4-F242-DD7D-B4B4-EB9A64FD6A64}"/>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34</a:t>
            </a:r>
          </a:p>
        </p:txBody>
      </p:sp>
    </p:spTree>
    <p:extLst>
      <p:ext uri="{BB962C8B-B14F-4D97-AF65-F5344CB8AC3E}">
        <p14:creationId xmlns:p14="http://schemas.microsoft.com/office/powerpoint/2010/main" val="419047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D964E-704B-D507-9522-C7D52D0700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5A0B208-11CA-6FB3-0071-A5DDF7F10F8A}"/>
              </a:ext>
            </a:extLst>
          </p:cNvPr>
          <p:cNvSpPr txBox="1"/>
          <p:nvPr/>
        </p:nvSpPr>
        <p:spPr>
          <a:xfrm>
            <a:off x="287079" y="151886"/>
            <a:ext cx="6783572" cy="678199"/>
          </a:xfrm>
          <a:prstGeom prst="rect">
            <a:avLst/>
          </a:prstGeom>
          <a:noFill/>
        </p:spPr>
        <p:txBody>
          <a:bodyPr wrap="square">
            <a:spAutoFit/>
          </a:bodyPr>
          <a:lstStyle/>
          <a:p>
            <a:pPr algn="ctr">
              <a:lnSpc>
                <a:spcPct val="130000"/>
              </a:lnSpc>
              <a:spcAft>
                <a:spcPts val="800"/>
              </a:spcAft>
              <a:buNone/>
            </a:pPr>
            <a:r>
              <a:rPr lang="en-US" sz="3200" b="1" dirty="0" err="1">
                <a:solidFill>
                  <a:srgbClr val="FF0000"/>
                </a:solidFill>
                <a:effectLst/>
                <a:latin typeface="Times New Roman" panose="02020603050405020304" pitchFamily="18" charset="0"/>
                <a:ea typeface="Calibri" panose="020F0502020204030204" pitchFamily="34" charset="0"/>
              </a:rPr>
              <a:t>Kết</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luận</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và</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hướng</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phát</a:t>
            </a:r>
            <a:r>
              <a:rPr lang="en-US" sz="3200" b="1" dirty="0">
                <a:solidFill>
                  <a:srgbClr val="FF0000"/>
                </a:solidFill>
                <a:effectLst/>
                <a:latin typeface="Times New Roman" panose="02020603050405020304" pitchFamily="18" charset="0"/>
                <a:ea typeface="Calibri" panose="020F0502020204030204" pitchFamily="34" charset="0"/>
              </a:rPr>
              <a:t> </a:t>
            </a:r>
            <a:r>
              <a:rPr lang="en-US" sz="3200" b="1" dirty="0" err="1">
                <a:solidFill>
                  <a:srgbClr val="FF0000"/>
                </a:solidFill>
                <a:effectLst/>
                <a:latin typeface="Times New Roman" panose="02020603050405020304" pitchFamily="18" charset="0"/>
                <a:ea typeface="Calibri" panose="020F0502020204030204" pitchFamily="34" charset="0"/>
              </a:rPr>
              <a:t>triển</a:t>
            </a:r>
            <a:endParaRPr lang="en-US" sz="3200" dirty="0">
              <a:solidFill>
                <a:srgbClr val="FF0000"/>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808461A7-E972-93B8-D265-0FD55E94CCEE}"/>
              </a:ext>
            </a:extLst>
          </p:cNvPr>
          <p:cNvSpPr txBox="1"/>
          <p:nvPr/>
        </p:nvSpPr>
        <p:spPr>
          <a:xfrm>
            <a:off x="914400" y="1255387"/>
            <a:ext cx="10919011" cy="5174493"/>
          </a:xfrm>
          <a:prstGeom prst="rect">
            <a:avLst/>
          </a:prstGeom>
          <a:noFill/>
        </p:spPr>
        <p:txBody>
          <a:bodyPr wrap="square">
            <a:spAutoFit/>
          </a:bodyPr>
          <a:lstStyle/>
          <a:p>
            <a:pPr marL="457200" indent="-457200" algn="just">
              <a:lnSpc>
                <a:spcPct val="150000"/>
              </a:lnSpc>
              <a:buFontTx/>
              <a:buChar char="-"/>
            </a:pPr>
            <a:r>
              <a:rPr lang="en-US" sz="3200" dirty="0">
                <a:effectLst/>
                <a:latin typeface="Times New Roman" panose="02020603050405020304" pitchFamily="18" charset="0"/>
                <a:ea typeface="Times New Roman" panose="02020603050405020304" pitchFamily="18" charset="0"/>
              </a:rPr>
              <a:t>T</a:t>
            </a:r>
            <a:r>
              <a:rPr lang="vi-VN" sz="3200" dirty="0">
                <a:effectLst/>
                <a:latin typeface="Times New Roman" panose="02020603050405020304" pitchFamily="18" charset="0"/>
                <a:ea typeface="Times New Roman" panose="02020603050405020304" pitchFamily="18" charset="0"/>
              </a:rPr>
              <a:t>ích hợp thêm các yếu tố ràng buộc mềm và ngữ cảnh</a:t>
            </a:r>
            <a:endParaRPr lang="en-US" sz="3200" dirty="0">
              <a:effectLst/>
              <a:latin typeface="Times New Roman" panose="02020603050405020304" pitchFamily="18" charset="0"/>
              <a:ea typeface="Times New Roman" panose="02020603050405020304" pitchFamily="18" charset="0"/>
            </a:endParaRPr>
          </a:p>
          <a:p>
            <a:pPr marL="457200" indent="-457200" algn="just">
              <a:lnSpc>
                <a:spcPct val="150000"/>
              </a:lnSpc>
              <a:buFontTx/>
              <a:buChar char="-"/>
            </a:pPr>
            <a:endParaRPr lang="en-US" sz="3200" dirty="0">
              <a:effectLst/>
              <a:latin typeface="Times New Roman" panose="02020603050405020304" pitchFamily="18" charset="0"/>
              <a:ea typeface="Times New Roman" panose="02020603050405020304" pitchFamily="18" charset="0"/>
            </a:endParaRPr>
          </a:p>
          <a:p>
            <a:pPr marL="457200" indent="-457200" algn="just">
              <a:lnSpc>
                <a:spcPct val="150000"/>
              </a:lnSpc>
              <a:buFontTx/>
              <a:buChar char="-"/>
            </a:pPr>
            <a:r>
              <a:rPr lang="en-US" sz="3200" dirty="0" err="1">
                <a:latin typeface="Times New Roman" panose="02020603050405020304" pitchFamily="18" charset="0"/>
                <a:ea typeface="Times New Roman" panose="02020603050405020304" pitchFamily="18" charset="0"/>
              </a:rPr>
              <a:t>T</a:t>
            </a:r>
            <a:r>
              <a:rPr lang="en-US" sz="3200" dirty="0" err="1">
                <a:effectLst/>
                <a:latin typeface="Times New Roman" panose="02020603050405020304" pitchFamily="18" charset="0"/>
                <a:ea typeface="Times New Roman" panose="02020603050405020304" pitchFamily="18" charset="0"/>
              </a:rPr>
              <a:t>ự</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động</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hóa</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quá</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trình</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điều</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chỉnh</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tham</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số</a:t>
            </a:r>
            <a:endParaRPr lang="en-US" sz="3200" dirty="0">
              <a:effectLst/>
              <a:latin typeface="Times New Roman" panose="02020603050405020304" pitchFamily="18" charset="0"/>
              <a:ea typeface="Times New Roman" panose="02020603050405020304" pitchFamily="18" charset="0"/>
            </a:endParaRPr>
          </a:p>
          <a:p>
            <a:pPr marL="457200" indent="-457200" algn="just">
              <a:lnSpc>
                <a:spcPct val="150000"/>
              </a:lnSpc>
              <a:buFontTx/>
              <a:buChar char="-"/>
            </a:pPr>
            <a:endParaRPr lang="en-US" sz="3200" dirty="0">
              <a:effectLst/>
              <a:latin typeface="Times New Roman" panose="02020603050405020304" pitchFamily="18" charset="0"/>
              <a:ea typeface="Times New Roman" panose="02020603050405020304" pitchFamily="18" charset="0"/>
            </a:endParaRPr>
          </a:p>
          <a:p>
            <a:pPr marL="457200" indent="-457200" algn="just">
              <a:lnSpc>
                <a:spcPct val="150000"/>
              </a:lnSpc>
              <a:buFontTx/>
              <a:buChar char="-"/>
            </a:pPr>
            <a:r>
              <a:rPr lang="en-US" sz="3200" dirty="0" err="1">
                <a:latin typeface="Times New Roman" panose="02020603050405020304" pitchFamily="18" charset="0"/>
                <a:ea typeface="Times New Roman" panose="02020603050405020304" pitchFamily="18" charset="0"/>
              </a:rPr>
              <a:t>M</a:t>
            </a:r>
            <a:r>
              <a:rPr lang="en-US" sz="3200" dirty="0" err="1">
                <a:effectLst/>
                <a:latin typeface="Times New Roman" panose="02020603050405020304" pitchFamily="18" charset="0"/>
                <a:ea typeface="Times New Roman" panose="02020603050405020304" pitchFamily="18" charset="0"/>
              </a:rPr>
              <a:t>ở</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rộng</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phạm</a:t>
            </a:r>
            <a:r>
              <a:rPr lang="en-US" sz="3200" dirty="0">
                <a:effectLst/>
                <a:latin typeface="Times New Roman" panose="02020603050405020304" pitchFamily="18" charset="0"/>
                <a:ea typeface="Times New Roman" panose="02020603050405020304" pitchFamily="18" charset="0"/>
              </a:rPr>
              <a:t> vi </a:t>
            </a:r>
            <a:r>
              <a:rPr lang="en-US" sz="3200" dirty="0" err="1">
                <a:effectLst/>
                <a:latin typeface="Times New Roman" panose="02020603050405020304" pitchFamily="18" charset="0"/>
                <a:ea typeface="Times New Roman" panose="02020603050405020304" pitchFamily="18" charset="0"/>
              </a:rPr>
              <a:t>ứng</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dụng</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và</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kiểm</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thử</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trên</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dữ</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liệu</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thực</a:t>
            </a:r>
            <a:endParaRPr lang="en-US" sz="3200" dirty="0">
              <a:effectLst/>
              <a:latin typeface="Times New Roman" panose="02020603050405020304" pitchFamily="18" charset="0"/>
              <a:ea typeface="Times New Roman" panose="02020603050405020304" pitchFamily="18" charset="0"/>
            </a:endParaRPr>
          </a:p>
          <a:p>
            <a:pPr marL="457200" indent="-457200" algn="just">
              <a:lnSpc>
                <a:spcPct val="150000"/>
              </a:lnSpc>
              <a:buFontTx/>
              <a:buChar char="-"/>
            </a:pPr>
            <a:endParaRPr lang="en-US" sz="3200" dirty="0">
              <a:effectLst/>
              <a:latin typeface="Times New Roman" panose="02020603050405020304" pitchFamily="18" charset="0"/>
              <a:ea typeface="Times New Roman" panose="02020603050405020304" pitchFamily="18" charset="0"/>
            </a:endParaRPr>
          </a:p>
          <a:p>
            <a:pPr marL="457200" indent="-457200" algn="just">
              <a:lnSpc>
                <a:spcPct val="150000"/>
              </a:lnSpc>
              <a:buFontTx/>
              <a:buChar char="-"/>
            </a:pPr>
            <a:r>
              <a:rPr lang="en-US" sz="3200" dirty="0">
                <a:effectLst/>
                <a:latin typeface="Times New Roman" panose="02020603050405020304" pitchFamily="18" charset="0"/>
                <a:ea typeface="Times New Roman" panose="02020603050405020304" pitchFamily="18" charset="0"/>
              </a:rPr>
              <a:t>P</a:t>
            </a:r>
            <a:r>
              <a:rPr lang="vi-VN" sz="3200" dirty="0">
                <a:effectLst/>
                <a:latin typeface="Times New Roman" panose="02020603050405020304" pitchFamily="18" charset="0"/>
                <a:ea typeface="Times New Roman" panose="02020603050405020304" pitchFamily="18" charset="0"/>
              </a:rPr>
              <a:t>hát triển giao diện người dùng và báo cáo thông minh</a:t>
            </a:r>
            <a:endParaRPr lang="en-US" sz="32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2E144B6E-67C3-DEC6-122D-049C406226CB}"/>
              </a:ext>
            </a:extLst>
          </p:cNvPr>
          <p:cNvSpPr txBox="1"/>
          <p:nvPr/>
        </p:nvSpPr>
        <p:spPr>
          <a:xfrm>
            <a:off x="11437034" y="6091311"/>
            <a:ext cx="647114" cy="584775"/>
          </a:xfrm>
          <a:prstGeom prst="rect">
            <a:avLst/>
          </a:prstGeom>
          <a:noFill/>
        </p:spPr>
        <p:txBody>
          <a:bodyPr wrap="square" rtlCol="0">
            <a:spAutoFit/>
          </a:bodyPr>
          <a:lstStyle/>
          <a:p>
            <a:r>
              <a:rPr lang="en-US" sz="3200" dirty="0">
                <a:solidFill>
                  <a:srgbClr val="FF0000"/>
                </a:solidFill>
              </a:rPr>
              <a:t>35</a:t>
            </a:r>
          </a:p>
        </p:txBody>
      </p:sp>
    </p:spTree>
    <p:extLst>
      <p:ext uri="{BB962C8B-B14F-4D97-AF65-F5344CB8AC3E}">
        <p14:creationId xmlns:p14="http://schemas.microsoft.com/office/powerpoint/2010/main" val="509470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arn(inVertic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barn(inVertical)">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barn(inVertical)">
                                      <p:cBhvr>
                                        <p:cTn id="2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BC486-94C3-B175-7724-72343739D8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F299206-8C91-268E-CD12-4896849822B3}"/>
              </a:ext>
            </a:extLst>
          </p:cNvPr>
          <p:cNvSpPr txBox="1"/>
          <p:nvPr/>
        </p:nvSpPr>
        <p:spPr>
          <a:xfrm>
            <a:off x="2271250" y="2314395"/>
            <a:ext cx="8888362" cy="1697196"/>
          </a:xfrm>
          <a:prstGeom prst="rect">
            <a:avLst/>
          </a:prstGeom>
          <a:noFill/>
        </p:spPr>
        <p:txBody>
          <a:bodyPr wrap="square">
            <a:spAutoFit/>
          </a:bodyPr>
          <a:lstStyle/>
          <a:p>
            <a:pPr algn="ctr">
              <a:lnSpc>
                <a:spcPct val="130000"/>
              </a:lnSpc>
              <a:spcAft>
                <a:spcPts val="800"/>
              </a:spcAft>
              <a:buNone/>
            </a:pPr>
            <a:r>
              <a:rPr lang="en-US" sz="2400" b="1" dirty="0">
                <a:solidFill>
                  <a:srgbClr val="FF0000"/>
                </a:solidFill>
                <a:effectLst/>
                <a:latin typeface="Times New Roman" panose="02020603050405020304" pitchFamily="18" charset="0"/>
                <a:ea typeface="Calibri" panose="020F0502020204030204" pitchFamily="34" charset="0"/>
              </a:rPr>
              <a:t>ỨNG DỤNG HỌC MÁY ĐỂ PHÁT HIỆN HÀNH VI </a:t>
            </a:r>
            <a:endParaRPr lang="en-US" sz="2400" dirty="0">
              <a:solidFill>
                <a:srgbClr val="FF0000"/>
              </a:solidFill>
              <a:effectLst/>
              <a:latin typeface="Calibri" panose="020F0502020204030204" pitchFamily="34" charset="0"/>
              <a:ea typeface="Calibri" panose="020F0502020204030204" pitchFamily="34" charset="0"/>
            </a:endParaRPr>
          </a:p>
          <a:p>
            <a:pPr algn="ctr">
              <a:lnSpc>
                <a:spcPct val="130000"/>
              </a:lnSpc>
              <a:spcAft>
                <a:spcPts val="800"/>
              </a:spcAft>
              <a:buNone/>
            </a:pPr>
            <a:r>
              <a:rPr lang="en-US" sz="2400" b="1" dirty="0">
                <a:solidFill>
                  <a:srgbClr val="FF0000"/>
                </a:solidFill>
                <a:effectLst/>
                <a:latin typeface="Times New Roman" panose="02020603050405020304" pitchFamily="18" charset="0"/>
                <a:ea typeface="Calibri" panose="020F0502020204030204" pitchFamily="34" charset="0"/>
              </a:rPr>
              <a:t>ĐĂNG NHẬP BẤT THƯỜNG TRONG HỆ THỐNG </a:t>
            </a:r>
            <a:endParaRPr lang="en-US" sz="2400" dirty="0">
              <a:solidFill>
                <a:srgbClr val="FF0000"/>
              </a:solidFill>
              <a:effectLst/>
              <a:latin typeface="Calibri" panose="020F0502020204030204" pitchFamily="34" charset="0"/>
              <a:ea typeface="Calibri" panose="020F0502020204030204" pitchFamily="34" charset="0"/>
            </a:endParaRPr>
          </a:p>
          <a:p>
            <a:pPr algn="ctr">
              <a:lnSpc>
                <a:spcPct val="130000"/>
              </a:lnSpc>
              <a:spcAft>
                <a:spcPts val="800"/>
              </a:spcAft>
            </a:pPr>
            <a:r>
              <a:rPr lang="en-US" sz="2400" b="1" dirty="0">
                <a:solidFill>
                  <a:srgbClr val="FF0000"/>
                </a:solidFill>
                <a:effectLst/>
                <a:latin typeface="Times New Roman" panose="02020603050405020304" pitchFamily="18" charset="0"/>
                <a:ea typeface="Calibri" panose="020F0502020204030204" pitchFamily="34" charset="0"/>
              </a:rPr>
              <a:t>CÔNG NGHỆ THÔNG TIN</a:t>
            </a:r>
            <a:endParaRPr lang="en-US" sz="2400" dirty="0">
              <a:solidFill>
                <a:srgbClr val="FF0000"/>
              </a:solidFill>
              <a:effectLst/>
              <a:latin typeface="Calibri" panose="020F0502020204030204" pitchFamily="34" charset="0"/>
              <a:ea typeface="Calibri" panose="020F0502020204030204" pitchFamily="34" charset="0"/>
            </a:endParaRPr>
          </a:p>
        </p:txBody>
      </p:sp>
      <p:sp>
        <p:nvSpPr>
          <p:cNvPr id="7" name="TextBox 6">
            <a:extLst>
              <a:ext uri="{FF2B5EF4-FFF2-40B4-BE49-F238E27FC236}">
                <a16:creationId xmlns:a16="http://schemas.microsoft.com/office/drawing/2014/main" id="{15944AFF-8B43-38C2-8570-F98201CBA838}"/>
              </a:ext>
            </a:extLst>
          </p:cNvPr>
          <p:cNvSpPr txBox="1"/>
          <p:nvPr/>
        </p:nvSpPr>
        <p:spPr>
          <a:xfrm>
            <a:off x="3834580" y="890289"/>
            <a:ext cx="7703704" cy="824649"/>
          </a:xfrm>
          <a:prstGeom prst="rect">
            <a:avLst/>
          </a:prstGeom>
          <a:noFill/>
        </p:spPr>
        <p:txBody>
          <a:bodyPr wrap="square">
            <a:spAutoFit/>
          </a:bodyPr>
          <a:lstStyle/>
          <a:p>
            <a:pPr algn="ctr">
              <a:lnSpc>
                <a:spcPct val="130000"/>
              </a:lnSpc>
              <a:spcAft>
                <a:spcPts val="800"/>
              </a:spcAft>
            </a:pPr>
            <a:r>
              <a:rPr lang="en-US" sz="4000" b="1" dirty="0">
                <a:solidFill>
                  <a:srgbClr val="0D0D0D"/>
                </a:solidFill>
                <a:effectLst/>
                <a:latin typeface="Times New Roman" panose="02020603050405020304" pitchFamily="18" charset="0"/>
                <a:ea typeface="Calibri" panose="020F0502020204030204" pitchFamily="34" charset="0"/>
              </a:rPr>
              <a:t>BÁO CÁO LUẬN VĂN</a:t>
            </a:r>
            <a:endParaRPr lang="en-US" dirty="0">
              <a:effectLst/>
              <a:latin typeface="Calibri" panose="020F0502020204030204" pitchFamily="34" charset="0"/>
              <a:ea typeface="Calibri" panose="020F0502020204030204" pitchFamily="34" charset="0"/>
            </a:endParaRPr>
          </a:p>
        </p:txBody>
      </p:sp>
      <p:pic>
        <p:nvPicPr>
          <p:cNvPr id="1026" name="Picture 2" descr="Trường Đại học Bách khoa, Đại học Quốc gia Thành phố Hồ Chí Minh ...">
            <a:extLst>
              <a:ext uri="{FF2B5EF4-FFF2-40B4-BE49-F238E27FC236}">
                <a16:creationId xmlns:a16="http://schemas.microsoft.com/office/drawing/2014/main" id="{0662CDB9-2C88-CA5C-AE76-9B489428A0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35" y="105947"/>
            <a:ext cx="2137133" cy="21586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D7C4E57-38FC-09CD-783E-7CABF7A9BD62}"/>
              </a:ext>
            </a:extLst>
          </p:cNvPr>
          <p:cNvSpPr txBox="1"/>
          <p:nvPr/>
        </p:nvSpPr>
        <p:spPr>
          <a:xfrm>
            <a:off x="6715431" y="4611048"/>
            <a:ext cx="4955459" cy="1877437"/>
          </a:xfrm>
          <a:prstGeom prst="rect">
            <a:avLst/>
          </a:prstGeom>
          <a:noFill/>
        </p:spPr>
        <p:txBody>
          <a:bodyPr wrap="square">
            <a:spAutoFit/>
          </a:bodyPr>
          <a:lstStyle/>
          <a:p>
            <a:pPr>
              <a:spcAft>
                <a:spcPts val="800"/>
              </a:spcAft>
              <a:buNone/>
            </a:pPr>
            <a:r>
              <a:rPr lang="en-US" sz="2400" dirty="0">
                <a:solidFill>
                  <a:srgbClr val="0D0D0D"/>
                </a:solidFill>
                <a:latin typeface="Times New Roman" panose="02020603050405020304" pitchFamily="18" charset="0"/>
                <a:ea typeface="Calibri" panose="020F0502020204030204" pitchFamily="34" charset="0"/>
              </a:rPr>
              <a:t>Học </a:t>
            </a:r>
            <a:r>
              <a:rPr lang="en-US" sz="2400" dirty="0" err="1">
                <a:solidFill>
                  <a:srgbClr val="0D0D0D"/>
                </a:solidFill>
                <a:latin typeface="Times New Roman" panose="02020603050405020304" pitchFamily="18" charset="0"/>
                <a:ea typeface="Calibri" panose="020F0502020204030204" pitchFamily="34" charset="0"/>
              </a:rPr>
              <a:t>viên</a:t>
            </a:r>
            <a:r>
              <a:rPr lang="en-US" sz="2400" dirty="0">
                <a:solidFill>
                  <a:srgbClr val="0D0D0D"/>
                </a:solidFill>
                <a:latin typeface="Times New Roman" panose="02020603050405020304" pitchFamily="18" charset="0"/>
                <a:ea typeface="Calibri" panose="020F0502020204030204" pitchFamily="34" charset="0"/>
              </a:rPr>
              <a:t>: </a:t>
            </a:r>
            <a:r>
              <a:rPr lang="en-US" sz="2400" b="1" dirty="0">
                <a:solidFill>
                  <a:srgbClr val="0D0D0D"/>
                </a:solidFill>
                <a:latin typeface="Times New Roman" panose="02020603050405020304" pitchFamily="18" charset="0"/>
                <a:ea typeface="Calibri" panose="020F0502020204030204" pitchFamily="34" charset="0"/>
              </a:rPr>
              <a:t>Đặng Quốc Minh</a:t>
            </a:r>
          </a:p>
          <a:p>
            <a:pPr>
              <a:spcAft>
                <a:spcPts val="800"/>
              </a:spcAft>
              <a:buNone/>
            </a:pPr>
            <a:r>
              <a:rPr lang="en-US" sz="2400" dirty="0">
                <a:solidFill>
                  <a:srgbClr val="0D0D0D"/>
                </a:solidFill>
                <a:effectLst/>
                <a:latin typeface="Times New Roman" panose="02020603050405020304" pitchFamily="18" charset="0"/>
                <a:ea typeface="Calibri" panose="020F0502020204030204" pitchFamily="34" charset="0"/>
              </a:rPr>
              <a:t>MSHV: </a:t>
            </a:r>
            <a:r>
              <a:rPr lang="en-US" sz="2400" b="1" dirty="0">
                <a:solidFill>
                  <a:srgbClr val="0D0D0D"/>
                </a:solidFill>
                <a:effectLst/>
                <a:latin typeface="Times New Roman" panose="02020603050405020304" pitchFamily="18" charset="0"/>
                <a:ea typeface="Calibri" panose="020F0502020204030204" pitchFamily="34" charset="0"/>
              </a:rPr>
              <a:t>2370</a:t>
            </a:r>
            <a:r>
              <a:rPr lang="en-US" sz="2400" b="1" dirty="0">
                <a:solidFill>
                  <a:srgbClr val="0D0D0D"/>
                </a:solidFill>
                <a:latin typeface="Times New Roman" panose="02020603050405020304" pitchFamily="18" charset="0"/>
                <a:ea typeface="Calibri" panose="020F0502020204030204" pitchFamily="34" charset="0"/>
              </a:rPr>
              <a:t>342</a:t>
            </a:r>
          </a:p>
          <a:p>
            <a:pPr>
              <a:spcAft>
                <a:spcPts val="800"/>
              </a:spcAft>
              <a:buNone/>
            </a:pPr>
            <a:r>
              <a:rPr lang="en-US" sz="2400" dirty="0">
                <a:solidFill>
                  <a:srgbClr val="0D0D0D"/>
                </a:solidFill>
                <a:effectLst/>
                <a:latin typeface="Times New Roman" panose="02020603050405020304" pitchFamily="18" charset="0"/>
                <a:ea typeface="Calibri" panose="020F0502020204030204" pitchFamily="34" charset="0"/>
              </a:rPr>
              <a:t>Chuyên </a:t>
            </a:r>
            <a:r>
              <a:rPr lang="en-US" sz="2400" dirty="0" err="1">
                <a:solidFill>
                  <a:srgbClr val="0D0D0D"/>
                </a:solidFill>
                <a:effectLst/>
                <a:latin typeface="Times New Roman" panose="02020603050405020304" pitchFamily="18" charset="0"/>
                <a:ea typeface="Calibri" panose="020F0502020204030204" pitchFamily="34" charset="0"/>
              </a:rPr>
              <a:t>ngành</a:t>
            </a:r>
            <a:r>
              <a:rPr lang="en-US" sz="2400" dirty="0">
                <a:solidFill>
                  <a:srgbClr val="0D0D0D"/>
                </a:solidFill>
                <a:effectLst/>
                <a:latin typeface="Times New Roman" panose="02020603050405020304" pitchFamily="18" charset="0"/>
                <a:ea typeface="Calibri" panose="020F0502020204030204" pitchFamily="34" charset="0"/>
              </a:rPr>
              <a:t>: </a:t>
            </a:r>
            <a:r>
              <a:rPr lang="en-US" sz="2400" b="1" dirty="0">
                <a:solidFill>
                  <a:srgbClr val="0D0D0D"/>
                </a:solidFill>
                <a:effectLst/>
                <a:latin typeface="Times New Roman" panose="02020603050405020304" pitchFamily="18" charset="0"/>
                <a:ea typeface="Calibri" panose="020F0502020204030204" pitchFamily="34" charset="0"/>
              </a:rPr>
              <a:t>Khoa </a:t>
            </a:r>
            <a:r>
              <a:rPr lang="en-US" sz="2400" b="1" dirty="0" err="1">
                <a:solidFill>
                  <a:srgbClr val="0D0D0D"/>
                </a:solidFill>
                <a:effectLst/>
                <a:latin typeface="Times New Roman" panose="02020603050405020304" pitchFamily="18" charset="0"/>
                <a:ea typeface="Calibri" panose="020F0502020204030204" pitchFamily="34" charset="0"/>
              </a:rPr>
              <a:t>học</a:t>
            </a:r>
            <a:r>
              <a:rPr lang="en-US" sz="2400" b="1" dirty="0">
                <a:solidFill>
                  <a:srgbClr val="0D0D0D"/>
                </a:solidFill>
                <a:effectLst/>
                <a:latin typeface="Times New Roman" panose="02020603050405020304" pitchFamily="18" charset="0"/>
                <a:ea typeface="Calibri" panose="020F0502020204030204" pitchFamily="34" charset="0"/>
              </a:rPr>
              <a:t> </a:t>
            </a:r>
            <a:r>
              <a:rPr lang="en-US" sz="2400" b="1" dirty="0" err="1">
                <a:solidFill>
                  <a:srgbClr val="0D0D0D"/>
                </a:solidFill>
                <a:effectLst/>
                <a:latin typeface="Times New Roman" panose="02020603050405020304" pitchFamily="18" charset="0"/>
                <a:ea typeface="Calibri" panose="020F0502020204030204" pitchFamily="34" charset="0"/>
              </a:rPr>
              <a:t>máy</a:t>
            </a:r>
            <a:r>
              <a:rPr lang="en-US" sz="2400" b="1" dirty="0">
                <a:solidFill>
                  <a:srgbClr val="0D0D0D"/>
                </a:solidFill>
                <a:effectLst/>
                <a:latin typeface="Times New Roman" panose="02020603050405020304" pitchFamily="18" charset="0"/>
                <a:ea typeface="Calibri" panose="020F0502020204030204" pitchFamily="34" charset="0"/>
              </a:rPr>
              <a:t> </a:t>
            </a:r>
            <a:r>
              <a:rPr lang="en-US" sz="2400" b="1" dirty="0" err="1">
                <a:solidFill>
                  <a:srgbClr val="0D0D0D"/>
                </a:solidFill>
                <a:effectLst/>
                <a:latin typeface="Times New Roman" panose="02020603050405020304" pitchFamily="18" charset="0"/>
                <a:ea typeface="Calibri" panose="020F0502020204030204" pitchFamily="34" charset="0"/>
              </a:rPr>
              <a:t>tính</a:t>
            </a:r>
            <a:endParaRPr lang="en-US" b="1" dirty="0">
              <a:latin typeface="Calibri" panose="020F0502020204030204" pitchFamily="34" charset="0"/>
              <a:ea typeface="Calibri" panose="020F0502020204030204" pitchFamily="34" charset="0"/>
            </a:endParaRPr>
          </a:p>
          <a:p>
            <a:pPr>
              <a:spcAft>
                <a:spcPts val="800"/>
              </a:spcAft>
              <a:buNone/>
            </a:pPr>
            <a:r>
              <a:rPr lang="en-US" sz="2400" dirty="0">
                <a:solidFill>
                  <a:srgbClr val="0D0D0D"/>
                </a:solidFill>
                <a:effectLst/>
                <a:latin typeface="Times New Roman" panose="02020603050405020304" pitchFamily="18" charset="0"/>
                <a:ea typeface="Calibri" panose="020F0502020204030204" pitchFamily="34" charset="0"/>
              </a:rPr>
              <a:t>GVHD: </a:t>
            </a:r>
            <a:r>
              <a:rPr lang="en-US" sz="2400" b="1" dirty="0" err="1">
                <a:solidFill>
                  <a:srgbClr val="0D0D0D"/>
                </a:solidFill>
                <a:latin typeface="Times New Roman" panose="02020603050405020304" pitchFamily="18" charset="0"/>
                <a:ea typeface="Calibri" panose="020F0502020204030204" pitchFamily="34" charset="0"/>
              </a:rPr>
              <a:t>Thầy</a:t>
            </a:r>
            <a:r>
              <a:rPr lang="en-US" sz="2400" b="1" dirty="0">
                <a:solidFill>
                  <a:srgbClr val="0D0D0D"/>
                </a:solidFill>
                <a:latin typeface="Times New Roman" panose="02020603050405020304" pitchFamily="18" charset="0"/>
                <a:ea typeface="Calibri" panose="020F0502020204030204" pitchFamily="34" charset="0"/>
              </a:rPr>
              <a:t> </a:t>
            </a:r>
            <a:r>
              <a:rPr lang="en-US" sz="2400" b="1" dirty="0">
                <a:solidFill>
                  <a:srgbClr val="0D0D0D"/>
                </a:solidFill>
                <a:effectLst/>
                <a:latin typeface="Times New Roman" panose="02020603050405020304" pitchFamily="18" charset="0"/>
                <a:ea typeface="Calibri" panose="020F0502020204030204" pitchFamily="34" charset="0"/>
              </a:rPr>
              <a:t>TS Trương Tuấn Anh</a:t>
            </a:r>
          </a:p>
        </p:txBody>
      </p:sp>
    </p:spTree>
    <p:extLst>
      <p:ext uri="{BB962C8B-B14F-4D97-AF65-F5344CB8AC3E}">
        <p14:creationId xmlns:p14="http://schemas.microsoft.com/office/powerpoint/2010/main" val="42836542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3038</TotalTime>
  <Words>2463</Words>
  <Application>Microsoft Office PowerPoint</Application>
  <PresentationFormat>Widescreen</PresentationFormat>
  <Paragraphs>590</Paragraphs>
  <Slides>44</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minhdq</dc:creator>
  <cp:lastModifiedBy>Michael Dan</cp:lastModifiedBy>
  <cp:revision>62</cp:revision>
  <dcterms:created xsi:type="dcterms:W3CDTF">2025-05-30T14:43:30Z</dcterms:created>
  <dcterms:modified xsi:type="dcterms:W3CDTF">2026-01-07T00:15:45Z</dcterms:modified>
</cp:coreProperties>
</file>